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62" r:id="rId4"/>
    <p:sldId id="285" r:id="rId5"/>
    <p:sldId id="296" r:id="rId6"/>
    <p:sldId id="287" r:id="rId7"/>
    <p:sldId id="288" r:id="rId8"/>
    <p:sldId id="286" r:id="rId9"/>
    <p:sldId id="297" r:id="rId10"/>
    <p:sldId id="291" r:id="rId11"/>
    <p:sldId id="292" r:id="rId12"/>
    <p:sldId id="289" r:id="rId13"/>
    <p:sldId id="290" r:id="rId14"/>
    <p:sldId id="293" r:id="rId15"/>
    <p:sldId id="260" r:id="rId16"/>
    <p:sldId id="264" r:id="rId17"/>
    <p:sldId id="263" r:id="rId18"/>
    <p:sldId id="266" r:id="rId19"/>
    <p:sldId id="267" r:id="rId20"/>
    <p:sldId id="265" r:id="rId21"/>
    <p:sldId id="298" r:id="rId22"/>
    <p:sldId id="268" r:id="rId23"/>
    <p:sldId id="269" r:id="rId24"/>
    <p:sldId id="270" r:id="rId25"/>
    <p:sldId id="275" r:id="rId26"/>
    <p:sldId id="299" r:id="rId27"/>
    <p:sldId id="300" r:id="rId28"/>
    <p:sldId id="276" r:id="rId29"/>
    <p:sldId id="277" r:id="rId30"/>
    <p:sldId id="278" r:id="rId31"/>
    <p:sldId id="279" r:id="rId32"/>
    <p:sldId id="280" r:id="rId33"/>
    <p:sldId id="281" r:id="rId34"/>
    <p:sldId id="301" r:id="rId35"/>
    <p:sldId id="282" r:id="rId3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003399"/>
    <a:srgbClr val="181F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935" autoAdjust="0"/>
  </p:normalViewPr>
  <p:slideViewPr>
    <p:cSldViewPr snapToGrid="0">
      <p:cViewPr varScale="1">
        <p:scale>
          <a:sx n="87" d="100"/>
          <a:sy n="87" d="100"/>
        </p:scale>
        <p:origin x="1452" y="90"/>
      </p:cViewPr>
      <p:guideLst/>
    </p:cSldViewPr>
  </p:slideViewPr>
  <p:notesTextViewPr>
    <p:cViewPr>
      <p:scale>
        <a:sx n="1" d="1"/>
        <a:sy n="1" d="1"/>
      </p:scale>
      <p:origin x="0" y="0"/>
    </p:cViewPr>
  </p:notesTextViewPr>
  <p:sorterViewPr>
    <p:cViewPr>
      <p:scale>
        <a:sx n="107" d="100"/>
        <a:sy n="107"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1E42BB-D850-4D79-90EC-A290A43B45EE}"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433D5849-313F-4FB6-9DAB-2ADC18FBB0B1}">
      <dgm:prSet/>
      <dgm:spPr/>
      <dgm:t>
        <a:bodyPr/>
        <a:lstStyle/>
        <a:p>
          <a:r>
            <a:rPr lang="es-MX" dirty="0"/>
            <a:t>La lista de categorías debe ser mutuamente excluyente</a:t>
          </a:r>
          <a:endParaRPr lang="en-US" dirty="0"/>
        </a:p>
      </dgm:t>
    </dgm:pt>
    <dgm:pt modelId="{0AD4CC73-A97D-4F7E-834D-E5C9B00642A0}" type="parTrans" cxnId="{BFAECF0D-B434-4236-BF6D-DD6BCA99B50F}">
      <dgm:prSet/>
      <dgm:spPr/>
      <dgm:t>
        <a:bodyPr/>
        <a:lstStyle/>
        <a:p>
          <a:endParaRPr lang="en-US"/>
        </a:p>
      </dgm:t>
    </dgm:pt>
    <dgm:pt modelId="{4F9CE257-91C5-4DCF-B279-46DF5FE763FB}" type="sibTrans" cxnId="{BFAECF0D-B434-4236-BF6D-DD6BCA99B50F}">
      <dgm:prSet/>
      <dgm:spPr/>
      <dgm:t>
        <a:bodyPr/>
        <a:lstStyle/>
        <a:p>
          <a:endParaRPr lang="en-US"/>
        </a:p>
      </dgm:t>
    </dgm:pt>
    <dgm:pt modelId="{BD7E8EDB-7EAD-4DAF-831F-A24303FA5FE7}">
      <dgm:prSet/>
      <dgm:spPr/>
      <dgm:t>
        <a:bodyPr/>
        <a:lstStyle/>
        <a:p>
          <a:r>
            <a:rPr lang="es-MX"/>
            <a:t>Exhaustiva</a:t>
          </a:r>
          <a:endParaRPr lang="en-US"/>
        </a:p>
      </dgm:t>
    </dgm:pt>
    <dgm:pt modelId="{C759B70B-C581-4CA4-9CAB-0BF0307B46A5}" type="parTrans" cxnId="{65D27E80-F615-41FB-8170-85BB4B252B89}">
      <dgm:prSet/>
      <dgm:spPr/>
      <dgm:t>
        <a:bodyPr/>
        <a:lstStyle/>
        <a:p>
          <a:endParaRPr lang="en-US"/>
        </a:p>
      </dgm:t>
    </dgm:pt>
    <dgm:pt modelId="{9C3EBC02-A7F3-4848-81AA-31ABE77B00F7}" type="sibTrans" cxnId="{65D27E80-F615-41FB-8170-85BB4B252B89}">
      <dgm:prSet/>
      <dgm:spPr/>
      <dgm:t>
        <a:bodyPr/>
        <a:lstStyle/>
        <a:p>
          <a:endParaRPr lang="en-US"/>
        </a:p>
      </dgm:t>
    </dgm:pt>
    <dgm:pt modelId="{2D616C1E-8A3E-4258-90CC-D784FAD8F947}">
      <dgm:prSet/>
      <dgm:spPr/>
      <dgm:t>
        <a:bodyPr/>
        <a:lstStyle/>
        <a:p>
          <a:r>
            <a:rPr lang="es-MX"/>
            <a:t>Tener directrices claras para asignar los códigos</a:t>
          </a:r>
          <a:endParaRPr lang="en-US"/>
        </a:p>
      </dgm:t>
    </dgm:pt>
    <dgm:pt modelId="{E8829BE7-1DA9-47B7-B935-69CCEA2ED50B}" type="parTrans" cxnId="{4608AAD4-706C-4937-914B-BF7A3492D8F5}">
      <dgm:prSet/>
      <dgm:spPr/>
      <dgm:t>
        <a:bodyPr/>
        <a:lstStyle/>
        <a:p>
          <a:endParaRPr lang="en-US"/>
        </a:p>
      </dgm:t>
    </dgm:pt>
    <dgm:pt modelId="{EC30D25E-4FDB-431E-AC9D-F876F984FF8E}" type="sibTrans" cxnId="{4608AAD4-706C-4937-914B-BF7A3492D8F5}">
      <dgm:prSet/>
      <dgm:spPr/>
      <dgm:t>
        <a:bodyPr/>
        <a:lstStyle/>
        <a:p>
          <a:endParaRPr lang="en-US"/>
        </a:p>
      </dgm:t>
    </dgm:pt>
    <dgm:pt modelId="{35D25763-C0A5-4718-8FFD-C990FA497E91}" type="pres">
      <dgm:prSet presAssocID="{4E1E42BB-D850-4D79-90EC-A290A43B45EE}" presName="hierChild1" presStyleCnt="0">
        <dgm:presLayoutVars>
          <dgm:chPref val="1"/>
          <dgm:dir/>
          <dgm:animOne val="branch"/>
          <dgm:animLvl val="lvl"/>
          <dgm:resizeHandles/>
        </dgm:presLayoutVars>
      </dgm:prSet>
      <dgm:spPr/>
    </dgm:pt>
    <dgm:pt modelId="{3DC4E082-5BCB-476D-81D1-4436FBAA249B}" type="pres">
      <dgm:prSet presAssocID="{433D5849-313F-4FB6-9DAB-2ADC18FBB0B1}" presName="hierRoot1" presStyleCnt="0"/>
      <dgm:spPr/>
    </dgm:pt>
    <dgm:pt modelId="{21174C2B-FCF2-40DC-B47F-FBA6362746DD}" type="pres">
      <dgm:prSet presAssocID="{433D5849-313F-4FB6-9DAB-2ADC18FBB0B1}" presName="composite" presStyleCnt="0"/>
      <dgm:spPr/>
    </dgm:pt>
    <dgm:pt modelId="{79607391-D34A-48E3-A1BA-03D83B8CC0FE}" type="pres">
      <dgm:prSet presAssocID="{433D5849-313F-4FB6-9DAB-2ADC18FBB0B1}" presName="background" presStyleLbl="node0" presStyleIdx="0" presStyleCnt="3"/>
      <dgm:spPr/>
    </dgm:pt>
    <dgm:pt modelId="{66C6D6A4-EA13-4431-897D-88BE017FF02D}" type="pres">
      <dgm:prSet presAssocID="{433D5849-313F-4FB6-9DAB-2ADC18FBB0B1}" presName="text" presStyleLbl="fgAcc0" presStyleIdx="0" presStyleCnt="3">
        <dgm:presLayoutVars>
          <dgm:chPref val="3"/>
        </dgm:presLayoutVars>
      </dgm:prSet>
      <dgm:spPr/>
    </dgm:pt>
    <dgm:pt modelId="{6078E30F-3F99-4748-94A4-EF5FAFBD158F}" type="pres">
      <dgm:prSet presAssocID="{433D5849-313F-4FB6-9DAB-2ADC18FBB0B1}" presName="hierChild2" presStyleCnt="0"/>
      <dgm:spPr/>
    </dgm:pt>
    <dgm:pt modelId="{C423BE65-6709-49DD-9CD8-23BB0ED8E27A}" type="pres">
      <dgm:prSet presAssocID="{BD7E8EDB-7EAD-4DAF-831F-A24303FA5FE7}" presName="hierRoot1" presStyleCnt="0"/>
      <dgm:spPr/>
    </dgm:pt>
    <dgm:pt modelId="{DC9A8586-3808-469D-AE42-BEE3CB43504D}" type="pres">
      <dgm:prSet presAssocID="{BD7E8EDB-7EAD-4DAF-831F-A24303FA5FE7}" presName="composite" presStyleCnt="0"/>
      <dgm:spPr/>
    </dgm:pt>
    <dgm:pt modelId="{5D2C1B5A-4F00-4184-87EE-26512AB00C8F}" type="pres">
      <dgm:prSet presAssocID="{BD7E8EDB-7EAD-4DAF-831F-A24303FA5FE7}" presName="background" presStyleLbl="node0" presStyleIdx="1" presStyleCnt="3"/>
      <dgm:spPr/>
    </dgm:pt>
    <dgm:pt modelId="{1DA46DAE-7E70-44B0-82CA-DE56C1903171}" type="pres">
      <dgm:prSet presAssocID="{BD7E8EDB-7EAD-4DAF-831F-A24303FA5FE7}" presName="text" presStyleLbl="fgAcc0" presStyleIdx="1" presStyleCnt="3">
        <dgm:presLayoutVars>
          <dgm:chPref val="3"/>
        </dgm:presLayoutVars>
      </dgm:prSet>
      <dgm:spPr/>
    </dgm:pt>
    <dgm:pt modelId="{279138A2-E889-4BC7-9CFA-2F9C7172244E}" type="pres">
      <dgm:prSet presAssocID="{BD7E8EDB-7EAD-4DAF-831F-A24303FA5FE7}" presName="hierChild2" presStyleCnt="0"/>
      <dgm:spPr/>
    </dgm:pt>
    <dgm:pt modelId="{8245545D-C7AB-4933-B4A9-05E217050309}" type="pres">
      <dgm:prSet presAssocID="{2D616C1E-8A3E-4258-90CC-D784FAD8F947}" presName="hierRoot1" presStyleCnt="0"/>
      <dgm:spPr/>
    </dgm:pt>
    <dgm:pt modelId="{6942FFF9-80F1-4B40-8AF6-68794C44FEB0}" type="pres">
      <dgm:prSet presAssocID="{2D616C1E-8A3E-4258-90CC-D784FAD8F947}" presName="composite" presStyleCnt="0"/>
      <dgm:spPr/>
    </dgm:pt>
    <dgm:pt modelId="{32654FDE-5FD6-4AC5-BDDE-6A92DA5C6FA8}" type="pres">
      <dgm:prSet presAssocID="{2D616C1E-8A3E-4258-90CC-D784FAD8F947}" presName="background" presStyleLbl="node0" presStyleIdx="2" presStyleCnt="3"/>
      <dgm:spPr/>
    </dgm:pt>
    <dgm:pt modelId="{4AD8063F-6EDB-4A75-AFFC-96015024A98C}" type="pres">
      <dgm:prSet presAssocID="{2D616C1E-8A3E-4258-90CC-D784FAD8F947}" presName="text" presStyleLbl="fgAcc0" presStyleIdx="2" presStyleCnt="3">
        <dgm:presLayoutVars>
          <dgm:chPref val="3"/>
        </dgm:presLayoutVars>
      </dgm:prSet>
      <dgm:spPr/>
    </dgm:pt>
    <dgm:pt modelId="{DB54E34A-9874-4CCD-ADBC-5F0E63A47076}" type="pres">
      <dgm:prSet presAssocID="{2D616C1E-8A3E-4258-90CC-D784FAD8F947}" presName="hierChild2" presStyleCnt="0"/>
      <dgm:spPr/>
    </dgm:pt>
  </dgm:ptLst>
  <dgm:cxnLst>
    <dgm:cxn modelId="{BFAECF0D-B434-4236-BF6D-DD6BCA99B50F}" srcId="{4E1E42BB-D850-4D79-90EC-A290A43B45EE}" destId="{433D5849-313F-4FB6-9DAB-2ADC18FBB0B1}" srcOrd="0" destOrd="0" parTransId="{0AD4CC73-A97D-4F7E-834D-E5C9B00642A0}" sibTransId="{4F9CE257-91C5-4DCF-B279-46DF5FE763FB}"/>
    <dgm:cxn modelId="{C97AA92A-F6A0-4899-94C3-890728DFF7A0}" type="presOf" srcId="{433D5849-313F-4FB6-9DAB-2ADC18FBB0B1}" destId="{66C6D6A4-EA13-4431-897D-88BE017FF02D}" srcOrd="0" destOrd="0" presId="urn:microsoft.com/office/officeart/2005/8/layout/hierarchy1"/>
    <dgm:cxn modelId="{3378496C-06D7-43E5-A352-5C4B7C391A19}" type="presOf" srcId="{4E1E42BB-D850-4D79-90EC-A290A43B45EE}" destId="{35D25763-C0A5-4718-8FFD-C990FA497E91}" srcOrd="0" destOrd="0" presId="urn:microsoft.com/office/officeart/2005/8/layout/hierarchy1"/>
    <dgm:cxn modelId="{19A88779-3402-4E2D-A428-91D9A2F466FC}" type="presOf" srcId="{2D616C1E-8A3E-4258-90CC-D784FAD8F947}" destId="{4AD8063F-6EDB-4A75-AFFC-96015024A98C}" srcOrd="0" destOrd="0" presId="urn:microsoft.com/office/officeart/2005/8/layout/hierarchy1"/>
    <dgm:cxn modelId="{65D27E80-F615-41FB-8170-85BB4B252B89}" srcId="{4E1E42BB-D850-4D79-90EC-A290A43B45EE}" destId="{BD7E8EDB-7EAD-4DAF-831F-A24303FA5FE7}" srcOrd="1" destOrd="0" parTransId="{C759B70B-C581-4CA4-9CAB-0BF0307B46A5}" sibTransId="{9C3EBC02-A7F3-4848-81AA-31ABE77B00F7}"/>
    <dgm:cxn modelId="{458162D2-5A11-43BA-817F-A859B81D2F69}" type="presOf" srcId="{BD7E8EDB-7EAD-4DAF-831F-A24303FA5FE7}" destId="{1DA46DAE-7E70-44B0-82CA-DE56C1903171}" srcOrd="0" destOrd="0" presId="urn:microsoft.com/office/officeart/2005/8/layout/hierarchy1"/>
    <dgm:cxn modelId="{4608AAD4-706C-4937-914B-BF7A3492D8F5}" srcId="{4E1E42BB-D850-4D79-90EC-A290A43B45EE}" destId="{2D616C1E-8A3E-4258-90CC-D784FAD8F947}" srcOrd="2" destOrd="0" parTransId="{E8829BE7-1DA9-47B7-B935-69CCEA2ED50B}" sibTransId="{EC30D25E-4FDB-431E-AC9D-F876F984FF8E}"/>
    <dgm:cxn modelId="{8834129C-1FD9-42D1-B5EE-DC0794EB2C28}" type="presParOf" srcId="{35D25763-C0A5-4718-8FFD-C990FA497E91}" destId="{3DC4E082-5BCB-476D-81D1-4436FBAA249B}" srcOrd="0" destOrd="0" presId="urn:microsoft.com/office/officeart/2005/8/layout/hierarchy1"/>
    <dgm:cxn modelId="{FEB89737-7167-4D56-8EC4-D7689878084E}" type="presParOf" srcId="{3DC4E082-5BCB-476D-81D1-4436FBAA249B}" destId="{21174C2B-FCF2-40DC-B47F-FBA6362746DD}" srcOrd="0" destOrd="0" presId="urn:microsoft.com/office/officeart/2005/8/layout/hierarchy1"/>
    <dgm:cxn modelId="{C67913F9-6034-4F71-9EB5-47F32583B4EB}" type="presParOf" srcId="{21174C2B-FCF2-40DC-B47F-FBA6362746DD}" destId="{79607391-D34A-48E3-A1BA-03D83B8CC0FE}" srcOrd="0" destOrd="0" presId="urn:microsoft.com/office/officeart/2005/8/layout/hierarchy1"/>
    <dgm:cxn modelId="{E98D4C6C-4E2B-4CB1-8A2C-F75F38550F6B}" type="presParOf" srcId="{21174C2B-FCF2-40DC-B47F-FBA6362746DD}" destId="{66C6D6A4-EA13-4431-897D-88BE017FF02D}" srcOrd="1" destOrd="0" presId="urn:microsoft.com/office/officeart/2005/8/layout/hierarchy1"/>
    <dgm:cxn modelId="{3B53B35D-3FE5-493E-84C0-4522275FC81D}" type="presParOf" srcId="{3DC4E082-5BCB-476D-81D1-4436FBAA249B}" destId="{6078E30F-3F99-4748-94A4-EF5FAFBD158F}" srcOrd="1" destOrd="0" presId="urn:microsoft.com/office/officeart/2005/8/layout/hierarchy1"/>
    <dgm:cxn modelId="{28FDC3B7-45D3-4358-8CF5-E39B538799A7}" type="presParOf" srcId="{35D25763-C0A5-4718-8FFD-C990FA497E91}" destId="{C423BE65-6709-49DD-9CD8-23BB0ED8E27A}" srcOrd="1" destOrd="0" presId="urn:microsoft.com/office/officeart/2005/8/layout/hierarchy1"/>
    <dgm:cxn modelId="{E3FEA5E9-CA09-4B0A-872B-3C6897F0EB13}" type="presParOf" srcId="{C423BE65-6709-49DD-9CD8-23BB0ED8E27A}" destId="{DC9A8586-3808-469D-AE42-BEE3CB43504D}" srcOrd="0" destOrd="0" presId="urn:microsoft.com/office/officeart/2005/8/layout/hierarchy1"/>
    <dgm:cxn modelId="{C9188DC2-09E9-4607-AC42-598EFF4F6E10}" type="presParOf" srcId="{DC9A8586-3808-469D-AE42-BEE3CB43504D}" destId="{5D2C1B5A-4F00-4184-87EE-26512AB00C8F}" srcOrd="0" destOrd="0" presId="urn:microsoft.com/office/officeart/2005/8/layout/hierarchy1"/>
    <dgm:cxn modelId="{5777AF1F-7456-41EA-B970-ADCCDA111FCF}" type="presParOf" srcId="{DC9A8586-3808-469D-AE42-BEE3CB43504D}" destId="{1DA46DAE-7E70-44B0-82CA-DE56C1903171}" srcOrd="1" destOrd="0" presId="urn:microsoft.com/office/officeart/2005/8/layout/hierarchy1"/>
    <dgm:cxn modelId="{D859FCF7-B448-4928-ACBB-7CA79611176C}" type="presParOf" srcId="{C423BE65-6709-49DD-9CD8-23BB0ED8E27A}" destId="{279138A2-E889-4BC7-9CFA-2F9C7172244E}" srcOrd="1" destOrd="0" presId="urn:microsoft.com/office/officeart/2005/8/layout/hierarchy1"/>
    <dgm:cxn modelId="{4FC1A890-8760-4D71-B1B3-5DE97A8AA70A}" type="presParOf" srcId="{35D25763-C0A5-4718-8FFD-C990FA497E91}" destId="{8245545D-C7AB-4933-B4A9-05E217050309}" srcOrd="2" destOrd="0" presId="urn:microsoft.com/office/officeart/2005/8/layout/hierarchy1"/>
    <dgm:cxn modelId="{B1ADAA80-C989-48C0-8BEE-2B57EDACE57F}" type="presParOf" srcId="{8245545D-C7AB-4933-B4A9-05E217050309}" destId="{6942FFF9-80F1-4B40-8AF6-68794C44FEB0}" srcOrd="0" destOrd="0" presId="urn:microsoft.com/office/officeart/2005/8/layout/hierarchy1"/>
    <dgm:cxn modelId="{CB103635-AFD0-47D7-A9CF-9861145102A2}" type="presParOf" srcId="{6942FFF9-80F1-4B40-8AF6-68794C44FEB0}" destId="{32654FDE-5FD6-4AC5-BDDE-6A92DA5C6FA8}" srcOrd="0" destOrd="0" presId="urn:microsoft.com/office/officeart/2005/8/layout/hierarchy1"/>
    <dgm:cxn modelId="{E382767B-2CB8-4371-B6F4-F0D62A5C445A}" type="presParOf" srcId="{6942FFF9-80F1-4B40-8AF6-68794C44FEB0}" destId="{4AD8063F-6EDB-4A75-AFFC-96015024A98C}" srcOrd="1" destOrd="0" presId="urn:microsoft.com/office/officeart/2005/8/layout/hierarchy1"/>
    <dgm:cxn modelId="{342BC869-5BFE-416A-94CD-8C5DAAC3EEAA}" type="presParOf" srcId="{8245545D-C7AB-4933-B4A9-05E217050309}" destId="{DB54E34A-9874-4CCD-ADBC-5F0E63A4707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16F14C-BB20-4198-9756-77B76D02D6C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D66701A-0EFF-462E-96DC-C22CE7764C0F}">
      <dgm:prSet/>
      <dgm:spPr/>
      <dgm:t>
        <a:bodyPr/>
        <a:lstStyle/>
        <a:p>
          <a:pPr>
            <a:lnSpc>
              <a:spcPct val="100000"/>
            </a:lnSpc>
          </a:pPr>
          <a:r>
            <a:rPr lang="es-MX"/>
            <a:t>Una API es un sistema que permite que dos programas se comuniquen entre sí</a:t>
          </a:r>
          <a:r>
            <a:rPr lang="es-MX" b="1"/>
            <a:t> (Application Programming Interface</a:t>
          </a:r>
          <a:r>
            <a:rPr lang="es-MX"/>
            <a:t>). Cuando haces una solicitud a una API, usualmente recibes una </a:t>
          </a:r>
          <a:r>
            <a:rPr lang="es-MX" b="1"/>
            <a:t>respuesta en formato JSON</a:t>
          </a:r>
          <a:r>
            <a:rPr lang="es-MX"/>
            <a:t> con información estructurada.</a:t>
          </a:r>
          <a:endParaRPr lang="en-US"/>
        </a:p>
      </dgm:t>
    </dgm:pt>
    <dgm:pt modelId="{121E9380-3855-4F40-A202-86D5DA8CCB07}" type="parTrans" cxnId="{B56D845B-8CD0-4091-9AC3-E64BFB751D8D}">
      <dgm:prSet/>
      <dgm:spPr/>
      <dgm:t>
        <a:bodyPr/>
        <a:lstStyle/>
        <a:p>
          <a:endParaRPr lang="en-US"/>
        </a:p>
      </dgm:t>
    </dgm:pt>
    <dgm:pt modelId="{D6A93B41-972D-4D1B-9AD1-B5391BA03835}" type="sibTrans" cxnId="{B56D845B-8CD0-4091-9AC3-E64BFB751D8D}">
      <dgm:prSet/>
      <dgm:spPr/>
      <dgm:t>
        <a:bodyPr/>
        <a:lstStyle/>
        <a:p>
          <a:endParaRPr lang="en-US"/>
        </a:p>
      </dgm:t>
    </dgm:pt>
    <dgm:pt modelId="{9DA0485C-BB16-41BB-947B-279027EC8282}">
      <dgm:prSet/>
      <dgm:spPr/>
      <dgm:t>
        <a:bodyPr/>
        <a:lstStyle/>
        <a:p>
          <a:pPr>
            <a:lnSpc>
              <a:spcPct val="100000"/>
            </a:lnSpc>
          </a:pPr>
          <a:r>
            <a:rPr lang="es-MX" dirty="0"/>
            <a:t>Una forma de hacer </a:t>
          </a:r>
          <a:r>
            <a:rPr lang="es-MX" dirty="0" err="1"/>
            <a:t>webscraping</a:t>
          </a:r>
          <a:r>
            <a:rPr lang="es-MX" dirty="0"/>
            <a:t> con Google News es con una clave API. Para esto puedes utilizar servicios como </a:t>
          </a:r>
          <a:r>
            <a:rPr lang="es-MX" dirty="0" err="1"/>
            <a:t>HasData</a:t>
          </a:r>
          <a:r>
            <a:rPr lang="es-MX" dirty="0"/>
            <a:t>. Esta es una API de extracción de datos web basada en la nube que simplifica las tareas de extracción de estos. </a:t>
          </a:r>
          <a:endParaRPr lang="en-US" dirty="0"/>
        </a:p>
      </dgm:t>
    </dgm:pt>
    <dgm:pt modelId="{9E9824E1-3DBF-4509-AE5B-8FCFF178D20F}" type="parTrans" cxnId="{33D7EE57-3FF9-4FFE-8DEB-AFB2242B5767}">
      <dgm:prSet/>
      <dgm:spPr/>
      <dgm:t>
        <a:bodyPr/>
        <a:lstStyle/>
        <a:p>
          <a:endParaRPr lang="en-US"/>
        </a:p>
      </dgm:t>
    </dgm:pt>
    <dgm:pt modelId="{CEC7D16E-2A37-4F5E-A724-AE936BB100A6}" type="sibTrans" cxnId="{33D7EE57-3FF9-4FFE-8DEB-AFB2242B5767}">
      <dgm:prSet/>
      <dgm:spPr/>
      <dgm:t>
        <a:bodyPr/>
        <a:lstStyle/>
        <a:p>
          <a:endParaRPr lang="en-US"/>
        </a:p>
      </dgm:t>
    </dgm:pt>
    <dgm:pt modelId="{8B1A278F-51C8-4F57-B5DB-1A2BBE807F51}">
      <dgm:prSet/>
      <dgm:spPr/>
      <dgm:t>
        <a:bodyPr/>
        <a:lstStyle/>
        <a:p>
          <a:pPr>
            <a:lnSpc>
              <a:spcPct val="100000"/>
            </a:lnSpc>
          </a:pPr>
          <a:r>
            <a:rPr lang="es-MX" dirty="0"/>
            <a:t>La API de Web </a:t>
          </a:r>
          <a:r>
            <a:rPr lang="es-MX" dirty="0" err="1"/>
            <a:t>Scraping</a:t>
          </a:r>
          <a:r>
            <a:rPr lang="es-MX" dirty="0"/>
            <a:t> te permite extraer contenido de páginas web sin la molestia de gestionar </a:t>
          </a:r>
          <a:r>
            <a:rPr lang="es-MX" dirty="0" err="1"/>
            <a:t>proxies</a:t>
          </a:r>
          <a:r>
            <a:rPr lang="es-MX" dirty="0"/>
            <a:t>, navegadores sin interfaz gráfica (</a:t>
          </a:r>
          <a:r>
            <a:rPr lang="es-MX" dirty="0" err="1"/>
            <a:t>headless</a:t>
          </a:r>
          <a:r>
            <a:rPr lang="es-MX" dirty="0"/>
            <a:t>) y captchas. Simplemente envía la URL y recibe como respuesta el HTML.</a:t>
          </a:r>
          <a:endParaRPr lang="en-US" dirty="0"/>
        </a:p>
      </dgm:t>
    </dgm:pt>
    <dgm:pt modelId="{DD1E07E9-B16F-42E2-8A06-248F83414556}" type="parTrans" cxnId="{285FE6C5-F18C-434A-8D83-59691A3C54AF}">
      <dgm:prSet/>
      <dgm:spPr/>
      <dgm:t>
        <a:bodyPr/>
        <a:lstStyle/>
        <a:p>
          <a:endParaRPr lang="en-US"/>
        </a:p>
      </dgm:t>
    </dgm:pt>
    <dgm:pt modelId="{C6712559-AD67-49EF-9E7B-AC125E5C2E03}" type="sibTrans" cxnId="{285FE6C5-F18C-434A-8D83-59691A3C54AF}">
      <dgm:prSet/>
      <dgm:spPr/>
      <dgm:t>
        <a:bodyPr/>
        <a:lstStyle/>
        <a:p>
          <a:endParaRPr lang="en-US"/>
        </a:p>
      </dgm:t>
    </dgm:pt>
    <dgm:pt modelId="{03C241BA-6909-4EF7-9445-35A2E2BFC41F}" type="pres">
      <dgm:prSet presAssocID="{3116F14C-BB20-4198-9756-77B76D02D6CC}" presName="root" presStyleCnt="0">
        <dgm:presLayoutVars>
          <dgm:dir/>
          <dgm:resizeHandles val="exact"/>
        </dgm:presLayoutVars>
      </dgm:prSet>
      <dgm:spPr/>
    </dgm:pt>
    <dgm:pt modelId="{D8D66D72-8F09-43DF-BED9-4915B5B91302}" type="pres">
      <dgm:prSet presAssocID="{2D66701A-0EFF-462E-96DC-C22CE7764C0F}" presName="compNode" presStyleCnt="0"/>
      <dgm:spPr/>
    </dgm:pt>
    <dgm:pt modelId="{1EBECC53-0647-47DF-ABDD-A3EA2EF4D711}" type="pres">
      <dgm:prSet presAssocID="{2D66701A-0EFF-462E-96DC-C22CE7764C0F}" presName="bgRect" presStyleLbl="bgShp" presStyleIdx="0" presStyleCnt="3"/>
      <dgm:spPr/>
    </dgm:pt>
    <dgm:pt modelId="{13944B54-B5BC-470C-AA8D-56366329C8D2}" type="pres">
      <dgm:prSet presAssocID="{2D66701A-0EFF-462E-96DC-C22CE7764C0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ador"/>
        </a:ext>
      </dgm:extLst>
    </dgm:pt>
    <dgm:pt modelId="{613B83C5-9EAE-4699-8CBB-DE96750FB741}" type="pres">
      <dgm:prSet presAssocID="{2D66701A-0EFF-462E-96DC-C22CE7764C0F}" presName="spaceRect" presStyleCnt="0"/>
      <dgm:spPr/>
    </dgm:pt>
    <dgm:pt modelId="{0E672914-950C-4DDD-BA8E-75993C44F810}" type="pres">
      <dgm:prSet presAssocID="{2D66701A-0EFF-462E-96DC-C22CE7764C0F}" presName="parTx" presStyleLbl="revTx" presStyleIdx="0" presStyleCnt="3">
        <dgm:presLayoutVars>
          <dgm:chMax val="0"/>
          <dgm:chPref val="0"/>
        </dgm:presLayoutVars>
      </dgm:prSet>
      <dgm:spPr/>
    </dgm:pt>
    <dgm:pt modelId="{696EB18E-A7BA-432A-9D10-8017F87A12B2}" type="pres">
      <dgm:prSet presAssocID="{D6A93B41-972D-4D1B-9AD1-B5391BA03835}" presName="sibTrans" presStyleCnt="0"/>
      <dgm:spPr/>
    </dgm:pt>
    <dgm:pt modelId="{7A205A7F-433B-4190-8F83-EB0B0D82659D}" type="pres">
      <dgm:prSet presAssocID="{9DA0485C-BB16-41BB-947B-279027EC8282}" presName="compNode" presStyleCnt="0"/>
      <dgm:spPr/>
    </dgm:pt>
    <dgm:pt modelId="{ED3A3524-5CF6-47B9-860A-D0BCDDE00C70}" type="pres">
      <dgm:prSet presAssocID="{9DA0485C-BB16-41BB-947B-279027EC8282}" presName="bgRect" presStyleLbl="bgShp" presStyleIdx="1" presStyleCnt="3"/>
      <dgm:spPr/>
    </dgm:pt>
    <dgm:pt modelId="{C8AD467C-1F08-4737-AB8B-7512DAE2E6BF}" type="pres">
      <dgm:prSet presAssocID="{9DA0485C-BB16-41BB-947B-279027EC828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loquear"/>
        </a:ext>
      </dgm:extLst>
    </dgm:pt>
    <dgm:pt modelId="{0D4A15C1-F882-424C-A034-AB2E8CC456F9}" type="pres">
      <dgm:prSet presAssocID="{9DA0485C-BB16-41BB-947B-279027EC8282}" presName="spaceRect" presStyleCnt="0"/>
      <dgm:spPr/>
    </dgm:pt>
    <dgm:pt modelId="{B16560C3-1614-4E4E-9871-860E3BF4939B}" type="pres">
      <dgm:prSet presAssocID="{9DA0485C-BB16-41BB-947B-279027EC8282}" presName="parTx" presStyleLbl="revTx" presStyleIdx="1" presStyleCnt="3">
        <dgm:presLayoutVars>
          <dgm:chMax val="0"/>
          <dgm:chPref val="0"/>
        </dgm:presLayoutVars>
      </dgm:prSet>
      <dgm:spPr/>
    </dgm:pt>
    <dgm:pt modelId="{671FE5D8-2CE8-4384-BAC6-CBF3EF9200E7}" type="pres">
      <dgm:prSet presAssocID="{CEC7D16E-2A37-4F5E-A724-AE936BB100A6}" presName="sibTrans" presStyleCnt="0"/>
      <dgm:spPr/>
    </dgm:pt>
    <dgm:pt modelId="{0986FBA4-B55D-4DA7-9FAF-AC82AF508891}" type="pres">
      <dgm:prSet presAssocID="{8B1A278F-51C8-4F57-B5DB-1A2BBE807F51}" presName="compNode" presStyleCnt="0"/>
      <dgm:spPr/>
    </dgm:pt>
    <dgm:pt modelId="{304A3FBD-298F-4D88-834E-6831B1068C16}" type="pres">
      <dgm:prSet presAssocID="{8B1A278F-51C8-4F57-B5DB-1A2BBE807F51}" presName="bgRect" presStyleLbl="bgShp" presStyleIdx="2" presStyleCnt="3"/>
      <dgm:spPr/>
    </dgm:pt>
    <dgm:pt modelId="{CB167F62-B93A-47EF-AA13-57676C2C306C}" type="pres">
      <dgm:prSet presAssocID="{8B1A278F-51C8-4F57-B5DB-1A2BBE807F5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Design"/>
        </a:ext>
      </dgm:extLst>
    </dgm:pt>
    <dgm:pt modelId="{032E8A76-B0F2-4AA1-8F42-BE52EF59D14D}" type="pres">
      <dgm:prSet presAssocID="{8B1A278F-51C8-4F57-B5DB-1A2BBE807F51}" presName="spaceRect" presStyleCnt="0"/>
      <dgm:spPr/>
    </dgm:pt>
    <dgm:pt modelId="{7E3CEF8B-38AF-4B73-87F9-A4D05D353518}" type="pres">
      <dgm:prSet presAssocID="{8B1A278F-51C8-4F57-B5DB-1A2BBE807F51}" presName="parTx" presStyleLbl="revTx" presStyleIdx="2" presStyleCnt="3">
        <dgm:presLayoutVars>
          <dgm:chMax val="0"/>
          <dgm:chPref val="0"/>
        </dgm:presLayoutVars>
      </dgm:prSet>
      <dgm:spPr/>
    </dgm:pt>
  </dgm:ptLst>
  <dgm:cxnLst>
    <dgm:cxn modelId="{B7045431-A512-416F-908E-15C027079096}" type="presOf" srcId="{3116F14C-BB20-4198-9756-77B76D02D6CC}" destId="{03C241BA-6909-4EF7-9445-35A2E2BFC41F}" srcOrd="0" destOrd="0" presId="urn:microsoft.com/office/officeart/2018/2/layout/IconVerticalSolidList"/>
    <dgm:cxn modelId="{B56D845B-8CD0-4091-9AC3-E64BFB751D8D}" srcId="{3116F14C-BB20-4198-9756-77B76D02D6CC}" destId="{2D66701A-0EFF-462E-96DC-C22CE7764C0F}" srcOrd="0" destOrd="0" parTransId="{121E9380-3855-4F40-A202-86D5DA8CCB07}" sibTransId="{D6A93B41-972D-4D1B-9AD1-B5391BA03835}"/>
    <dgm:cxn modelId="{41221E48-2D14-4AEA-8408-B8741FD560CA}" type="presOf" srcId="{9DA0485C-BB16-41BB-947B-279027EC8282}" destId="{B16560C3-1614-4E4E-9871-860E3BF4939B}" srcOrd="0" destOrd="0" presId="urn:microsoft.com/office/officeart/2018/2/layout/IconVerticalSolidList"/>
    <dgm:cxn modelId="{015BE151-1AF0-4DCD-B91E-333BE8259CA5}" type="presOf" srcId="{8B1A278F-51C8-4F57-B5DB-1A2BBE807F51}" destId="{7E3CEF8B-38AF-4B73-87F9-A4D05D353518}" srcOrd="0" destOrd="0" presId="urn:microsoft.com/office/officeart/2018/2/layout/IconVerticalSolidList"/>
    <dgm:cxn modelId="{33D7EE57-3FF9-4FFE-8DEB-AFB2242B5767}" srcId="{3116F14C-BB20-4198-9756-77B76D02D6CC}" destId="{9DA0485C-BB16-41BB-947B-279027EC8282}" srcOrd="1" destOrd="0" parTransId="{9E9824E1-3DBF-4509-AE5B-8FCFF178D20F}" sibTransId="{CEC7D16E-2A37-4F5E-A724-AE936BB100A6}"/>
    <dgm:cxn modelId="{285FE6C5-F18C-434A-8D83-59691A3C54AF}" srcId="{3116F14C-BB20-4198-9756-77B76D02D6CC}" destId="{8B1A278F-51C8-4F57-B5DB-1A2BBE807F51}" srcOrd="2" destOrd="0" parTransId="{DD1E07E9-B16F-42E2-8A06-248F83414556}" sibTransId="{C6712559-AD67-49EF-9E7B-AC125E5C2E03}"/>
    <dgm:cxn modelId="{A5F952F4-2ACC-4684-897B-7B2F1DD6D442}" type="presOf" srcId="{2D66701A-0EFF-462E-96DC-C22CE7764C0F}" destId="{0E672914-950C-4DDD-BA8E-75993C44F810}" srcOrd="0" destOrd="0" presId="urn:microsoft.com/office/officeart/2018/2/layout/IconVerticalSolidList"/>
    <dgm:cxn modelId="{40F7046D-51AF-4DFE-BBC2-BACCB3A52266}" type="presParOf" srcId="{03C241BA-6909-4EF7-9445-35A2E2BFC41F}" destId="{D8D66D72-8F09-43DF-BED9-4915B5B91302}" srcOrd="0" destOrd="0" presId="urn:microsoft.com/office/officeart/2018/2/layout/IconVerticalSolidList"/>
    <dgm:cxn modelId="{37AB7C7C-4A07-487C-B20D-FB9531ACED41}" type="presParOf" srcId="{D8D66D72-8F09-43DF-BED9-4915B5B91302}" destId="{1EBECC53-0647-47DF-ABDD-A3EA2EF4D711}" srcOrd="0" destOrd="0" presId="urn:microsoft.com/office/officeart/2018/2/layout/IconVerticalSolidList"/>
    <dgm:cxn modelId="{7A1444BD-FE87-4C13-A687-933F0A7052C9}" type="presParOf" srcId="{D8D66D72-8F09-43DF-BED9-4915B5B91302}" destId="{13944B54-B5BC-470C-AA8D-56366329C8D2}" srcOrd="1" destOrd="0" presId="urn:microsoft.com/office/officeart/2018/2/layout/IconVerticalSolidList"/>
    <dgm:cxn modelId="{51C9DDD6-767D-4FD6-AC86-5227465BEFE3}" type="presParOf" srcId="{D8D66D72-8F09-43DF-BED9-4915B5B91302}" destId="{613B83C5-9EAE-4699-8CBB-DE96750FB741}" srcOrd="2" destOrd="0" presId="urn:microsoft.com/office/officeart/2018/2/layout/IconVerticalSolidList"/>
    <dgm:cxn modelId="{BCA7E526-A589-4B40-BE3F-8E9F8DAD3C5F}" type="presParOf" srcId="{D8D66D72-8F09-43DF-BED9-4915B5B91302}" destId="{0E672914-950C-4DDD-BA8E-75993C44F810}" srcOrd="3" destOrd="0" presId="urn:microsoft.com/office/officeart/2018/2/layout/IconVerticalSolidList"/>
    <dgm:cxn modelId="{E34C0737-B5BE-4C38-9E9B-4D4355FAD927}" type="presParOf" srcId="{03C241BA-6909-4EF7-9445-35A2E2BFC41F}" destId="{696EB18E-A7BA-432A-9D10-8017F87A12B2}" srcOrd="1" destOrd="0" presId="urn:microsoft.com/office/officeart/2018/2/layout/IconVerticalSolidList"/>
    <dgm:cxn modelId="{3E841724-D125-4445-B474-6D2421A9B189}" type="presParOf" srcId="{03C241BA-6909-4EF7-9445-35A2E2BFC41F}" destId="{7A205A7F-433B-4190-8F83-EB0B0D82659D}" srcOrd="2" destOrd="0" presId="urn:microsoft.com/office/officeart/2018/2/layout/IconVerticalSolidList"/>
    <dgm:cxn modelId="{3B2FC9B8-2606-48A5-92EF-1A5C0E8FA2B4}" type="presParOf" srcId="{7A205A7F-433B-4190-8F83-EB0B0D82659D}" destId="{ED3A3524-5CF6-47B9-860A-D0BCDDE00C70}" srcOrd="0" destOrd="0" presId="urn:microsoft.com/office/officeart/2018/2/layout/IconVerticalSolidList"/>
    <dgm:cxn modelId="{242571F4-F557-4133-B398-1446511648F3}" type="presParOf" srcId="{7A205A7F-433B-4190-8F83-EB0B0D82659D}" destId="{C8AD467C-1F08-4737-AB8B-7512DAE2E6BF}" srcOrd="1" destOrd="0" presId="urn:microsoft.com/office/officeart/2018/2/layout/IconVerticalSolidList"/>
    <dgm:cxn modelId="{6454B331-BD15-4275-A823-B4BCAFBC7412}" type="presParOf" srcId="{7A205A7F-433B-4190-8F83-EB0B0D82659D}" destId="{0D4A15C1-F882-424C-A034-AB2E8CC456F9}" srcOrd="2" destOrd="0" presId="urn:microsoft.com/office/officeart/2018/2/layout/IconVerticalSolidList"/>
    <dgm:cxn modelId="{780F2AF4-1A07-42B1-9BDC-E966B4A59EEC}" type="presParOf" srcId="{7A205A7F-433B-4190-8F83-EB0B0D82659D}" destId="{B16560C3-1614-4E4E-9871-860E3BF4939B}" srcOrd="3" destOrd="0" presId="urn:microsoft.com/office/officeart/2018/2/layout/IconVerticalSolidList"/>
    <dgm:cxn modelId="{76F40216-50BF-4FF6-8040-6571AEDA2005}" type="presParOf" srcId="{03C241BA-6909-4EF7-9445-35A2E2BFC41F}" destId="{671FE5D8-2CE8-4384-BAC6-CBF3EF9200E7}" srcOrd="3" destOrd="0" presId="urn:microsoft.com/office/officeart/2018/2/layout/IconVerticalSolidList"/>
    <dgm:cxn modelId="{8734A3FE-368D-494F-8333-3AE3831F6A01}" type="presParOf" srcId="{03C241BA-6909-4EF7-9445-35A2E2BFC41F}" destId="{0986FBA4-B55D-4DA7-9FAF-AC82AF508891}" srcOrd="4" destOrd="0" presId="urn:microsoft.com/office/officeart/2018/2/layout/IconVerticalSolidList"/>
    <dgm:cxn modelId="{F141E853-469E-48CE-AD85-EC1E3F65DB23}" type="presParOf" srcId="{0986FBA4-B55D-4DA7-9FAF-AC82AF508891}" destId="{304A3FBD-298F-4D88-834E-6831B1068C16}" srcOrd="0" destOrd="0" presId="urn:microsoft.com/office/officeart/2018/2/layout/IconVerticalSolidList"/>
    <dgm:cxn modelId="{58819381-AB5E-4AB9-B79B-BD3B175017CF}" type="presParOf" srcId="{0986FBA4-B55D-4DA7-9FAF-AC82AF508891}" destId="{CB167F62-B93A-47EF-AA13-57676C2C306C}" srcOrd="1" destOrd="0" presId="urn:microsoft.com/office/officeart/2018/2/layout/IconVerticalSolidList"/>
    <dgm:cxn modelId="{8CE84F05-BB1E-4E53-8D98-B57CAD252C4F}" type="presParOf" srcId="{0986FBA4-B55D-4DA7-9FAF-AC82AF508891}" destId="{032E8A76-B0F2-4AA1-8F42-BE52EF59D14D}" srcOrd="2" destOrd="0" presId="urn:microsoft.com/office/officeart/2018/2/layout/IconVerticalSolidList"/>
    <dgm:cxn modelId="{C8AB5C86-E10D-43E0-ACEE-7800806A3212}" type="presParOf" srcId="{0986FBA4-B55D-4DA7-9FAF-AC82AF508891}" destId="{7E3CEF8B-38AF-4B73-87F9-A4D05D3535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607391-D34A-48E3-A1BA-03D83B8CC0FE}">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C6D6A4-EA13-4431-897D-88BE017FF02D}">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MX" sz="2700" kern="1200" dirty="0"/>
            <a:t>La lista de categorías debe ser mutuamente excluyente</a:t>
          </a:r>
          <a:endParaRPr lang="en-US" sz="2700" kern="1200" dirty="0"/>
        </a:p>
      </dsp:txBody>
      <dsp:txXfrm>
        <a:off x="378614" y="886531"/>
        <a:ext cx="2810360" cy="1744948"/>
      </dsp:txXfrm>
    </dsp:sp>
    <dsp:sp modelId="{5D2C1B5A-4F00-4184-87EE-26512AB00C8F}">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A46DAE-7E70-44B0-82CA-DE56C1903171}">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MX" sz="2700" kern="1200"/>
            <a:t>Exhaustiva</a:t>
          </a:r>
          <a:endParaRPr lang="en-US" sz="2700" kern="1200"/>
        </a:p>
      </dsp:txBody>
      <dsp:txXfrm>
        <a:off x="3946203" y="886531"/>
        <a:ext cx="2810360" cy="1744948"/>
      </dsp:txXfrm>
    </dsp:sp>
    <dsp:sp modelId="{32654FDE-5FD6-4AC5-BDDE-6A92DA5C6FA8}">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D8063F-6EDB-4A75-AFFC-96015024A98C}">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MX" sz="2700" kern="1200"/>
            <a:t>Tener directrices claras para asignar los códigos</a:t>
          </a:r>
          <a:endParaRPr lang="en-US" sz="2700" kern="1200"/>
        </a:p>
      </dsp:txBody>
      <dsp:txXfrm>
        <a:off x="7513791" y="886531"/>
        <a:ext cx="2810360" cy="1744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BECC53-0647-47DF-ABDD-A3EA2EF4D711}">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944B54-B5BC-470C-AA8D-56366329C8D2}">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672914-950C-4DDD-BA8E-75993C44F810}">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s-MX" sz="1800" kern="1200"/>
            <a:t>Una API es un sistema que permite que dos programas se comuniquen entre sí</a:t>
          </a:r>
          <a:r>
            <a:rPr lang="es-MX" sz="1800" b="1" kern="1200"/>
            <a:t> (Application Programming Interface</a:t>
          </a:r>
          <a:r>
            <a:rPr lang="es-MX" sz="1800" kern="1200"/>
            <a:t>). Cuando haces una solicitud a una API, usualmente recibes una </a:t>
          </a:r>
          <a:r>
            <a:rPr lang="es-MX" sz="1800" b="1" kern="1200"/>
            <a:t>respuesta en formato JSON</a:t>
          </a:r>
          <a:r>
            <a:rPr lang="es-MX" sz="1800" kern="1200"/>
            <a:t> con información estructurada.</a:t>
          </a:r>
          <a:endParaRPr lang="en-US" sz="1800" kern="1200"/>
        </a:p>
      </dsp:txBody>
      <dsp:txXfrm>
        <a:off x="1435590" y="531"/>
        <a:ext cx="9080009" cy="1242935"/>
      </dsp:txXfrm>
    </dsp:sp>
    <dsp:sp modelId="{ED3A3524-5CF6-47B9-860A-D0BCDDE00C70}">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AD467C-1F08-4737-AB8B-7512DAE2E6BF}">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6560C3-1614-4E4E-9871-860E3BF4939B}">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s-MX" sz="1800" kern="1200" dirty="0"/>
            <a:t>Una forma de hacer </a:t>
          </a:r>
          <a:r>
            <a:rPr lang="es-MX" sz="1800" kern="1200" dirty="0" err="1"/>
            <a:t>webscraping</a:t>
          </a:r>
          <a:r>
            <a:rPr lang="es-MX" sz="1800" kern="1200" dirty="0"/>
            <a:t> con Google News es con una clave API. Para esto puedes utilizar servicios como </a:t>
          </a:r>
          <a:r>
            <a:rPr lang="es-MX" sz="1800" kern="1200" dirty="0" err="1"/>
            <a:t>HasData</a:t>
          </a:r>
          <a:r>
            <a:rPr lang="es-MX" sz="1800" kern="1200" dirty="0"/>
            <a:t>. Esta es una API de extracción de datos web basada en la nube que simplifica las tareas de extracción de estos. </a:t>
          </a:r>
          <a:endParaRPr lang="en-US" sz="1800" kern="1200" dirty="0"/>
        </a:p>
      </dsp:txBody>
      <dsp:txXfrm>
        <a:off x="1435590" y="1554201"/>
        <a:ext cx="9080009" cy="1242935"/>
      </dsp:txXfrm>
    </dsp:sp>
    <dsp:sp modelId="{304A3FBD-298F-4D88-834E-6831B1068C16}">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167F62-B93A-47EF-AA13-57676C2C306C}">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3CEF8B-38AF-4B73-87F9-A4D05D353518}">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s-MX" sz="1800" kern="1200" dirty="0"/>
            <a:t>La API de Web </a:t>
          </a:r>
          <a:r>
            <a:rPr lang="es-MX" sz="1800" kern="1200" dirty="0" err="1"/>
            <a:t>Scraping</a:t>
          </a:r>
          <a:r>
            <a:rPr lang="es-MX" sz="1800" kern="1200" dirty="0"/>
            <a:t> te permite extraer contenido de páginas web sin la molestia de gestionar </a:t>
          </a:r>
          <a:r>
            <a:rPr lang="es-MX" sz="1800" kern="1200" dirty="0" err="1"/>
            <a:t>proxies</a:t>
          </a:r>
          <a:r>
            <a:rPr lang="es-MX" sz="1800" kern="1200" dirty="0"/>
            <a:t>, navegadores sin interfaz gráfica (</a:t>
          </a:r>
          <a:r>
            <a:rPr lang="es-MX" sz="1800" kern="1200" dirty="0" err="1"/>
            <a:t>headless</a:t>
          </a:r>
          <a:r>
            <a:rPr lang="es-MX" sz="1800" kern="1200" dirty="0"/>
            <a:t>) y captchas. Simplemente envía la URL y recibe como respuesta el HTML.</a:t>
          </a:r>
          <a:endParaRPr lang="en-US" sz="1800" kern="1200" dirty="0"/>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E5BCFD-F067-45FA-8ACA-30ED1DED50F3}" type="datetimeFigureOut">
              <a:rPr lang="es-MX" smtClean="0"/>
              <a:t>25/08/2025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336900-EDE3-42FD-9205-ADC4094DEFB0}" type="slidenum">
              <a:rPr lang="es-MX" smtClean="0"/>
              <a:t>‹Nº›</a:t>
            </a:fld>
            <a:endParaRPr lang="es-MX"/>
          </a:p>
        </p:txBody>
      </p:sp>
    </p:spTree>
    <p:extLst>
      <p:ext uri="{BB962C8B-B14F-4D97-AF65-F5344CB8AC3E}">
        <p14:creationId xmlns:p14="http://schemas.microsoft.com/office/powerpoint/2010/main" val="371457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1</a:t>
            </a:fld>
            <a:endParaRPr lang="es-MX"/>
          </a:p>
        </p:txBody>
      </p:sp>
    </p:spTree>
    <p:extLst>
      <p:ext uri="{BB962C8B-B14F-4D97-AF65-F5344CB8AC3E}">
        <p14:creationId xmlns:p14="http://schemas.microsoft.com/office/powerpoint/2010/main" val="4270183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2</a:t>
            </a:fld>
            <a:endParaRPr lang="es-MX"/>
          </a:p>
        </p:txBody>
      </p:sp>
    </p:spTree>
    <p:extLst>
      <p:ext uri="{BB962C8B-B14F-4D97-AF65-F5344CB8AC3E}">
        <p14:creationId xmlns:p14="http://schemas.microsoft.com/office/powerpoint/2010/main" val="2940234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3</a:t>
            </a:fld>
            <a:endParaRPr lang="es-MX"/>
          </a:p>
        </p:txBody>
      </p:sp>
    </p:spTree>
    <p:extLst>
      <p:ext uri="{BB962C8B-B14F-4D97-AF65-F5344CB8AC3E}">
        <p14:creationId xmlns:p14="http://schemas.microsoft.com/office/powerpoint/2010/main" val="1410731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latin typeface="Dubai Light" panose="020B0303030403030204" pitchFamily="34" charset="-78"/>
                <a:cs typeface="Dubai Light" panose="020B0303030403030204" pitchFamily="34" charset="-78"/>
              </a:rPr>
              <a:t>Es el eje a lo largo del cual la variación es medida, y por ende, expresada</a:t>
            </a:r>
          </a:p>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4</a:t>
            </a:fld>
            <a:endParaRPr lang="es-MX"/>
          </a:p>
        </p:txBody>
      </p:sp>
    </p:spTree>
    <p:extLst>
      <p:ext uri="{BB962C8B-B14F-4D97-AF65-F5344CB8AC3E}">
        <p14:creationId xmlns:p14="http://schemas.microsoft.com/office/powerpoint/2010/main" val="1769691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8</a:t>
            </a:fld>
            <a:endParaRPr lang="es-MX"/>
          </a:p>
        </p:txBody>
      </p:sp>
    </p:spTree>
    <p:extLst>
      <p:ext uri="{BB962C8B-B14F-4D97-AF65-F5344CB8AC3E}">
        <p14:creationId xmlns:p14="http://schemas.microsoft.com/office/powerpoint/2010/main" val="1826340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87336900-EDE3-42FD-9205-ADC4094DEFB0}" type="slidenum">
              <a:rPr lang="es-MX" smtClean="0"/>
              <a:t>9</a:t>
            </a:fld>
            <a:endParaRPr lang="es-MX"/>
          </a:p>
        </p:txBody>
      </p:sp>
    </p:spTree>
    <p:extLst>
      <p:ext uri="{BB962C8B-B14F-4D97-AF65-F5344CB8AC3E}">
        <p14:creationId xmlns:p14="http://schemas.microsoft.com/office/powerpoint/2010/main" val="297580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10</a:t>
            </a:fld>
            <a:endParaRPr lang="es-MX"/>
          </a:p>
        </p:txBody>
      </p:sp>
    </p:spTree>
    <p:extLst>
      <p:ext uri="{BB962C8B-B14F-4D97-AF65-F5344CB8AC3E}">
        <p14:creationId xmlns:p14="http://schemas.microsoft.com/office/powerpoint/2010/main" val="876286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12</a:t>
            </a:fld>
            <a:endParaRPr lang="es-MX"/>
          </a:p>
        </p:txBody>
      </p:sp>
    </p:spTree>
    <p:extLst>
      <p:ext uri="{BB962C8B-B14F-4D97-AF65-F5344CB8AC3E}">
        <p14:creationId xmlns:p14="http://schemas.microsoft.com/office/powerpoint/2010/main" val="1983087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13</a:t>
            </a:fld>
            <a:endParaRPr lang="es-MX"/>
          </a:p>
        </p:txBody>
      </p:sp>
    </p:spTree>
    <p:extLst>
      <p:ext uri="{BB962C8B-B14F-4D97-AF65-F5344CB8AC3E}">
        <p14:creationId xmlns:p14="http://schemas.microsoft.com/office/powerpoint/2010/main" val="38118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15</a:t>
            </a:fld>
            <a:endParaRPr lang="es-MX"/>
          </a:p>
        </p:txBody>
      </p:sp>
    </p:spTree>
    <p:extLst>
      <p:ext uri="{BB962C8B-B14F-4D97-AF65-F5344CB8AC3E}">
        <p14:creationId xmlns:p14="http://schemas.microsoft.com/office/powerpoint/2010/main" val="706340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16</a:t>
            </a:fld>
            <a:endParaRPr lang="es-MX"/>
          </a:p>
        </p:txBody>
      </p:sp>
    </p:spTree>
    <p:extLst>
      <p:ext uri="{BB962C8B-B14F-4D97-AF65-F5344CB8AC3E}">
        <p14:creationId xmlns:p14="http://schemas.microsoft.com/office/powerpoint/2010/main" val="1052434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19</a:t>
            </a:fld>
            <a:endParaRPr lang="es-MX"/>
          </a:p>
        </p:txBody>
      </p:sp>
    </p:spTree>
    <p:extLst>
      <p:ext uri="{BB962C8B-B14F-4D97-AF65-F5344CB8AC3E}">
        <p14:creationId xmlns:p14="http://schemas.microsoft.com/office/powerpoint/2010/main" val="106107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21</a:t>
            </a:fld>
            <a:endParaRPr lang="es-MX"/>
          </a:p>
        </p:txBody>
      </p:sp>
    </p:spTree>
    <p:extLst>
      <p:ext uri="{BB962C8B-B14F-4D97-AF65-F5344CB8AC3E}">
        <p14:creationId xmlns:p14="http://schemas.microsoft.com/office/powerpoint/2010/main" val="4009040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87336900-EDE3-42FD-9205-ADC4094DEFB0}" type="slidenum">
              <a:rPr lang="es-MX" smtClean="0"/>
              <a:t>23</a:t>
            </a:fld>
            <a:endParaRPr lang="es-MX"/>
          </a:p>
        </p:txBody>
      </p:sp>
    </p:spTree>
    <p:extLst>
      <p:ext uri="{BB962C8B-B14F-4D97-AF65-F5344CB8AC3E}">
        <p14:creationId xmlns:p14="http://schemas.microsoft.com/office/powerpoint/2010/main" val="1848360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590775-A4C6-34E5-AB0C-6066F24B5C3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77D02AA-57BB-0DCE-DFF6-FB0C7E2B45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D9743A1D-9024-BD20-45DE-DCEF54927B8E}"/>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5" name="Marcador de pie de página 4">
            <a:extLst>
              <a:ext uri="{FF2B5EF4-FFF2-40B4-BE49-F238E27FC236}">
                <a16:creationId xmlns:a16="http://schemas.microsoft.com/office/drawing/2014/main" id="{86C8EA59-C5DB-90A3-D29C-62257116F79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207F810-FC18-BFCC-0901-6422699F34F9}"/>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2729504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1BC3F1-824A-51FC-9822-939A7AE40D4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008702A-4D57-7622-3C88-C5EDD367D6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804F0F9-331F-4BAD-373D-157EB68AB37B}"/>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5" name="Marcador de pie de página 4">
            <a:extLst>
              <a:ext uri="{FF2B5EF4-FFF2-40B4-BE49-F238E27FC236}">
                <a16:creationId xmlns:a16="http://schemas.microsoft.com/office/drawing/2014/main" id="{EC368185-36F8-8387-68D6-FC193E035C3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1D02491-E2A8-4EF7-43DE-71AE90340DF5}"/>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2277842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40B22-A1A9-0668-C57C-E4290BCF826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E166CE3-4D91-D010-4966-4F0EF37FCA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8F74D2F-81C2-D5EB-3785-89C0F541D8FB}"/>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5" name="Marcador de pie de página 4">
            <a:extLst>
              <a:ext uri="{FF2B5EF4-FFF2-40B4-BE49-F238E27FC236}">
                <a16:creationId xmlns:a16="http://schemas.microsoft.com/office/drawing/2014/main" id="{C2555C96-D1A6-633F-4012-64C72DF2332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7B9FD4C-9E0B-F555-0C10-514E1DED005A}"/>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1177774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35092D-3EE0-36F4-08FF-8B40724D1A5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24ACA46-0376-8CBF-2728-EC6A7A03DB3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2613F025-9529-DC87-8977-E60C16CA55A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0B22A90-04DD-9C86-EEF9-414ADB5F516D}"/>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6" name="Marcador de pie de página 5">
            <a:extLst>
              <a:ext uri="{FF2B5EF4-FFF2-40B4-BE49-F238E27FC236}">
                <a16:creationId xmlns:a16="http://schemas.microsoft.com/office/drawing/2014/main" id="{9CCF7F55-BFE7-5A01-D64A-BF047A3DB3B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B51351F-4D74-95A2-95CD-7A15EC5AE0DC}"/>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2040530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E79AB2-A04A-3969-A3F7-802EEE93223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2A8F898-2F35-A0B1-8407-CD935CE5F8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306F773-4628-BCF4-8AF9-6243E924098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16BBB66-8268-0E60-EE39-AE7486EABE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AC6978E-5B3D-9A33-27EE-7AA770B847E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92C0CE0-2116-A848-306A-66A95C92EF7B}"/>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8" name="Marcador de pie de página 7">
            <a:extLst>
              <a:ext uri="{FF2B5EF4-FFF2-40B4-BE49-F238E27FC236}">
                <a16:creationId xmlns:a16="http://schemas.microsoft.com/office/drawing/2014/main" id="{E57FA8F0-2FB6-4919-AF2A-C01DAA2CCD4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B6FE268A-4579-5E05-22DD-4CA4DB8EE186}"/>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2898070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1ED469-2552-5E2C-D870-3CB051DA652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65BE7D36-B90B-C0DC-F1A2-E7C36F70F34D}"/>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4" name="Marcador de pie de página 3">
            <a:extLst>
              <a:ext uri="{FF2B5EF4-FFF2-40B4-BE49-F238E27FC236}">
                <a16:creationId xmlns:a16="http://schemas.microsoft.com/office/drawing/2014/main" id="{CFC64074-9D68-0401-F3DC-3C3EF9D58F4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7D6C0B9-ECBD-A40C-38E0-563F996E3415}"/>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1673559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7B189CA-EC1C-BC0C-9563-51E928C593F5}"/>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3" name="Marcador de pie de página 2">
            <a:extLst>
              <a:ext uri="{FF2B5EF4-FFF2-40B4-BE49-F238E27FC236}">
                <a16:creationId xmlns:a16="http://schemas.microsoft.com/office/drawing/2014/main" id="{E2B85C49-5C6C-3A15-A327-1F5C59441EB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66E3454-F0BE-2EFE-5733-3D327C2A58D2}"/>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3237947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3304B-B404-7284-3B5D-6062FF2044E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0870DA4-1CC6-BBAA-29C7-E4071606B4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A9D6970-7E44-11D5-47D3-A6E701591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29B5704-6C8C-3854-9E72-C987F1920EEA}"/>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6" name="Marcador de pie de página 5">
            <a:extLst>
              <a:ext uri="{FF2B5EF4-FFF2-40B4-BE49-F238E27FC236}">
                <a16:creationId xmlns:a16="http://schemas.microsoft.com/office/drawing/2014/main" id="{7957A964-8A40-119C-CE50-22E2621A96D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BE4089A-6C91-D0F8-AB9C-B68F39BF5A11}"/>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493876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C607F5-6BCC-A9AB-6C0E-58497F949CF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39A13429-7742-7D65-5703-A50AC9A077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A919A4E-6328-1158-021A-DDAEBA0E2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1293849-FD63-B00C-F4F3-3B39382799B1}"/>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6" name="Marcador de pie de página 5">
            <a:extLst>
              <a:ext uri="{FF2B5EF4-FFF2-40B4-BE49-F238E27FC236}">
                <a16:creationId xmlns:a16="http://schemas.microsoft.com/office/drawing/2014/main" id="{EA0DAB0D-8440-E5CC-76A8-B933463B97E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4D109D2-5623-C883-374B-00DA759577FD}"/>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1354892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8F2DF3-D43E-5AB2-3EA7-A96913AE726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1CC71CD1-DC52-D318-AFEA-D99A10DF1C3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DFF5286-730B-050A-FA20-86620A840082}"/>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5" name="Marcador de pie de página 4">
            <a:extLst>
              <a:ext uri="{FF2B5EF4-FFF2-40B4-BE49-F238E27FC236}">
                <a16:creationId xmlns:a16="http://schemas.microsoft.com/office/drawing/2014/main" id="{D3D0F2A4-3D3A-2120-863B-94ACFDBE149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B2028D3-836D-30D0-2138-AD1E6BB5A75B}"/>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4265776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EBD8E42-2F2C-61F7-7EF4-90077DE4E94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E9490F6-F6A0-5C66-9E8F-CCCD5D47B0A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54B7D2D-AB93-131D-B72F-3119A1BB682F}"/>
              </a:ext>
            </a:extLst>
          </p:cNvPr>
          <p:cNvSpPr>
            <a:spLocks noGrp="1"/>
          </p:cNvSpPr>
          <p:nvPr>
            <p:ph type="dt" sz="half" idx="10"/>
          </p:nvPr>
        </p:nvSpPr>
        <p:spPr/>
        <p:txBody>
          <a:bodyPr/>
          <a:lstStyle/>
          <a:p>
            <a:fld id="{CC6DC63E-70B1-4EFA-B443-609C832C1284}" type="datetimeFigureOut">
              <a:rPr lang="es-MX" smtClean="0"/>
              <a:t>25/08/2025</a:t>
            </a:fld>
            <a:endParaRPr lang="es-MX"/>
          </a:p>
        </p:txBody>
      </p:sp>
      <p:sp>
        <p:nvSpPr>
          <p:cNvPr id="5" name="Marcador de pie de página 4">
            <a:extLst>
              <a:ext uri="{FF2B5EF4-FFF2-40B4-BE49-F238E27FC236}">
                <a16:creationId xmlns:a16="http://schemas.microsoft.com/office/drawing/2014/main" id="{34B4C2CA-4804-FD3B-56A3-96376541F04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894D5A0-35E9-9A31-F2A4-99E3E9C0EDE4}"/>
              </a:ext>
            </a:extLst>
          </p:cNvPr>
          <p:cNvSpPr>
            <a:spLocks noGrp="1"/>
          </p:cNvSpPr>
          <p:nvPr>
            <p:ph type="sldNum" sz="quarter" idx="12"/>
          </p:nvPr>
        </p:nvSpPr>
        <p:spPr/>
        <p:txBody>
          <a:bodyPr/>
          <a:lstStyle/>
          <a:p>
            <a:fld id="{8D0C7CF8-8DB2-4FA1-B8F4-4B06B58B4CF3}" type="slidenum">
              <a:rPr lang="es-MX" smtClean="0"/>
              <a:t>‹Nº›</a:t>
            </a:fld>
            <a:endParaRPr lang="es-MX"/>
          </a:p>
        </p:txBody>
      </p:sp>
    </p:spTree>
    <p:extLst>
      <p:ext uri="{BB962C8B-B14F-4D97-AF65-F5344CB8AC3E}">
        <p14:creationId xmlns:p14="http://schemas.microsoft.com/office/powerpoint/2010/main" val="3122073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C016EE8-6A4C-D95A-CA54-F752EC7D81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A89E40C-CD15-8323-1E81-0A233E39BE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98CA432-3361-1DAF-121C-2EF5996C36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6DC63E-70B1-4EFA-B443-609C832C1284}" type="datetimeFigureOut">
              <a:rPr lang="es-MX" smtClean="0"/>
              <a:t>25/08/2025</a:t>
            </a:fld>
            <a:endParaRPr lang="es-MX"/>
          </a:p>
        </p:txBody>
      </p:sp>
      <p:sp>
        <p:nvSpPr>
          <p:cNvPr id="5" name="Marcador de pie de página 4">
            <a:extLst>
              <a:ext uri="{FF2B5EF4-FFF2-40B4-BE49-F238E27FC236}">
                <a16:creationId xmlns:a16="http://schemas.microsoft.com/office/drawing/2014/main" id="{86C1DB78-E5FE-1015-6788-2B5A5AF675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BF2BB9EA-3D4B-2A15-D064-46F453288B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0C7CF8-8DB2-4FA1-B8F4-4B06B58B4CF3}" type="slidenum">
              <a:rPr lang="es-MX" smtClean="0"/>
              <a:t>‹Nº›</a:t>
            </a:fld>
            <a:endParaRPr lang="es-MX"/>
          </a:p>
        </p:txBody>
      </p:sp>
    </p:spTree>
    <p:extLst>
      <p:ext uri="{BB962C8B-B14F-4D97-AF65-F5344CB8AC3E}">
        <p14:creationId xmlns:p14="http://schemas.microsoft.com/office/powerpoint/2010/main" val="212415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api.scrapingdog.com/register"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app.hasdata.com/dashboard" TargetMode="External"/><Relationship Id="rId7"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1520B01-A2E4-41C2-8A8F-7683F2508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525D3FC-C871-A3B6-1C04-4C6B43EC5D34}"/>
              </a:ext>
            </a:extLst>
          </p:cNvPr>
          <p:cNvSpPr>
            <a:spLocks noGrp="1"/>
          </p:cNvSpPr>
          <p:nvPr>
            <p:ph type="ctrTitle"/>
          </p:nvPr>
        </p:nvSpPr>
        <p:spPr>
          <a:xfrm>
            <a:off x="4354513" y="841375"/>
            <a:ext cx="3505200" cy="3114698"/>
          </a:xfrm>
        </p:spPr>
        <p:txBody>
          <a:bodyPr>
            <a:normAutofit/>
          </a:bodyPr>
          <a:lstStyle/>
          <a:p>
            <a:r>
              <a:rPr lang="es-MX" sz="3100" dirty="0">
                <a:solidFill>
                  <a:schemeClr val="bg1"/>
                </a:solidFill>
                <a:latin typeface="Aharoni" panose="02010803020104030203" pitchFamily="2" charset="-79"/>
                <a:cs typeface="Aharoni" panose="02010803020104030203" pitchFamily="2" charset="-79"/>
              </a:rPr>
              <a:t>Herramientas para la Recolección de información de texto para la Construcción de Bases de Datos</a:t>
            </a:r>
          </a:p>
        </p:txBody>
      </p:sp>
      <p:sp>
        <p:nvSpPr>
          <p:cNvPr id="3" name="Subtítulo 2">
            <a:extLst>
              <a:ext uri="{FF2B5EF4-FFF2-40B4-BE49-F238E27FC236}">
                <a16:creationId xmlns:a16="http://schemas.microsoft.com/office/drawing/2014/main" id="{78849548-FFB3-89AC-4F17-FF7A0F980FD4}"/>
              </a:ext>
            </a:extLst>
          </p:cNvPr>
          <p:cNvSpPr>
            <a:spLocks noGrp="1"/>
          </p:cNvSpPr>
          <p:nvPr>
            <p:ph type="subTitle" idx="1"/>
          </p:nvPr>
        </p:nvSpPr>
        <p:spPr>
          <a:xfrm>
            <a:off x="4522137" y="6016625"/>
            <a:ext cx="3506264" cy="460376"/>
          </a:xfrm>
        </p:spPr>
        <p:txBody>
          <a:bodyPr>
            <a:normAutofit/>
          </a:bodyPr>
          <a:lstStyle/>
          <a:p>
            <a:r>
              <a:rPr lang="es-MX" dirty="0">
                <a:solidFill>
                  <a:schemeClr val="bg1"/>
                </a:solidFill>
              </a:rPr>
              <a:t>Rocío Cruz Lathrop</a:t>
            </a:r>
          </a:p>
        </p:txBody>
      </p:sp>
      <p:grpSp>
        <p:nvGrpSpPr>
          <p:cNvPr id="25" name="Group 24">
            <a:extLst>
              <a:ext uri="{FF2B5EF4-FFF2-40B4-BE49-F238E27FC236}">
                <a16:creationId xmlns:a16="http://schemas.microsoft.com/office/drawing/2014/main" id="{1F634C0A-A487-42AF-8DFD-4DAD62FE92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4087640" cy="6858000"/>
            <a:chOff x="1" y="0"/>
            <a:chExt cx="4087640" cy="6858000"/>
          </a:xfrm>
          <a:effectLst>
            <a:outerShdw blurRad="381000" dist="152400" algn="ctr" rotWithShape="0">
              <a:srgbClr val="000000">
                <a:alpha val="10000"/>
              </a:srgbClr>
            </a:outerShdw>
          </a:effectLst>
        </p:grpSpPr>
        <p:sp>
          <p:nvSpPr>
            <p:cNvPr id="26" name="Freeform: Shape 25">
              <a:extLst>
                <a:ext uri="{FF2B5EF4-FFF2-40B4-BE49-F238E27FC236}">
                  <a16:creationId xmlns:a16="http://schemas.microsoft.com/office/drawing/2014/main" id="{7412B137-E115-42F2-8CF9-67E40B5D2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3986041" cy="6858000"/>
            </a:xfrm>
            <a:custGeom>
              <a:avLst/>
              <a:gdLst>
                <a:gd name="connsiteX0" fmla="*/ 0 w 3986041"/>
                <a:gd name="connsiteY0" fmla="*/ 0 h 6858000"/>
                <a:gd name="connsiteX1" fmla="*/ 3066495 w 3986041"/>
                <a:gd name="connsiteY1" fmla="*/ 0 h 6858000"/>
                <a:gd name="connsiteX2" fmla="*/ 3427241 w 3986041"/>
                <a:gd name="connsiteY2" fmla="*/ 1211943 h 6858000"/>
                <a:gd name="connsiteX3" fmla="*/ 3986041 w 3986041"/>
                <a:gd name="connsiteY3" fmla="*/ 4122057 h 6858000"/>
                <a:gd name="connsiteX4" fmla="*/ 3751724 w 3986041"/>
                <a:gd name="connsiteY4" fmla="*/ 6858000 h 6858000"/>
                <a:gd name="connsiteX5" fmla="*/ 0 w 39860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6041" h="6858000">
                  <a:moveTo>
                    <a:pt x="0" y="0"/>
                  </a:moveTo>
                  <a:lnTo>
                    <a:pt x="3066495" y="0"/>
                  </a:lnTo>
                  <a:lnTo>
                    <a:pt x="3427241" y="1211943"/>
                  </a:lnTo>
                  <a:lnTo>
                    <a:pt x="3986041" y="4122057"/>
                  </a:lnTo>
                  <a:lnTo>
                    <a:pt x="3751724" y="6858000"/>
                  </a:lnTo>
                  <a:lnTo>
                    <a:pt x="0" y="6858000"/>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779E94B-3A8C-4695-9DA1-2EDEFB170B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4" name="Imagen 3">
            <a:extLst>
              <a:ext uri="{FF2B5EF4-FFF2-40B4-BE49-F238E27FC236}">
                <a16:creationId xmlns:a16="http://schemas.microsoft.com/office/drawing/2014/main" id="{129F2F29-CCC5-487F-8357-16A66DBCE4B3}"/>
              </a:ext>
            </a:extLst>
          </p:cNvPr>
          <p:cNvPicPr>
            <a:picLocks noChangeAspect="1"/>
          </p:cNvPicPr>
          <p:nvPr/>
        </p:nvPicPr>
        <p:blipFill>
          <a:blip r:embed="rId3"/>
          <a:srcRect l="4551" r="18402"/>
          <a:stretch>
            <a:fillRect/>
          </a:stretch>
        </p:blipFill>
        <p:spPr>
          <a:xfrm>
            <a:off x="20" y="10"/>
            <a:ext cx="3910064" cy="6857990"/>
          </a:xfrm>
          <a:custGeom>
            <a:avLst/>
            <a:gdLst/>
            <a:ahLst/>
            <a:cxnLst/>
            <a:rect l="l" t="t" r="r" b="b"/>
            <a:pathLst>
              <a:path w="3910084" h="6858000">
                <a:moveTo>
                  <a:pt x="0" y="0"/>
                </a:moveTo>
                <a:lnTo>
                  <a:pt x="2996382" y="0"/>
                </a:lnTo>
                <a:lnTo>
                  <a:pt x="3563333" y="1750276"/>
                </a:lnTo>
                <a:lnTo>
                  <a:pt x="3910084" y="6054385"/>
                </a:lnTo>
                <a:lnTo>
                  <a:pt x="3791309" y="6858000"/>
                </a:lnTo>
                <a:lnTo>
                  <a:pt x="0" y="6858000"/>
                </a:lnTo>
                <a:close/>
              </a:path>
            </a:pathLst>
          </a:custGeom>
        </p:spPr>
      </p:pic>
      <p:grpSp>
        <p:nvGrpSpPr>
          <p:cNvPr id="29" name="Group 28">
            <a:extLst>
              <a:ext uri="{FF2B5EF4-FFF2-40B4-BE49-F238E27FC236}">
                <a16:creationId xmlns:a16="http://schemas.microsoft.com/office/drawing/2014/main" id="{066EE5A2-0D35-4D6A-A5C7-1CA91F740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8589" y="0"/>
            <a:ext cx="1339053" cy="6858000"/>
            <a:chOff x="2661507" y="0"/>
            <a:chExt cx="1339053" cy="6858000"/>
          </a:xfrm>
        </p:grpSpPr>
        <p:sp>
          <p:nvSpPr>
            <p:cNvPr id="30" name="Freeform: Shape 29">
              <a:extLst>
                <a:ext uri="{FF2B5EF4-FFF2-40B4-BE49-F238E27FC236}">
                  <a16:creationId xmlns:a16="http://schemas.microsoft.com/office/drawing/2014/main" id="{4DFBB771-C61C-4F38-ABBB-98A2D8476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61507"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A2432BD6-3DCC-4397-BD7F-3FE84F321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61507"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3" name="Group 32">
            <a:extLst>
              <a:ext uri="{FF2B5EF4-FFF2-40B4-BE49-F238E27FC236}">
                <a16:creationId xmlns:a16="http://schemas.microsoft.com/office/drawing/2014/main" id="{56AA1647-0DA6-4A17-B3E1-95D61BD547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104360" y="0"/>
            <a:ext cx="4087640" cy="6858000"/>
            <a:chOff x="1" y="0"/>
            <a:chExt cx="4087640" cy="6858000"/>
          </a:xfrm>
          <a:effectLst>
            <a:outerShdw blurRad="381000" dist="152400" algn="ctr" rotWithShape="0">
              <a:srgbClr val="000000">
                <a:alpha val="10000"/>
              </a:srgbClr>
            </a:outerShdw>
          </a:effectLst>
        </p:grpSpPr>
        <p:sp>
          <p:nvSpPr>
            <p:cNvPr id="34" name="Freeform: Shape 33">
              <a:extLst>
                <a:ext uri="{FF2B5EF4-FFF2-40B4-BE49-F238E27FC236}">
                  <a16:creationId xmlns:a16="http://schemas.microsoft.com/office/drawing/2014/main" id="{1F1D8352-2F00-4057-8781-E455C455B9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3986041" cy="6858000"/>
            </a:xfrm>
            <a:custGeom>
              <a:avLst/>
              <a:gdLst>
                <a:gd name="connsiteX0" fmla="*/ 0 w 3986041"/>
                <a:gd name="connsiteY0" fmla="*/ 0 h 6858000"/>
                <a:gd name="connsiteX1" fmla="*/ 3066495 w 3986041"/>
                <a:gd name="connsiteY1" fmla="*/ 0 h 6858000"/>
                <a:gd name="connsiteX2" fmla="*/ 3427241 w 3986041"/>
                <a:gd name="connsiteY2" fmla="*/ 1211943 h 6858000"/>
                <a:gd name="connsiteX3" fmla="*/ 3986041 w 3986041"/>
                <a:gd name="connsiteY3" fmla="*/ 4122057 h 6858000"/>
                <a:gd name="connsiteX4" fmla="*/ 3751724 w 3986041"/>
                <a:gd name="connsiteY4" fmla="*/ 6858000 h 6858000"/>
                <a:gd name="connsiteX5" fmla="*/ 0 w 39860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6041" h="6858000">
                  <a:moveTo>
                    <a:pt x="0" y="0"/>
                  </a:moveTo>
                  <a:lnTo>
                    <a:pt x="3066495" y="0"/>
                  </a:lnTo>
                  <a:lnTo>
                    <a:pt x="3427241" y="1211943"/>
                  </a:lnTo>
                  <a:lnTo>
                    <a:pt x="3986041" y="4122057"/>
                  </a:lnTo>
                  <a:lnTo>
                    <a:pt x="3751724" y="6858000"/>
                  </a:lnTo>
                  <a:lnTo>
                    <a:pt x="0" y="6858000"/>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3BE70D92-7E07-4A6F-BD82-729F71C26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Vista superior de un escritorio de madera con un teclado blanco, un plano de dibujo, un compás de dibujo y unos bolígrafos.">
            <a:extLst>
              <a:ext uri="{FF2B5EF4-FFF2-40B4-BE49-F238E27FC236}">
                <a16:creationId xmlns:a16="http://schemas.microsoft.com/office/drawing/2014/main" id="{63073707-11D1-794E-11CC-4CB06577A63A}"/>
              </a:ext>
            </a:extLst>
          </p:cNvPr>
          <p:cNvPicPr>
            <a:picLocks noChangeAspect="1"/>
          </p:cNvPicPr>
          <p:nvPr/>
        </p:nvPicPr>
        <p:blipFill>
          <a:blip r:embed="rId5"/>
          <a:srcRect l="10686" r="51256" b="-2"/>
          <a:stretch>
            <a:fillRect/>
          </a:stretch>
        </p:blipFill>
        <p:spPr>
          <a:xfrm>
            <a:off x="8281916" y="1"/>
            <a:ext cx="3910084" cy="6858000"/>
          </a:xfrm>
          <a:custGeom>
            <a:avLst/>
            <a:gdLst/>
            <a:ahLst/>
            <a:cxnLst/>
            <a:rect l="l" t="t" r="r" b="b"/>
            <a:pathLst>
              <a:path w="3910084" h="6858000">
                <a:moveTo>
                  <a:pt x="118775" y="0"/>
                </a:moveTo>
                <a:lnTo>
                  <a:pt x="3910084" y="0"/>
                </a:lnTo>
                <a:lnTo>
                  <a:pt x="3910084" y="6858000"/>
                </a:lnTo>
                <a:lnTo>
                  <a:pt x="913702" y="6858000"/>
                </a:lnTo>
                <a:lnTo>
                  <a:pt x="346751" y="5107724"/>
                </a:lnTo>
                <a:lnTo>
                  <a:pt x="0" y="803615"/>
                </a:lnTo>
                <a:close/>
              </a:path>
            </a:pathLst>
          </a:custGeom>
        </p:spPr>
      </p:pic>
      <p:grpSp>
        <p:nvGrpSpPr>
          <p:cNvPr id="37" name="Group 36">
            <a:extLst>
              <a:ext uri="{FF2B5EF4-FFF2-40B4-BE49-F238E27FC236}">
                <a16:creationId xmlns:a16="http://schemas.microsoft.com/office/drawing/2014/main" id="{08D20F07-CD49-4F17-BC00-9429DA80C5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104359" y="-2"/>
            <a:ext cx="1339053" cy="6858000"/>
            <a:chOff x="2661507" y="0"/>
            <a:chExt cx="1339053" cy="6858000"/>
          </a:xfrm>
          <a:effectLst>
            <a:outerShdw blurRad="381000" dist="152400" dir="10800000" algn="r" rotWithShape="0">
              <a:prstClr val="black">
                <a:alpha val="10000"/>
              </a:prstClr>
            </a:outerShdw>
          </a:effectLst>
        </p:grpSpPr>
        <p:sp>
          <p:nvSpPr>
            <p:cNvPr id="38" name="Freeform: Shape 37">
              <a:extLst>
                <a:ext uri="{FF2B5EF4-FFF2-40B4-BE49-F238E27FC236}">
                  <a16:creationId xmlns:a16="http://schemas.microsoft.com/office/drawing/2014/main" id="{11F66703-4D0D-42DF-8150-991FE9F8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61507"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E96840F9-95E6-4C98-BFE4-21B5954236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61507"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70519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9192C51-B764-4A9B-9587-5EF8B628B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8CE6E04-F1EB-8A99-A952-82F14933A574}"/>
              </a:ext>
            </a:extLst>
          </p:cNvPr>
          <p:cNvSpPr>
            <a:spLocks noGrp="1"/>
          </p:cNvSpPr>
          <p:nvPr>
            <p:ph type="title"/>
          </p:nvPr>
        </p:nvSpPr>
        <p:spPr>
          <a:xfrm>
            <a:off x="648929" y="557190"/>
            <a:ext cx="5181510" cy="2152959"/>
          </a:xfrm>
        </p:spPr>
        <p:txBody>
          <a:bodyPr>
            <a:normAutofit fontScale="90000"/>
          </a:bodyPr>
          <a:lstStyle/>
          <a:p>
            <a:r>
              <a:rPr lang="es-MX" sz="2700" dirty="0">
                <a:latin typeface="Dubai Light" panose="020B0303030403030204" pitchFamily="34" charset="-78"/>
                <a:cs typeface="Dubai Light" panose="020B0303030403030204" pitchFamily="34" charset="-78"/>
              </a:rPr>
              <a:t>Objetivo General</a:t>
            </a:r>
            <a:br>
              <a:rPr lang="es-MX" sz="2000" dirty="0">
                <a:latin typeface="Dubai Light" panose="020B0303030403030204" pitchFamily="34" charset="-78"/>
                <a:cs typeface="Dubai Light" panose="020B0303030403030204" pitchFamily="34" charset="-78"/>
              </a:rPr>
            </a:br>
            <a:br>
              <a:rPr lang="es-MX" sz="2000" dirty="0">
                <a:latin typeface="Dubai Light" panose="020B0303030403030204" pitchFamily="34" charset="-78"/>
                <a:cs typeface="Dubai Light" panose="020B0303030403030204" pitchFamily="34" charset="-78"/>
              </a:rPr>
            </a:br>
            <a:r>
              <a:rPr lang="es-MX" sz="2700" dirty="0">
                <a:latin typeface="Dubai Light" panose="020B0303030403030204" pitchFamily="34" charset="-78"/>
                <a:cs typeface="Dubai Light" panose="020B0303030403030204" pitchFamily="34" charset="-78"/>
              </a:rPr>
              <a:t>Compartir herramientas para la creación de variables cuantitativas a partir de información cualitativa como archivos de texto y/o disponibles en internet</a:t>
            </a:r>
            <a:br>
              <a:rPr lang="es-MX" sz="1600" dirty="0"/>
            </a:br>
            <a:endParaRPr lang="es-MX" sz="1600" dirty="0"/>
          </a:p>
        </p:txBody>
      </p:sp>
      <p:sp>
        <p:nvSpPr>
          <p:cNvPr id="3" name="Marcador de contenido 2">
            <a:extLst>
              <a:ext uri="{FF2B5EF4-FFF2-40B4-BE49-F238E27FC236}">
                <a16:creationId xmlns:a16="http://schemas.microsoft.com/office/drawing/2014/main" id="{C75A737D-87A8-05CC-57AE-E22429CF4B30}"/>
              </a:ext>
            </a:extLst>
          </p:cNvPr>
          <p:cNvSpPr>
            <a:spLocks noGrp="1"/>
          </p:cNvSpPr>
          <p:nvPr>
            <p:ph idx="1"/>
          </p:nvPr>
        </p:nvSpPr>
        <p:spPr>
          <a:xfrm>
            <a:off x="648930" y="2406650"/>
            <a:ext cx="5181508" cy="3722438"/>
          </a:xfrm>
        </p:spPr>
        <p:txBody>
          <a:bodyPr>
            <a:normAutofit/>
          </a:bodyPr>
          <a:lstStyle/>
          <a:p>
            <a:pPr marL="0" indent="0">
              <a:buNone/>
            </a:pPr>
            <a:endParaRPr lang="es-MX" sz="2000" dirty="0">
              <a:latin typeface="Dubai Light" panose="020B0303030403030204" pitchFamily="34" charset="-78"/>
              <a:cs typeface="Dubai Light" panose="020B0303030403030204" pitchFamily="34" charset="-78"/>
            </a:endParaRPr>
          </a:p>
          <a:p>
            <a:pPr marL="0" indent="0">
              <a:buNone/>
            </a:pPr>
            <a:r>
              <a:rPr lang="es-MX" sz="2400" dirty="0">
                <a:latin typeface="Dubai Light" panose="020B0303030403030204" pitchFamily="34" charset="-78"/>
                <a:cs typeface="Dubai Light" panose="020B0303030403030204" pitchFamily="34" charset="-78"/>
              </a:rPr>
              <a:t>Sesiones</a:t>
            </a:r>
          </a:p>
          <a:p>
            <a:pPr marL="457200" indent="-457200">
              <a:buAutoNum type="arabicParenR"/>
            </a:pPr>
            <a:r>
              <a:rPr lang="es-MX" sz="2400" dirty="0">
                <a:latin typeface="Dubai Light" panose="020B0303030403030204" pitchFamily="34" charset="-78"/>
                <a:cs typeface="Dubai Light" panose="020B0303030403030204" pitchFamily="34" charset="-78"/>
              </a:rPr>
              <a:t>Construcción de variables y codificación</a:t>
            </a:r>
          </a:p>
          <a:p>
            <a:pPr marL="457200" indent="-457200">
              <a:buAutoNum type="arabicParenR"/>
            </a:pPr>
            <a:r>
              <a:rPr lang="es-MX" sz="2400" dirty="0">
                <a:latin typeface="Dubai Light" panose="020B0303030403030204" pitchFamily="34" charset="-78"/>
                <a:cs typeface="Dubai Light" panose="020B0303030403030204" pitchFamily="34" charset="-78"/>
              </a:rPr>
              <a:t>Web </a:t>
            </a:r>
            <a:r>
              <a:rPr lang="es-MX" sz="2400" dirty="0" err="1">
                <a:latin typeface="Dubai Light" panose="020B0303030403030204" pitchFamily="34" charset="-78"/>
                <a:cs typeface="Dubai Light" panose="020B0303030403030204" pitchFamily="34" charset="-78"/>
              </a:rPr>
              <a:t>scraping</a:t>
            </a:r>
            <a:r>
              <a:rPr lang="es-MX" sz="2400" dirty="0">
                <a:latin typeface="Dubai Light" panose="020B0303030403030204" pitchFamily="34" charset="-78"/>
                <a:cs typeface="Dubai Light" panose="020B0303030403030204" pitchFamily="34" charset="-78"/>
              </a:rPr>
              <a:t> </a:t>
            </a:r>
            <a:r>
              <a:rPr lang="es-MX" sz="2400" dirty="0">
                <a:latin typeface="Dubai Light" panose="020B0303030403030204" pitchFamily="34" charset="-78"/>
                <a:ea typeface="+mj-ea"/>
                <a:cs typeface="Dubai Light" panose="020B0303030403030204" pitchFamily="34" charset="-78"/>
              </a:rPr>
              <a:t>en</a:t>
            </a:r>
            <a:r>
              <a:rPr lang="es-MX" sz="2400" dirty="0">
                <a:latin typeface="Dubai Light" panose="020B0303030403030204" pitchFamily="34" charset="-78"/>
                <a:cs typeface="Dubai Light" panose="020B0303030403030204" pitchFamily="34" charset="-78"/>
              </a:rPr>
              <a:t> Google News con Python</a:t>
            </a:r>
          </a:p>
          <a:p>
            <a:pPr marL="0" indent="0">
              <a:buNone/>
            </a:pPr>
            <a:r>
              <a:rPr lang="es-MX" sz="2400" dirty="0">
                <a:latin typeface="Dubai Light" panose="020B0303030403030204" pitchFamily="34" charset="-78"/>
                <a:cs typeface="Dubai Light" panose="020B0303030403030204" pitchFamily="34" charset="-78"/>
              </a:rPr>
              <a:t>3) Búsqueda de información en textos con </a:t>
            </a:r>
            <a:r>
              <a:rPr lang="es-MX" sz="2400" dirty="0" err="1">
                <a:latin typeface="Dubai Light" panose="020B0303030403030204" pitchFamily="34" charset="-78"/>
                <a:cs typeface="Dubai Light" panose="020B0303030403030204" pitchFamily="34" charset="-78"/>
              </a:rPr>
              <a:t>Power</a:t>
            </a:r>
            <a:r>
              <a:rPr lang="es-MX" sz="2400" dirty="0">
                <a:latin typeface="Dubai Light" panose="020B0303030403030204" pitchFamily="34" charset="-78"/>
                <a:cs typeface="Dubai Light" panose="020B0303030403030204" pitchFamily="34" charset="-78"/>
              </a:rPr>
              <a:t> Shell en Windows. </a:t>
            </a:r>
          </a:p>
          <a:p>
            <a:endParaRPr lang="es-MX" sz="2000" dirty="0"/>
          </a:p>
        </p:txBody>
      </p:sp>
      <p:pic>
        <p:nvPicPr>
          <p:cNvPr id="5" name="Picture 4" descr="Vista superior de cubos conectados con líneas negras">
            <a:extLst>
              <a:ext uri="{FF2B5EF4-FFF2-40B4-BE49-F238E27FC236}">
                <a16:creationId xmlns:a16="http://schemas.microsoft.com/office/drawing/2014/main" id="{4F631B16-A664-0B87-1D19-E47DE8946F5B}"/>
              </a:ext>
            </a:extLst>
          </p:cNvPr>
          <p:cNvPicPr>
            <a:picLocks noChangeAspect="1"/>
          </p:cNvPicPr>
          <p:nvPr/>
        </p:nvPicPr>
        <p:blipFill>
          <a:blip r:embed="rId3"/>
          <a:srcRect l="17176" r="17176"/>
          <a:stretch>
            <a:fillRect/>
          </a:stretch>
        </p:blipFill>
        <p:spPr>
          <a:xfrm>
            <a:off x="6189155" y="10"/>
            <a:ext cx="6002844" cy="6857990"/>
          </a:xfrm>
          <a:prstGeom prst="rect">
            <a:avLst/>
          </a:prstGeom>
          <a:effectLst/>
        </p:spPr>
      </p:pic>
    </p:spTree>
    <p:extLst>
      <p:ext uri="{BB962C8B-B14F-4D97-AF65-F5344CB8AC3E}">
        <p14:creationId xmlns:p14="http://schemas.microsoft.com/office/powerpoint/2010/main" val="161457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Silueta de puesta de sol de un andamio en un sitio en construcción">
            <a:extLst>
              <a:ext uri="{FF2B5EF4-FFF2-40B4-BE49-F238E27FC236}">
                <a16:creationId xmlns:a16="http://schemas.microsoft.com/office/drawing/2014/main" id="{7A70A8ED-45FC-2644-2708-A7892D486153}"/>
              </a:ext>
            </a:extLst>
          </p:cNvPr>
          <p:cNvPicPr>
            <a:picLocks noChangeAspect="1"/>
          </p:cNvPicPr>
          <p:nvPr/>
        </p:nvPicPr>
        <p:blipFill>
          <a:blip r:embed="rId3">
            <a:grayscl/>
          </a:blip>
          <a:srcRect t="15730"/>
          <a:stretch>
            <a:fillRect/>
          </a:stretch>
        </p:blipFill>
        <p:spPr>
          <a:xfrm>
            <a:off x="20" y="10"/>
            <a:ext cx="12191980" cy="6857990"/>
          </a:xfrm>
          <a:prstGeom prst="rect">
            <a:avLst/>
          </a:prstGeom>
        </p:spPr>
      </p:pic>
      <p:sp>
        <p:nvSpPr>
          <p:cNvPr id="8" name="Freeform 12">
            <a:extLst>
              <a:ext uri="{FF2B5EF4-FFF2-40B4-BE49-F238E27FC236}">
                <a16:creationId xmlns:a16="http://schemas.microsoft.com/office/drawing/2014/main" id="{5625EBD2-B0F5-41AE-B3A7-8EC468264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1594" y="2311110"/>
            <a:ext cx="7028812" cy="2235780"/>
          </a:xfrm>
          <a:custGeom>
            <a:avLst/>
            <a:gdLst>
              <a:gd name="connsiteX0" fmla="*/ 0 w 8935452"/>
              <a:gd name="connsiteY0" fmla="*/ 0 h 3735526"/>
              <a:gd name="connsiteX1" fmla="*/ 8935452 w 8935452"/>
              <a:gd name="connsiteY1" fmla="*/ 0 h 3735526"/>
              <a:gd name="connsiteX2" fmla="*/ 8935452 w 8935452"/>
              <a:gd name="connsiteY2" fmla="*/ 3384463 h 3735526"/>
              <a:gd name="connsiteX3" fmla="*/ 4674433 w 8935452"/>
              <a:gd name="connsiteY3" fmla="*/ 3384463 h 3735526"/>
              <a:gd name="connsiteX4" fmla="*/ 4470816 w 8935452"/>
              <a:gd name="connsiteY4" fmla="*/ 3735526 h 3735526"/>
              <a:gd name="connsiteX5" fmla="*/ 4267200 w 8935452"/>
              <a:gd name="connsiteY5" fmla="*/ 3384463 h 3735526"/>
              <a:gd name="connsiteX6" fmla="*/ 0 w 8935452"/>
              <a:gd name="connsiteY6" fmla="*/ 3384463 h 373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5452" h="3735526">
                <a:moveTo>
                  <a:pt x="0" y="0"/>
                </a:moveTo>
                <a:lnTo>
                  <a:pt x="8935452" y="0"/>
                </a:lnTo>
                <a:lnTo>
                  <a:pt x="8935452" y="3384463"/>
                </a:lnTo>
                <a:lnTo>
                  <a:pt x="4674433" y="3384463"/>
                </a:lnTo>
                <a:lnTo>
                  <a:pt x="4470816" y="3735526"/>
                </a:lnTo>
                <a:lnTo>
                  <a:pt x="4267200" y="3384463"/>
                </a:lnTo>
                <a:lnTo>
                  <a:pt x="0" y="3384463"/>
                </a:lnTo>
                <a:close/>
              </a:path>
            </a:pathLst>
          </a:custGeom>
          <a:solidFill>
            <a:schemeClr val="bg2"/>
          </a:solidFill>
          <a:ln w="190500" cap="sq" cmpd="thinThick">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8ABB3859-62A5-FE2F-E83F-D1A50BDA5EFB}"/>
              </a:ext>
            </a:extLst>
          </p:cNvPr>
          <p:cNvSpPr>
            <a:spLocks noGrp="1"/>
          </p:cNvSpPr>
          <p:nvPr>
            <p:ph type="ctrTitle"/>
          </p:nvPr>
        </p:nvSpPr>
        <p:spPr>
          <a:xfrm>
            <a:off x="3167062" y="2486025"/>
            <a:ext cx="5857875" cy="1676400"/>
          </a:xfrm>
        </p:spPr>
        <p:txBody>
          <a:bodyPr vert="horz" lIns="91440" tIns="45720" rIns="91440" bIns="45720" rtlCol="0" anchor="ctr">
            <a:normAutofit fontScale="90000"/>
          </a:bodyPr>
          <a:lstStyle/>
          <a:p>
            <a:r>
              <a:rPr lang="es-MX" sz="4000" noProof="0" dirty="0">
                <a:solidFill>
                  <a:schemeClr val="tx2"/>
                </a:solidFill>
                <a:latin typeface="Aharoni" panose="02010803020104030203" pitchFamily="2" charset="-79"/>
                <a:cs typeface="Aharoni" panose="02010803020104030203" pitchFamily="2" charset="-79"/>
              </a:rPr>
              <a:t>Construcción de variables y Codificación</a:t>
            </a:r>
            <a:br>
              <a:rPr lang="en-US" sz="2800" dirty="0">
                <a:solidFill>
                  <a:schemeClr val="tx2"/>
                </a:solidFill>
              </a:rPr>
            </a:br>
            <a:endParaRPr lang="en-US" sz="2800" dirty="0">
              <a:solidFill>
                <a:schemeClr val="tx2"/>
              </a:solidFill>
            </a:endParaRPr>
          </a:p>
        </p:txBody>
      </p:sp>
    </p:spTree>
    <p:extLst>
      <p:ext uri="{BB962C8B-B14F-4D97-AF65-F5344CB8AC3E}">
        <p14:creationId xmlns:p14="http://schemas.microsoft.com/office/powerpoint/2010/main" val="107550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AC13BF-63D0-A5AE-4784-72A941240ADD}"/>
              </a:ext>
            </a:extLst>
          </p:cNvPr>
          <p:cNvSpPr>
            <a:spLocks noGrp="1"/>
          </p:cNvSpPr>
          <p:nvPr>
            <p:ph type="title"/>
          </p:nvPr>
        </p:nvSpPr>
        <p:spPr/>
        <p:txBody>
          <a:bodyPr/>
          <a:lstStyle/>
          <a:p>
            <a:r>
              <a:rPr lang="es-MX" dirty="0">
                <a:latin typeface="Aharoni" panose="02010803020104030203" pitchFamily="2" charset="-79"/>
                <a:cs typeface="Aharoni" panose="02010803020104030203" pitchFamily="2" charset="-79"/>
              </a:rPr>
              <a:t>Construcción de variables</a:t>
            </a:r>
          </a:p>
        </p:txBody>
      </p:sp>
      <p:sp>
        <p:nvSpPr>
          <p:cNvPr id="3" name="Marcador de contenido 2">
            <a:extLst>
              <a:ext uri="{FF2B5EF4-FFF2-40B4-BE49-F238E27FC236}">
                <a16:creationId xmlns:a16="http://schemas.microsoft.com/office/drawing/2014/main" id="{79A39C66-7D96-C806-28B8-3BA788A029DB}"/>
              </a:ext>
            </a:extLst>
          </p:cNvPr>
          <p:cNvSpPr>
            <a:spLocks noGrp="1"/>
          </p:cNvSpPr>
          <p:nvPr>
            <p:ph idx="1"/>
          </p:nvPr>
        </p:nvSpPr>
        <p:spPr>
          <a:xfrm>
            <a:off x="838200" y="1618488"/>
            <a:ext cx="10515600" cy="4558475"/>
          </a:xfrm>
        </p:spPr>
        <p:txBody>
          <a:bodyPr>
            <a:normAutofit/>
          </a:bodyPr>
          <a:lstStyle/>
          <a:p>
            <a:pPr marL="0" indent="0" algn="just">
              <a:buNone/>
            </a:pPr>
            <a:endParaRPr lang="es-MX" dirty="0">
              <a:latin typeface="Dubai Light" panose="020B0303030403030204" pitchFamily="34" charset="-78"/>
              <a:cs typeface="Dubai Light" panose="020B0303030403030204" pitchFamily="34" charset="-78"/>
            </a:endParaRPr>
          </a:p>
          <a:p>
            <a:pPr marL="0" indent="0" algn="just">
              <a:buNone/>
            </a:pPr>
            <a:r>
              <a:rPr lang="es-MX" dirty="0">
                <a:latin typeface="Dubai Light" panose="020B0303030403030204" pitchFamily="34" charset="-78"/>
                <a:cs typeface="Dubai Light" panose="020B0303030403030204" pitchFamily="34" charset="-78"/>
              </a:rPr>
              <a:t>La investigación cuantitativa  emplea la teoría para deducir hipótesis que posteriormente se someten a análisis empírico.</a:t>
            </a:r>
          </a:p>
          <a:p>
            <a:pPr marL="0" indent="0" algn="just">
              <a:buNone/>
            </a:pPr>
            <a:endParaRPr lang="es-MX" dirty="0">
              <a:latin typeface="Dubai Light" panose="020B0303030403030204" pitchFamily="34" charset="-78"/>
              <a:cs typeface="Dubai Light" panose="020B0303030403030204" pitchFamily="34" charset="-78"/>
            </a:endParaRPr>
          </a:p>
          <a:p>
            <a:pPr marL="0" indent="0" algn="just">
              <a:buNone/>
            </a:pPr>
            <a:r>
              <a:rPr lang="es-MX" sz="3200" dirty="0">
                <a:latin typeface="Dubai Light" panose="020B0303030403030204" pitchFamily="34" charset="-78"/>
                <a:cs typeface="Dubai Light" panose="020B0303030403030204" pitchFamily="34" charset="-78"/>
              </a:rPr>
              <a:t>Variables</a:t>
            </a:r>
          </a:p>
          <a:p>
            <a:pPr>
              <a:buFont typeface="Wingdings" panose="05000000000000000000" pitchFamily="2" charset="2"/>
              <a:buChar char="ü"/>
            </a:pPr>
            <a:r>
              <a:rPr lang="es-MX" dirty="0">
                <a:latin typeface="Dubai Light" panose="020B0303030403030204" pitchFamily="34" charset="-78"/>
                <a:cs typeface="Dubai Light" panose="020B0303030403030204" pitchFamily="34" charset="-78"/>
              </a:rPr>
              <a:t>Son medidas o indicadores diseñados para cuantificar conceptos</a:t>
            </a:r>
          </a:p>
          <a:p>
            <a:pPr>
              <a:buFont typeface="Wingdings" panose="05000000000000000000" pitchFamily="2" charset="2"/>
              <a:buChar char="ü"/>
            </a:pPr>
            <a:r>
              <a:rPr lang="es-MX" dirty="0">
                <a:latin typeface="Dubai Light" panose="020B0303030403030204" pitchFamily="34" charset="-78"/>
                <a:cs typeface="Dubai Light" panose="020B0303030403030204" pitchFamily="34" charset="-78"/>
              </a:rPr>
              <a:t>Se busca captar la variación para ayudarnos a comprenderla </a:t>
            </a:r>
          </a:p>
          <a:p>
            <a:pPr marL="0" indent="0" algn="just">
              <a:buNone/>
            </a:pPr>
            <a:endParaRPr lang="es-MX" dirty="0">
              <a:latin typeface="Dubai Light" panose="020B0303030403030204" pitchFamily="34" charset="-78"/>
              <a:cs typeface="Dubai Light" panose="020B0303030403030204" pitchFamily="34" charset="-78"/>
            </a:endParaRPr>
          </a:p>
          <a:p>
            <a:pPr marL="0" indent="0" algn="just">
              <a:buNone/>
            </a:pPr>
            <a:endParaRPr lang="es-MX" dirty="0">
              <a:latin typeface="Dubai Light" panose="020B0303030403030204" pitchFamily="34" charset="-78"/>
              <a:cs typeface="Dubai Light" panose="020B0303030403030204" pitchFamily="34" charset="-78"/>
            </a:endParaRPr>
          </a:p>
          <a:p>
            <a:pPr marL="0" indent="0">
              <a:buNone/>
            </a:pPr>
            <a:endParaRPr lang="es-MX" dirty="0">
              <a:latin typeface="Dubai Light" panose="020B0303030403030204" pitchFamily="34" charset="-78"/>
              <a:cs typeface="Dubai Light" panose="020B0303030403030204" pitchFamily="34" charset="-78"/>
            </a:endParaRPr>
          </a:p>
        </p:txBody>
      </p:sp>
      <p:pic>
        <p:nvPicPr>
          <p:cNvPr id="4" name="Imagen 3">
            <a:extLst>
              <a:ext uri="{FF2B5EF4-FFF2-40B4-BE49-F238E27FC236}">
                <a16:creationId xmlns:a16="http://schemas.microsoft.com/office/drawing/2014/main" id="{CD11A941-AACF-EB65-2847-3D90EAAC2170}"/>
              </a:ext>
            </a:extLst>
          </p:cNvPr>
          <p:cNvPicPr>
            <a:picLocks noChangeAspect="1"/>
          </p:cNvPicPr>
          <p:nvPr/>
        </p:nvPicPr>
        <p:blipFill>
          <a:blip r:embed="rId3"/>
          <a:stretch>
            <a:fillRect/>
          </a:stretch>
        </p:blipFill>
        <p:spPr>
          <a:xfrm>
            <a:off x="0" y="1307592"/>
            <a:ext cx="12192000" cy="109728"/>
          </a:xfrm>
          <a:prstGeom prst="rect">
            <a:avLst/>
          </a:prstGeom>
          <a:solidFill>
            <a:schemeClr val="tx1"/>
          </a:solidFill>
        </p:spPr>
      </p:pic>
      <p:pic>
        <p:nvPicPr>
          <p:cNvPr id="5" name="Imagen 4">
            <a:extLst>
              <a:ext uri="{FF2B5EF4-FFF2-40B4-BE49-F238E27FC236}">
                <a16:creationId xmlns:a16="http://schemas.microsoft.com/office/drawing/2014/main" id="{22CDE1EA-E0F9-7700-67C2-02337B4B46A4}"/>
              </a:ext>
            </a:extLst>
          </p:cNvPr>
          <p:cNvPicPr>
            <a:picLocks noChangeAspect="1"/>
          </p:cNvPicPr>
          <p:nvPr/>
        </p:nvPicPr>
        <p:blipFill>
          <a:blip r:embed="rId3"/>
          <a:stretch>
            <a:fillRect/>
          </a:stretch>
        </p:blipFill>
        <p:spPr>
          <a:xfrm>
            <a:off x="0" y="6803136"/>
            <a:ext cx="12192000" cy="109728"/>
          </a:xfrm>
          <a:prstGeom prst="rect">
            <a:avLst/>
          </a:prstGeom>
        </p:spPr>
      </p:pic>
    </p:spTree>
    <p:extLst>
      <p:ext uri="{BB962C8B-B14F-4D97-AF65-F5344CB8AC3E}">
        <p14:creationId xmlns:p14="http://schemas.microsoft.com/office/powerpoint/2010/main" val="607439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820A0-EBE7-AA1F-FF05-135A13FA2D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6C84E1-C9EA-7756-9172-25F340271278}"/>
              </a:ext>
            </a:extLst>
          </p:cNvPr>
          <p:cNvSpPr>
            <a:spLocks noGrp="1"/>
          </p:cNvSpPr>
          <p:nvPr>
            <p:ph type="title"/>
          </p:nvPr>
        </p:nvSpPr>
        <p:spPr/>
        <p:txBody>
          <a:bodyPr/>
          <a:lstStyle/>
          <a:p>
            <a:r>
              <a:rPr lang="es-MX" dirty="0">
                <a:latin typeface="Aharoni" panose="02010803020104030203" pitchFamily="2" charset="-79"/>
                <a:cs typeface="Aharoni" panose="02010803020104030203" pitchFamily="2" charset="-79"/>
              </a:rPr>
              <a:t>Construcción de variables</a:t>
            </a:r>
          </a:p>
        </p:txBody>
      </p:sp>
      <p:sp>
        <p:nvSpPr>
          <p:cNvPr id="3" name="Marcador de contenido 2">
            <a:extLst>
              <a:ext uri="{FF2B5EF4-FFF2-40B4-BE49-F238E27FC236}">
                <a16:creationId xmlns:a16="http://schemas.microsoft.com/office/drawing/2014/main" id="{8882A329-B456-A64F-0520-78969D7DAE3D}"/>
              </a:ext>
            </a:extLst>
          </p:cNvPr>
          <p:cNvSpPr>
            <a:spLocks noGrp="1"/>
          </p:cNvSpPr>
          <p:nvPr>
            <p:ph idx="1"/>
          </p:nvPr>
        </p:nvSpPr>
        <p:spPr/>
        <p:txBody>
          <a:bodyPr>
            <a:normAutofit/>
          </a:bodyPr>
          <a:lstStyle/>
          <a:p>
            <a:pPr marL="0" indent="0" algn="ctr">
              <a:buNone/>
            </a:pPr>
            <a:r>
              <a:rPr lang="es-MX" sz="3500" dirty="0">
                <a:latin typeface="Dubai Light" panose="020B0303030403030204" pitchFamily="34" charset="-78"/>
                <a:cs typeface="Dubai Light" panose="020B0303030403030204" pitchFamily="34" charset="-78"/>
              </a:rPr>
              <a:t>4 niveles de medición de variables</a:t>
            </a:r>
          </a:p>
          <a:p>
            <a:pPr marL="0" indent="0">
              <a:buNone/>
            </a:pPr>
            <a:r>
              <a:rPr lang="es-MX" dirty="0">
                <a:latin typeface="Dubai Light" panose="020B0303030403030204" pitchFamily="34" charset="-78"/>
                <a:cs typeface="Dubai Light" panose="020B0303030403030204" pitchFamily="34" charset="-78"/>
              </a:rPr>
              <a:t>Qué tipo de técnicas podemos usar en relación a cada nivel de medida</a:t>
            </a:r>
          </a:p>
          <a:p>
            <a:pPr marL="0" indent="0">
              <a:buNone/>
            </a:pPr>
            <a:endParaRPr lang="es-MX" dirty="0">
              <a:latin typeface="Dubai Light" panose="020B0303030403030204" pitchFamily="34" charset="-78"/>
              <a:cs typeface="Dubai Light" panose="020B0303030403030204" pitchFamily="34" charset="-78"/>
            </a:endParaRPr>
          </a:p>
          <a:p>
            <a:pPr>
              <a:buFont typeface="Wingdings" panose="05000000000000000000" pitchFamily="2" charset="2"/>
              <a:buChar char="Ø"/>
            </a:pPr>
            <a:r>
              <a:rPr lang="es-MX" sz="3600" dirty="0">
                <a:latin typeface="Dubai Light" panose="020B0303030403030204" pitchFamily="34" charset="-78"/>
                <a:cs typeface="Dubai Light" panose="020B0303030403030204" pitchFamily="34" charset="-78"/>
              </a:rPr>
              <a:t>Nominal</a:t>
            </a:r>
          </a:p>
          <a:p>
            <a:pPr>
              <a:buFont typeface="Wingdings" panose="05000000000000000000" pitchFamily="2" charset="2"/>
              <a:buChar char="Ø"/>
            </a:pPr>
            <a:r>
              <a:rPr lang="es-MX" sz="3600" dirty="0">
                <a:latin typeface="Dubai Light" panose="020B0303030403030204" pitchFamily="34" charset="-78"/>
                <a:cs typeface="Dubai Light" panose="020B0303030403030204" pitchFamily="34" charset="-78"/>
              </a:rPr>
              <a:t>Ordinal</a:t>
            </a:r>
          </a:p>
          <a:p>
            <a:pPr>
              <a:buFont typeface="Wingdings" panose="05000000000000000000" pitchFamily="2" charset="2"/>
              <a:buChar char="Ø"/>
            </a:pPr>
            <a:r>
              <a:rPr lang="es-MX" sz="3600" dirty="0">
                <a:latin typeface="Dubai Light" panose="020B0303030403030204" pitchFamily="34" charset="-78"/>
                <a:cs typeface="Dubai Light" panose="020B0303030403030204" pitchFamily="34" charset="-78"/>
              </a:rPr>
              <a:t>Intervalo</a:t>
            </a:r>
          </a:p>
          <a:p>
            <a:pPr>
              <a:buFont typeface="Wingdings" panose="05000000000000000000" pitchFamily="2" charset="2"/>
              <a:buChar char="Ø"/>
            </a:pPr>
            <a:r>
              <a:rPr lang="es-MX" sz="3600" dirty="0">
                <a:latin typeface="Dubai Light" panose="020B0303030403030204" pitchFamily="34" charset="-78"/>
                <a:cs typeface="Dubai Light" panose="020B0303030403030204" pitchFamily="34" charset="-78"/>
              </a:rPr>
              <a:t>Razón</a:t>
            </a:r>
          </a:p>
        </p:txBody>
      </p:sp>
      <p:pic>
        <p:nvPicPr>
          <p:cNvPr id="4" name="Imagen 3">
            <a:extLst>
              <a:ext uri="{FF2B5EF4-FFF2-40B4-BE49-F238E27FC236}">
                <a16:creationId xmlns:a16="http://schemas.microsoft.com/office/drawing/2014/main" id="{CFD9D01C-2C4F-1CD0-992F-6FB479568251}"/>
              </a:ext>
            </a:extLst>
          </p:cNvPr>
          <p:cNvPicPr>
            <a:picLocks noChangeAspect="1"/>
          </p:cNvPicPr>
          <p:nvPr/>
        </p:nvPicPr>
        <p:blipFill>
          <a:blip r:embed="rId2"/>
          <a:stretch>
            <a:fillRect/>
          </a:stretch>
        </p:blipFill>
        <p:spPr>
          <a:xfrm>
            <a:off x="0" y="1307592"/>
            <a:ext cx="12192000" cy="109728"/>
          </a:xfrm>
          <a:prstGeom prst="rect">
            <a:avLst/>
          </a:prstGeom>
        </p:spPr>
      </p:pic>
      <p:pic>
        <p:nvPicPr>
          <p:cNvPr id="5" name="Imagen 4">
            <a:extLst>
              <a:ext uri="{FF2B5EF4-FFF2-40B4-BE49-F238E27FC236}">
                <a16:creationId xmlns:a16="http://schemas.microsoft.com/office/drawing/2014/main" id="{19014EE4-5501-8864-80BC-09DAF03641D3}"/>
              </a:ext>
            </a:extLst>
          </p:cNvPr>
          <p:cNvPicPr>
            <a:picLocks noChangeAspect="1"/>
          </p:cNvPicPr>
          <p:nvPr/>
        </p:nvPicPr>
        <p:blipFill>
          <a:blip r:embed="rId2"/>
          <a:stretch>
            <a:fillRect/>
          </a:stretch>
        </p:blipFill>
        <p:spPr>
          <a:xfrm>
            <a:off x="0" y="6748272"/>
            <a:ext cx="12192000" cy="109728"/>
          </a:xfrm>
          <a:prstGeom prst="rect">
            <a:avLst/>
          </a:prstGeom>
        </p:spPr>
      </p:pic>
    </p:spTree>
    <p:extLst>
      <p:ext uri="{BB962C8B-B14F-4D97-AF65-F5344CB8AC3E}">
        <p14:creationId xmlns:p14="http://schemas.microsoft.com/office/powerpoint/2010/main" val="451445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2DA5A1-1D68-F6E3-C999-0FDF203EACEA}"/>
              </a:ext>
            </a:extLst>
          </p:cNvPr>
          <p:cNvSpPr>
            <a:spLocks noGrp="1"/>
          </p:cNvSpPr>
          <p:nvPr>
            <p:ph type="title"/>
          </p:nvPr>
        </p:nvSpPr>
        <p:spPr/>
        <p:txBody>
          <a:bodyPr/>
          <a:lstStyle/>
          <a:p>
            <a:r>
              <a:rPr lang="es-MX" dirty="0">
                <a:latin typeface="Aharoni" panose="02010803020104030203" pitchFamily="2" charset="-79"/>
                <a:cs typeface="Aharoni" panose="02010803020104030203" pitchFamily="2" charset="-79"/>
              </a:rPr>
              <a:t>Tipos</a:t>
            </a:r>
            <a:r>
              <a:rPr lang="es-MX" dirty="0">
                <a:latin typeface="Ahoni"/>
              </a:rPr>
              <a:t> </a:t>
            </a:r>
            <a:r>
              <a:rPr lang="es-MX" dirty="0">
                <a:latin typeface="Aharoni" panose="02010803020104030203" pitchFamily="2" charset="-79"/>
                <a:cs typeface="Aharoni" panose="02010803020104030203" pitchFamily="2" charset="-79"/>
              </a:rPr>
              <a:t>de Variables</a:t>
            </a:r>
          </a:p>
        </p:txBody>
      </p:sp>
      <p:sp>
        <p:nvSpPr>
          <p:cNvPr id="3" name="Marcador de contenido 2">
            <a:extLst>
              <a:ext uri="{FF2B5EF4-FFF2-40B4-BE49-F238E27FC236}">
                <a16:creationId xmlns:a16="http://schemas.microsoft.com/office/drawing/2014/main" id="{E1B64E5D-2F89-8F64-D180-56A4399C6727}"/>
              </a:ext>
            </a:extLst>
          </p:cNvPr>
          <p:cNvSpPr>
            <a:spLocks noGrp="1"/>
          </p:cNvSpPr>
          <p:nvPr>
            <p:ph idx="1"/>
          </p:nvPr>
        </p:nvSpPr>
        <p:spPr/>
        <p:txBody>
          <a:bodyPr>
            <a:normAutofit/>
          </a:bodyPr>
          <a:lstStyle/>
          <a:p>
            <a:pPr>
              <a:buFont typeface="Wingdings" panose="05000000000000000000" pitchFamily="2" charset="2"/>
              <a:buChar char="v"/>
            </a:pPr>
            <a:r>
              <a:rPr lang="es-MX" dirty="0">
                <a:latin typeface="Dubai Light" panose="020B0303030403030204" pitchFamily="34" charset="-78"/>
                <a:cs typeface="Dubai Light" panose="020B0303030403030204" pitchFamily="34" charset="-78"/>
              </a:rPr>
              <a:t>Nominal</a:t>
            </a:r>
          </a:p>
          <a:p>
            <a:pPr marL="0" indent="0">
              <a:buNone/>
            </a:pPr>
            <a:r>
              <a:rPr lang="es-MX" dirty="0">
                <a:latin typeface="Dubai Light" panose="020B0303030403030204" pitchFamily="34" charset="-78"/>
                <a:cs typeface="Dubai Light" panose="020B0303030403030204" pitchFamily="34" charset="-78"/>
              </a:rPr>
              <a:t>Es una variable categórica, por lo que los números asignados a las categorías no tienen significado matemático. Por ejemplo: género con las categorías: masculino, femenino, Otro.</a:t>
            </a:r>
          </a:p>
          <a:p>
            <a:pPr marL="0" indent="0">
              <a:buNone/>
            </a:pPr>
            <a:endParaRPr lang="es-MX" dirty="0">
              <a:latin typeface="Dubai Light" panose="020B0303030403030204" pitchFamily="34" charset="-78"/>
              <a:cs typeface="Dubai Light" panose="020B0303030403030204" pitchFamily="34" charset="-78"/>
            </a:endParaRPr>
          </a:p>
          <a:p>
            <a:pPr>
              <a:buFont typeface="Wingdings" panose="05000000000000000000" pitchFamily="2" charset="2"/>
              <a:buChar char="v"/>
            </a:pPr>
            <a:r>
              <a:rPr lang="es-MX" dirty="0">
                <a:latin typeface="Dubai Light" panose="020B0303030403030204" pitchFamily="34" charset="-78"/>
                <a:cs typeface="Dubai Light" panose="020B0303030403030204" pitchFamily="34" charset="-78"/>
              </a:rPr>
              <a:t>Ordinal</a:t>
            </a:r>
          </a:p>
          <a:p>
            <a:pPr marL="0" indent="0">
              <a:buNone/>
            </a:pPr>
            <a:r>
              <a:rPr lang="es-MX" dirty="0">
                <a:latin typeface="Dubai Light" panose="020B0303030403030204" pitchFamily="34" charset="-78"/>
                <a:cs typeface="Dubai Light" panose="020B0303030403030204" pitchFamily="34" charset="-78"/>
              </a:rPr>
              <a:t>Este tipo de variables se da cuando podemos ordenar las categorías en función de su rango. Por ejemplo: Nivel educativo alcanzado. Primaria, Secundaria, media superior/educación técnica, licenciatura, posgrado</a:t>
            </a:r>
          </a:p>
        </p:txBody>
      </p:sp>
      <p:sp>
        <p:nvSpPr>
          <p:cNvPr id="4" name="Rectángulo 3">
            <a:extLst>
              <a:ext uri="{FF2B5EF4-FFF2-40B4-BE49-F238E27FC236}">
                <a16:creationId xmlns:a16="http://schemas.microsoft.com/office/drawing/2014/main" id="{6960B713-6EDA-9478-F82E-FBE970CF2146}"/>
              </a:ext>
            </a:extLst>
          </p:cNvPr>
          <p:cNvSpPr/>
          <p:nvPr/>
        </p:nvSpPr>
        <p:spPr>
          <a:xfrm>
            <a:off x="1" y="1357162"/>
            <a:ext cx="12192000" cy="962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5" name="Imagen 4">
            <a:extLst>
              <a:ext uri="{FF2B5EF4-FFF2-40B4-BE49-F238E27FC236}">
                <a16:creationId xmlns:a16="http://schemas.microsoft.com/office/drawing/2014/main" id="{15F1A2EC-8FA0-9030-600E-381B9EC9D498}"/>
              </a:ext>
            </a:extLst>
          </p:cNvPr>
          <p:cNvPicPr>
            <a:picLocks noChangeAspect="1"/>
          </p:cNvPicPr>
          <p:nvPr/>
        </p:nvPicPr>
        <p:blipFill>
          <a:blip r:embed="rId2"/>
          <a:stretch>
            <a:fillRect/>
          </a:stretch>
        </p:blipFill>
        <p:spPr>
          <a:xfrm>
            <a:off x="0" y="6748436"/>
            <a:ext cx="12192000" cy="109564"/>
          </a:xfrm>
          <a:prstGeom prst="rect">
            <a:avLst/>
          </a:prstGeom>
        </p:spPr>
      </p:pic>
    </p:spTree>
    <p:extLst>
      <p:ext uri="{BB962C8B-B14F-4D97-AF65-F5344CB8AC3E}">
        <p14:creationId xmlns:p14="http://schemas.microsoft.com/office/powerpoint/2010/main" val="1323069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59C1FA-6A6F-81C0-E1A4-E69B8AAEF5C2}"/>
              </a:ext>
            </a:extLst>
          </p:cNvPr>
          <p:cNvSpPr>
            <a:spLocks noGrp="1"/>
          </p:cNvSpPr>
          <p:nvPr>
            <p:ph type="title"/>
          </p:nvPr>
        </p:nvSpPr>
        <p:spPr/>
        <p:txBody>
          <a:bodyPr/>
          <a:lstStyle/>
          <a:p>
            <a:r>
              <a:rPr lang="es-MX" dirty="0">
                <a:latin typeface="Aharoni" panose="02010803020104030203" pitchFamily="2" charset="-79"/>
                <a:cs typeface="Aharoni" panose="02010803020104030203" pitchFamily="2" charset="-79"/>
              </a:rPr>
              <a:t>Tipos de variables</a:t>
            </a:r>
          </a:p>
        </p:txBody>
      </p:sp>
      <p:sp>
        <p:nvSpPr>
          <p:cNvPr id="3" name="Marcador de contenido 2">
            <a:extLst>
              <a:ext uri="{FF2B5EF4-FFF2-40B4-BE49-F238E27FC236}">
                <a16:creationId xmlns:a16="http://schemas.microsoft.com/office/drawing/2014/main" id="{754A45C7-6B17-CF6F-C549-5A982B7BFAF4}"/>
              </a:ext>
            </a:extLst>
          </p:cNvPr>
          <p:cNvSpPr>
            <a:spLocks noGrp="1"/>
          </p:cNvSpPr>
          <p:nvPr>
            <p:ph idx="1"/>
          </p:nvPr>
        </p:nvSpPr>
        <p:spPr/>
        <p:txBody>
          <a:bodyPr>
            <a:normAutofit/>
          </a:bodyPr>
          <a:lstStyle/>
          <a:p>
            <a:pPr>
              <a:buFont typeface="Wingdings" panose="05000000000000000000" pitchFamily="2" charset="2"/>
              <a:buChar char="v"/>
            </a:pPr>
            <a:r>
              <a:rPr lang="es-MX" dirty="0">
                <a:latin typeface="Dubai Light" panose="020B0303030403030204" pitchFamily="34" charset="-78"/>
                <a:cs typeface="Dubai Light" panose="020B0303030403030204" pitchFamily="34" charset="-78"/>
              </a:rPr>
              <a:t>Intervalo</a:t>
            </a:r>
          </a:p>
          <a:p>
            <a:pPr marL="0" indent="0">
              <a:buNone/>
            </a:pPr>
            <a:r>
              <a:rPr lang="es-MX" dirty="0">
                <a:latin typeface="Dubai Light" panose="020B0303030403030204" pitchFamily="34" charset="-78"/>
                <a:cs typeface="Dubai Light" panose="020B0303030403030204" pitchFamily="34" charset="-78"/>
              </a:rPr>
              <a:t>Está se caracteriza por una clasificación por orden de importancia de las categorías. Aquí las distancias entre los valores son iguales en todo el rango de categorías. No tienen un cero absoluto. Un ejemplo es la temperatura en grados Celsius.</a:t>
            </a:r>
          </a:p>
          <a:p>
            <a:pPr>
              <a:buFont typeface="Wingdings" panose="05000000000000000000" pitchFamily="2" charset="2"/>
              <a:buChar char="v"/>
            </a:pPr>
            <a:r>
              <a:rPr lang="es-MX" dirty="0">
                <a:latin typeface="Dubai Light" panose="020B0303030403030204" pitchFamily="34" charset="-78"/>
                <a:cs typeface="Dubai Light" panose="020B0303030403030204" pitchFamily="34" charset="-78"/>
              </a:rPr>
              <a:t>De Razón (Ratio)</a:t>
            </a:r>
          </a:p>
          <a:p>
            <a:pPr marL="0" indent="0">
              <a:buNone/>
            </a:pPr>
            <a:r>
              <a:rPr lang="es-MX" dirty="0">
                <a:latin typeface="Dubai Light" panose="020B0303030403030204" pitchFamily="34" charset="-78"/>
                <a:cs typeface="Dubai Light" panose="020B0303030403030204" pitchFamily="34" charset="-78"/>
              </a:rPr>
              <a:t>Es similar a una variable de intervalo pero tiene un punto cero verdadero. Este punto cero representa la ausencia de la cualidad que se mide. Un ejemplo de es la edad en años. </a:t>
            </a:r>
          </a:p>
        </p:txBody>
      </p:sp>
      <p:pic>
        <p:nvPicPr>
          <p:cNvPr id="4" name="Imagen 3">
            <a:extLst>
              <a:ext uri="{FF2B5EF4-FFF2-40B4-BE49-F238E27FC236}">
                <a16:creationId xmlns:a16="http://schemas.microsoft.com/office/drawing/2014/main" id="{E9DCF038-F0E6-E2F4-4C8E-30EDB11393A5}"/>
              </a:ext>
            </a:extLst>
          </p:cNvPr>
          <p:cNvPicPr>
            <a:picLocks noChangeAspect="1"/>
          </p:cNvPicPr>
          <p:nvPr/>
        </p:nvPicPr>
        <p:blipFill>
          <a:blip r:embed="rId2"/>
          <a:stretch>
            <a:fillRect/>
          </a:stretch>
        </p:blipFill>
        <p:spPr>
          <a:xfrm>
            <a:off x="0" y="1335106"/>
            <a:ext cx="12192000" cy="109564"/>
          </a:xfrm>
          <a:prstGeom prst="rect">
            <a:avLst/>
          </a:prstGeom>
        </p:spPr>
      </p:pic>
      <p:pic>
        <p:nvPicPr>
          <p:cNvPr id="5" name="Imagen 4">
            <a:extLst>
              <a:ext uri="{FF2B5EF4-FFF2-40B4-BE49-F238E27FC236}">
                <a16:creationId xmlns:a16="http://schemas.microsoft.com/office/drawing/2014/main" id="{691CE9EE-7167-1A06-E623-9809C7DB08E1}"/>
              </a:ext>
            </a:extLst>
          </p:cNvPr>
          <p:cNvPicPr>
            <a:picLocks noChangeAspect="1"/>
          </p:cNvPicPr>
          <p:nvPr/>
        </p:nvPicPr>
        <p:blipFill>
          <a:blip r:embed="rId3"/>
          <a:stretch>
            <a:fillRect/>
          </a:stretch>
        </p:blipFill>
        <p:spPr>
          <a:xfrm>
            <a:off x="0" y="6729984"/>
            <a:ext cx="12192000" cy="109728"/>
          </a:xfrm>
          <a:prstGeom prst="rect">
            <a:avLst/>
          </a:prstGeom>
        </p:spPr>
      </p:pic>
    </p:spTree>
    <p:extLst>
      <p:ext uri="{BB962C8B-B14F-4D97-AF65-F5344CB8AC3E}">
        <p14:creationId xmlns:p14="http://schemas.microsoft.com/office/powerpoint/2010/main" val="3715375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C097500-05C2-C3D6-E895-5D8B93C5EBD9}"/>
              </a:ext>
            </a:extLst>
          </p:cNvPr>
          <p:cNvSpPr>
            <a:spLocks noGrp="1"/>
          </p:cNvSpPr>
          <p:nvPr>
            <p:ph type="title"/>
          </p:nvPr>
        </p:nvSpPr>
        <p:spPr>
          <a:xfrm>
            <a:off x="1043631" y="809898"/>
            <a:ext cx="10173010" cy="1554480"/>
          </a:xfrm>
        </p:spPr>
        <p:txBody>
          <a:bodyPr anchor="ctr">
            <a:normAutofit/>
          </a:bodyPr>
          <a:lstStyle/>
          <a:p>
            <a:r>
              <a:rPr lang="es-MX" sz="4800"/>
              <a:t>Codificación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 name="Marcador de contenido 2">
            <a:extLst>
              <a:ext uri="{FF2B5EF4-FFF2-40B4-BE49-F238E27FC236}">
                <a16:creationId xmlns:a16="http://schemas.microsoft.com/office/drawing/2014/main" id="{E0A32351-DC11-D332-EB88-1C1AAE0BE5F3}"/>
              </a:ext>
            </a:extLst>
          </p:cNvPr>
          <p:cNvGraphicFramePr>
            <a:graphicFrameLocks noGrp="1"/>
          </p:cNvGraphicFramePr>
          <p:nvPr>
            <p:ph idx="1"/>
            <p:extLst>
              <p:ext uri="{D42A27DB-BD31-4B8C-83A1-F6EECF244321}">
                <p14:modId xmlns:p14="http://schemas.microsoft.com/office/powerpoint/2010/main" val="1492945183"/>
              </p:ext>
            </p:extLst>
          </p:nvPr>
        </p:nvGraphicFramePr>
        <p:xfrm>
          <a:off x="904602" y="2704014"/>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Imagen 6">
            <a:extLst>
              <a:ext uri="{FF2B5EF4-FFF2-40B4-BE49-F238E27FC236}">
                <a16:creationId xmlns:a16="http://schemas.microsoft.com/office/drawing/2014/main" id="{732D332D-8D6F-9A7C-BE0B-69EDBEF9A64E}"/>
              </a:ext>
            </a:extLst>
          </p:cNvPr>
          <p:cNvPicPr>
            <a:picLocks noChangeAspect="1"/>
          </p:cNvPicPr>
          <p:nvPr/>
        </p:nvPicPr>
        <p:blipFill>
          <a:blip r:embed="rId8"/>
          <a:stretch>
            <a:fillRect/>
          </a:stretch>
        </p:blipFill>
        <p:spPr>
          <a:xfrm>
            <a:off x="5617921" y="372686"/>
            <a:ext cx="2145978" cy="2139881"/>
          </a:xfrm>
          <a:prstGeom prst="rect">
            <a:avLst/>
          </a:prstGeom>
        </p:spPr>
      </p:pic>
    </p:spTree>
    <p:extLst>
      <p:ext uri="{BB962C8B-B14F-4D97-AF65-F5344CB8AC3E}">
        <p14:creationId xmlns:p14="http://schemas.microsoft.com/office/powerpoint/2010/main" val="3326329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44D8AC-95F3-4F20-4662-FA957CD71209}"/>
              </a:ext>
            </a:extLst>
          </p:cNvPr>
          <p:cNvSpPr>
            <a:spLocks noGrp="1"/>
          </p:cNvSpPr>
          <p:nvPr>
            <p:ph type="title"/>
          </p:nvPr>
        </p:nvSpPr>
        <p:spPr/>
        <p:txBody>
          <a:bodyPr/>
          <a:lstStyle/>
          <a:p>
            <a:r>
              <a:rPr lang="es-MX" dirty="0"/>
              <a:t>Codificación</a:t>
            </a:r>
          </a:p>
        </p:txBody>
      </p:sp>
      <p:graphicFrame>
        <p:nvGraphicFramePr>
          <p:cNvPr id="4" name="Marcador de contenido 3">
            <a:extLst>
              <a:ext uri="{FF2B5EF4-FFF2-40B4-BE49-F238E27FC236}">
                <a16:creationId xmlns:a16="http://schemas.microsoft.com/office/drawing/2014/main" id="{E4261C72-0816-0587-C08D-E0AB69833A5A}"/>
              </a:ext>
            </a:extLst>
          </p:cNvPr>
          <p:cNvGraphicFramePr>
            <a:graphicFrameLocks noGrp="1"/>
          </p:cNvGraphicFramePr>
          <p:nvPr>
            <p:ph idx="1"/>
            <p:extLst>
              <p:ext uri="{D42A27DB-BD31-4B8C-83A1-F6EECF244321}">
                <p14:modId xmlns:p14="http://schemas.microsoft.com/office/powerpoint/2010/main" val="4030298466"/>
              </p:ext>
            </p:extLst>
          </p:nvPr>
        </p:nvGraphicFramePr>
        <p:xfrm>
          <a:off x="838200" y="2693557"/>
          <a:ext cx="10753248" cy="2129430"/>
        </p:xfrm>
        <a:graphic>
          <a:graphicData uri="http://schemas.openxmlformats.org/drawingml/2006/table">
            <a:tbl>
              <a:tblPr firstRow="1" firstCol="1" bandRow="1">
                <a:tableStyleId>{616DA210-FB5B-4158-B5E0-FEB733F419BA}</a:tableStyleId>
              </a:tblPr>
              <a:tblGrid>
                <a:gridCol w="2483790">
                  <a:extLst>
                    <a:ext uri="{9D8B030D-6E8A-4147-A177-3AD203B41FA5}">
                      <a16:colId xmlns:a16="http://schemas.microsoft.com/office/drawing/2014/main" val="2237916038"/>
                    </a:ext>
                  </a:extLst>
                </a:gridCol>
                <a:gridCol w="2756486">
                  <a:extLst>
                    <a:ext uri="{9D8B030D-6E8A-4147-A177-3AD203B41FA5}">
                      <a16:colId xmlns:a16="http://schemas.microsoft.com/office/drawing/2014/main" val="2575017751"/>
                    </a:ext>
                  </a:extLst>
                </a:gridCol>
                <a:gridCol w="2756486">
                  <a:extLst>
                    <a:ext uri="{9D8B030D-6E8A-4147-A177-3AD203B41FA5}">
                      <a16:colId xmlns:a16="http://schemas.microsoft.com/office/drawing/2014/main" val="1544243874"/>
                    </a:ext>
                  </a:extLst>
                </a:gridCol>
                <a:gridCol w="2756486">
                  <a:extLst>
                    <a:ext uri="{9D8B030D-6E8A-4147-A177-3AD203B41FA5}">
                      <a16:colId xmlns:a16="http://schemas.microsoft.com/office/drawing/2014/main" val="3797417004"/>
                    </a:ext>
                  </a:extLst>
                </a:gridCol>
              </a:tblGrid>
              <a:tr h="792562">
                <a:tc>
                  <a:txBody>
                    <a:bodyPr/>
                    <a:lstStyle/>
                    <a:p>
                      <a:pPr algn="just">
                        <a:lnSpc>
                          <a:spcPct val="115000"/>
                        </a:lnSpc>
                        <a:spcAft>
                          <a:spcPts val="800"/>
                        </a:spcAft>
                        <a:buNone/>
                      </a:pPr>
                      <a:r>
                        <a:rPr lang="es-MX" sz="2000" kern="100" dirty="0">
                          <a:effectLst/>
                          <a:latin typeface="Times New Roman" panose="02020603050405020304" pitchFamily="18" charset="0"/>
                          <a:cs typeface="Times New Roman" panose="02020603050405020304" pitchFamily="18" charset="0"/>
                        </a:rPr>
                        <a:t>Nombre de variable</a:t>
                      </a:r>
                      <a:endParaRPr lang="es-MX"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s-MX" sz="2000" kern="100" dirty="0">
                          <a:effectLst/>
                          <a:latin typeface="Times New Roman" panose="02020603050405020304" pitchFamily="18" charset="0"/>
                          <a:cs typeface="Times New Roman" panose="02020603050405020304" pitchFamily="18" charset="0"/>
                        </a:rPr>
                        <a:t>Definición</a:t>
                      </a:r>
                      <a:endParaRPr lang="es-MX"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s-MX" sz="2000" kern="100" dirty="0">
                          <a:effectLst/>
                          <a:latin typeface="Times New Roman" panose="02020603050405020304" pitchFamily="18" charset="0"/>
                          <a:cs typeface="Times New Roman" panose="02020603050405020304" pitchFamily="18" charset="0"/>
                        </a:rPr>
                        <a:t>Ejemplos</a:t>
                      </a:r>
                      <a:endParaRPr lang="es-MX"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s-MX" sz="2000" kern="100" dirty="0">
                          <a:effectLst/>
                          <a:latin typeface="Times New Roman" panose="02020603050405020304" pitchFamily="18" charset="0"/>
                          <a:cs typeface="Times New Roman" panose="02020603050405020304" pitchFamily="18" charset="0"/>
                        </a:rPr>
                        <a:t>Fuentes de información</a:t>
                      </a:r>
                      <a:endParaRPr lang="es-MX"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11635772"/>
                  </a:ext>
                </a:extLst>
              </a:tr>
              <a:tr h="1336868">
                <a:tc>
                  <a:txBody>
                    <a:bodyPr/>
                    <a:lstStyle/>
                    <a:p>
                      <a:pPr marL="0" algn="just" defTabSz="914400" rtl="0" eaLnBrk="1" latinLnBrk="0" hangingPunct="1">
                        <a:lnSpc>
                          <a:spcPct val="115000"/>
                        </a:lnSpc>
                        <a:spcAft>
                          <a:spcPts val="800"/>
                        </a:spcAft>
                        <a:buNone/>
                      </a:pP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noFill/>
                  </a:tcPr>
                </a:tc>
                <a:tc>
                  <a:txBody>
                    <a:bodyPr/>
                    <a:lstStyle/>
                    <a:p>
                      <a:pPr marL="0" algn="just" defTabSz="914400" rtl="0" eaLnBrk="1" latinLnBrk="0" hangingPunct="1">
                        <a:lnSpc>
                          <a:spcPct val="115000"/>
                        </a:lnSpc>
                        <a:spcAft>
                          <a:spcPts val="800"/>
                        </a:spcAft>
                        <a:buNone/>
                      </a:pPr>
                      <a:r>
                        <a:rPr lang="es-MX" sz="1050" b="1" kern="100" dirty="0">
                          <a:solidFill>
                            <a:schemeClr val="tx1"/>
                          </a:solidFill>
                          <a:effectLst/>
                          <a:latin typeface="Dubai Light" panose="020B0303030403030204" pitchFamily="34" charset="-78"/>
                          <a:ea typeface="+mn-ea"/>
                          <a:cs typeface="Dubai Light" panose="020B0303030403030204" pitchFamily="34" charset="-78"/>
                        </a:rPr>
                        <a:t> </a:t>
                      </a:r>
                    </a:p>
                  </a:txBody>
                  <a:tcPr marL="68580" marR="68580" marT="0" marB="0">
                    <a:noFill/>
                  </a:tcPr>
                </a:tc>
                <a:tc>
                  <a:txBody>
                    <a:bodyPr/>
                    <a:lstStyle/>
                    <a:p>
                      <a:pPr marL="0" algn="just" defTabSz="914400" rtl="0" eaLnBrk="1" latinLnBrk="0" hangingPunct="1">
                        <a:lnSpc>
                          <a:spcPct val="115000"/>
                        </a:lnSpc>
                        <a:spcAft>
                          <a:spcPts val="800"/>
                        </a:spcAft>
                        <a:buNone/>
                      </a:pP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noFill/>
                  </a:tcPr>
                </a:tc>
                <a:tc>
                  <a:txBody>
                    <a:bodyPr/>
                    <a:lstStyle/>
                    <a:p>
                      <a:pPr marL="0" algn="just" defTabSz="914400" rtl="0" eaLnBrk="1" latinLnBrk="0" hangingPunct="1">
                        <a:lnSpc>
                          <a:spcPct val="115000"/>
                        </a:lnSpc>
                        <a:spcAft>
                          <a:spcPts val="800"/>
                        </a:spcAft>
                        <a:buNone/>
                      </a:pPr>
                      <a:r>
                        <a:rPr lang="es-MX" sz="1050" b="1" kern="100" dirty="0">
                          <a:solidFill>
                            <a:schemeClr val="tx1"/>
                          </a:solidFill>
                          <a:effectLst/>
                          <a:latin typeface="Dubai Light" panose="020B0303030403030204" pitchFamily="34" charset="-78"/>
                          <a:ea typeface="+mn-ea"/>
                          <a:cs typeface="Dubai Light" panose="020B0303030403030204" pitchFamily="34" charset="-78"/>
                        </a:rPr>
                        <a:t> </a:t>
                      </a:r>
                    </a:p>
                  </a:txBody>
                  <a:tcPr marL="68580" marR="68580" marT="0" marB="0">
                    <a:noFill/>
                  </a:tcPr>
                </a:tc>
                <a:extLst>
                  <a:ext uri="{0D108BD9-81ED-4DB2-BD59-A6C34878D82A}">
                    <a16:rowId xmlns:a16="http://schemas.microsoft.com/office/drawing/2014/main" val="2068765422"/>
                  </a:ext>
                </a:extLst>
              </a:tr>
            </a:tbl>
          </a:graphicData>
        </a:graphic>
      </p:graphicFrame>
      <p:pic>
        <p:nvPicPr>
          <p:cNvPr id="6" name="Imagen 5">
            <a:extLst>
              <a:ext uri="{FF2B5EF4-FFF2-40B4-BE49-F238E27FC236}">
                <a16:creationId xmlns:a16="http://schemas.microsoft.com/office/drawing/2014/main" id="{AF2DBCFD-87AB-8399-1C49-129027BC39C4}"/>
              </a:ext>
            </a:extLst>
          </p:cNvPr>
          <p:cNvPicPr>
            <a:picLocks noChangeAspect="1"/>
          </p:cNvPicPr>
          <p:nvPr/>
        </p:nvPicPr>
        <p:blipFill>
          <a:blip r:embed="rId3"/>
          <a:stretch>
            <a:fillRect/>
          </a:stretch>
        </p:blipFill>
        <p:spPr>
          <a:xfrm>
            <a:off x="1383203" y="3635804"/>
            <a:ext cx="1237634" cy="1058902"/>
          </a:xfrm>
          <a:prstGeom prst="rect">
            <a:avLst/>
          </a:prstGeom>
        </p:spPr>
      </p:pic>
      <p:pic>
        <p:nvPicPr>
          <p:cNvPr id="7" name="Imagen 6">
            <a:extLst>
              <a:ext uri="{FF2B5EF4-FFF2-40B4-BE49-F238E27FC236}">
                <a16:creationId xmlns:a16="http://schemas.microsoft.com/office/drawing/2014/main" id="{D76B6602-30DA-681F-3791-7134B509BEB5}"/>
              </a:ext>
            </a:extLst>
          </p:cNvPr>
          <p:cNvPicPr>
            <a:picLocks noChangeAspect="1"/>
          </p:cNvPicPr>
          <p:nvPr/>
        </p:nvPicPr>
        <p:blipFill>
          <a:blip r:embed="rId4"/>
          <a:stretch>
            <a:fillRect/>
          </a:stretch>
        </p:blipFill>
        <p:spPr>
          <a:xfrm>
            <a:off x="4007816" y="3635804"/>
            <a:ext cx="1237595" cy="1060796"/>
          </a:xfrm>
          <a:prstGeom prst="rect">
            <a:avLst/>
          </a:prstGeom>
        </p:spPr>
      </p:pic>
      <p:pic>
        <p:nvPicPr>
          <p:cNvPr id="8" name="Imagen 7">
            <a:extLst>
              <a:ext uri="{FF2B5EF4-FFF2-40B4-BE49-F238E27FC236}">
                <a16:creationId xmlns:a16="http://schemas.microsoft.com/office/drawing/2014/main" id="{D4462464-BC96-C1A2-D1FF-9A775799DA21}"/>
              </a:ext>
            </a:extLst>
          </p:cNvPr>
          <p:cNvPicPr>
            <a:picLocks noChangeAspect="1"/>
          </p:cNvPicPr>
          <p:nvPr/>
        </p:nvPicPr>
        <p:blipFill>
          <a:blip r:embed="rId4"/>
          <a:stretch>
            <a:fillRect/>
          </a:stretch>
        </p:blipFill>
        <p:spPr>
          <a:xfrm>
            <a:off x="6830219" y="3635804"/>
            <a:ext cx="1237595" cy="1060796"/>
          </a:xfrm>
          <a:prstGeom prst="rect">
            <a:avLst/>
          </a:prstGeom>
        </p:spPr>
      </p:pic>
      <p:pic>
        <p:nvPicPr>
          <p:cNvPr id="9" name="Imagen 8">
            <a:extLst>
              <a:ext uri="{FF2B5EF4-FFF2-40B4-BE49-F238E27FC236}">
                <a16:creationId xmlns:a16="http://schemas.microsoft.com/office/drawing/2014/main" id="{1D04BD4B-5A94-7B38-4CEE-5B6F3C02148B}"/>
              </a:ext>
            </a:extLst>
          </p:cNvPr>
          <p:cNvPicPr>
            <a:picLocks noChangeAspect="1"/>
          </p:cNvPicPr>
          <p:nvPr/>
        </p:nvPicPr>
        <p:blipFill>
          <a:blip r:embed="rId4"/>
          <a:stretch>
            <a:fillRect/>
          </a:stretch>
        </p:blipFill>
        <p:spPr>
          <a:xfrm>
            <a:off x="9667338" y="3635804"/>
            <a:ext cx="1237595" cy="1060796"/>
          </a:xfrm>
          <a:prstGeom prst="rect">
            <a:avLst/>
          </a:prstGeom>
        </p:spPr>
      </p:pic>
      <p:pic>
        <p:nvPicPr>
          <p:cNvPr id="15" name="Imagen 14">
            <a:extLst>
              <a:ext uri="{FF2B5EF4-FFF2-40B4-BE49-F238E27FC236}">
                <a16:creationId xmlns:a16="http://schemas.microsoft.com/office/drawing/2014/main" id="{0D4D8C85-4F17-6B4D-3EC7-D71096CC899F}"/>
              </a:ext>
            </a:extLst>
          </p:cNvPr>
          <p:cNvPicPr>
            <a:picLocks noChangeAspect="1"/>
          </p:cNvPicPr>
          <p:nvPr/>
        </p:nvPicPr>
        <p:blipFill>
          <a:blip r:embed="rId5"/>
          <a:stretch>
            <a:fillRect/>
          </a:stretch>
        </p:blipFill>
        <p:spPr>
          <a:xfrm>
            <a:off x="7910857" y="247775"/>
            <a:ext cx="2143125" cy="2143125"/>
          </a:xfrm>
          <a:prstGeom prst="rect">
            <a:avLst/>
          </a:prstGeom>
        </p:spPr>
      </p:pic>
    </p:spTree>
    <p:extLst>
      <p:ext uri="{BB962C8B-B14F-4D97-AF65-F5344CB8AC3E}">
        <p14:creationId xmlns:p14="http://schemas.microsoft.com/office/powerpoint/2010/main" val="311936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D6F4C7-3259-1E2F-C274-71DD79B86899}"/>
              </a:ext>
            </a:extLst>
          </p:cNvPr>
          <p:cNvSpPr>
            <a:spLocks noGrp="1"/>
          </p:cNvSpPr>
          <p:nvPr>
            <p:ph type="title"/>
          </p:nvPr>
        </p:nvSpPr>
        <p:spPr>
          <a:xfrm>
            <a:off x="774192" y="99949"/>
            <a:ext cx="10515600" cy="1325563"/>
          </a:xfrm>
        </p:spPr>
        <p:txBody>
          <a:bodyPr/>
          <a:lstStyle/>
          <a:p>
            <a:r>
              <a:rPr lang="es-MX" dirty="0"/>
              <a:t>Ejemplo de Codificación</a:t>
            </a:r>
          </a:p>
        </p:txBody>
      </p:sp>
      <p:sp>
        <p:nvSpPr>
          <p:cNvPr id="3" name="Marcador de contenido 2">
            <a:extLst>
              <a:ext uri="{FF2B5EF4-FFF2-40B4-BE49-F238E27FC236}">
                <a16:creationId xmlns:a16="http://schemas.microsoft.com/office/drawing/2014/main" id="{0A809AD2-9D89-2544-2420-41C1A1D43131}"/>
              </a:ext>
            </a:extLst>
          </p:cNvPr>
          <p:cNvSpPr>
            <a:spLocks noGrp="1"/>
          </p:cNvSpPr>
          <p:nvPr>
            <p:ph idx="1"/>
          </p:nvPr>
        </p:nvSpPr>
        <p:spPr>
          <a:xfrm>
            <a:off x="838200" y="1318661"/>
            <a:ext cx="10515600" cy="5228443"/>
          </a:xfrm>
        </p:spPr>
        <p:txBody>
          <a:bodyPr>
            <a:normAutofit fontScale="77500" lnSpcReduction="20000"/>
          </a:bodyPr>
          <a:lstStyle/>
          <a:p>
            <a:pPr marL="0" indent="0">
              <a:buNone/>
            </a:pPr>
            <a:r>
              <a:rPr lang="es-MX" sz="3600" b="1" dirty="0">
                <a:latin typeface="Dubai Light" panose="020B0303030403030204" pitchFamily="34" charset="-78"/>
                <a:cs typeface="Dubai Light" panose="020B0303030403030204" pitchFamily="34" charset="-78"/>
              </a:rPr>
              <a:t>Definición Régimen político </a:t>
            </a:r>
          </a:p>
          <a:p>
            <a:pPr marL="0" indent="0">
              <a:buNone/>
            </a:pPr>
            <a:r>
              <a:rPr lang="es-MX" dirty="0">
                <a:latin typeface="Dubai Light" panose="020B0303030403030204" pitchFamily="34" charset="-78"/>
                <a:cs typeface="Dubai Light" panose="020B0303030403030204" pitchFamily="34" charset="-78"/>
              </a:rPr>
              <a:t>Conjunto de normas que regula la forma en que los individuos acceden a los puestos más importantes de liderazgo en el estado y las prerrogativas y limitaciones que tienen en el proceso de formulación de políticas.</a:t>
            </a:r>
          </a:p>
          <a:p>
            <a:pPr marL="0" indent="0">
              <a:buNone/>
            </a:pPr>
            <a:endParaRPr lang="es-MX" dirty="0">
              <a:latin typeface="Dubai Light" panose="020B0303030403030204" pitchFamily="34" charset="-78"/>
              <a:cs typeface="Dubai Light" panose="020B0303030403030204" pitchFamily="34" charset="-78"/>
            </a:endParaRPr>
          </a:p>
          <a:p>
            <a:pPr marL="0" indent="0">
              <a:buNone/>
            </a:pPr>
            <a:r>
              <a:rPr lang="es-MX" sz="3400" dirty="0">
                <a:latin typeface="Dubai Light" panose="020B0303030403030204" pitchFamily="34" charset="-78"/>
                <a:cs typeface="Dubai Light" panose="020B0303030403030204" pitchFamily="34" charset="-78"/>
              </a:rPr>
              <a:t>Empieza con una definición de democracia que se sustenta con cuatro dimensiones</a:t>
            </a:r>
          </a:p>
          <a:p>
            <a:pPr marL="0" indent="0">
              <a:buNone/>
            </a:pPr>
            <a:endParaRPr lang="es-MX" dirty="0">
              <a:latin typeface="Dubai Light" panose="020B0303030403030204" pitchFamily="34" charset="-78"/>
              <a:cs typeface="Dubai Light" panose="020B0303030403030204" pitchFamily="34" charset="-78"/>
            </a:endParaRPr>
          </a:p>
          <a:p>
            <a:pPr marL="514350" indent="-514350">
              <a:buFont typeface="+mj-lt"/>
              <a:buAutoNum type="arabicParenR"/>
            </a:pPr>
            <a:r>
              <a:rPr lang="es-MX" dirty="0">
                <a:latin typeface="Dubai Light" panose="020B0303030403030204" pitchFamily="34" charset="-78"/>
                <a:cs typeface="Dubai Light" panose="020B0303030403030204" pitchFamily="34" charset="-78"/>
              </a:rPr>
              <a:t>La cabeza de gobierno y de la legislatura debe ser elegida a través de elecciones abiertas, justas y competitivas.</a:t>
            </a:r>
          </a:p>
          <a:p>
            <a:pPr marL="514350" lvl="0" indent="-514350">
              <a:buFont typeface="+mj-lt"/>
              <a:buAutoNum type="arabicParenR"/>
            </a:pPr>
            <a:r>
              <a:rPr lang="es-MX" dirty="0">
                <a:latin typeface="Dubai Light" panose="020B0303030403030204" pitchFamily="34" charset="-78"/>
                <a:cs typeface="Dubai Light" panose="020B0303030403030204" pitchFamily="34" charset="-78"/>
              </a:rPr>
              <a:t>El derecho a voto debe incluir a una gran mayoría de los adultos de la población</a:t>
            </a:r>
          </a:p>
          <a:p>
            <a:pPr marL="514350" lvl="0" indent="-514350">
              <a:buFont typeface="+mj-lt"/>
              <a:buAutoNum type="arabicParenR"/>
            </a:pPr>
            <a:r>
              <a:rPr lang="es-MX" dirty="0">
                <a:latin typeface="Dubai Light" panose="020B0303030403030204" pitchFamily="34" charset="-78"/>
                <a:cs typeface="Dubai Light" panose="020B0303030403030204" pitchFamily="34" charset="-78"/>
              </a:rPr>
              <a:t>Las democracias deben proteger los derechos políticos y civiles</a:t>
            </a:r>
          </a:p>
          <a:p>
            <a:pPr marL="514350" lvl="0" indent="-514350">
              <a:buFont typeface="+mj-lt"/>
              <a:buAutoNum type="arabicParenR"/>
            </a:pPr>
            <a:r>
              <a:rPr lang="es-MX" dirty="0">
                <a:latin typeface="Dubai Light" panose="020B0303030403030204" pitchFamily="34" charset="-78"/>
                <a:cs typeface="Dubai Light" panose="020B0303030403030204" pitchFamily="34" charset="-78"/>
              </a:rPr>
              <a:t>Las autoridades electas tienen que ejercer poder real de gobierno</a:t>
            </a:r>
          </a:p>
          <a:p>
            <a:pPr marL="0" lvl="0" indent="0">
              <a:buNone/>
            </a:pPr>
            <a:br>
              <a:rPr lang="es-MX" dirty="0">
                <a:latin typeface="Dubai Light" panose="020B0303030403030204" pitchFamily="34" charset="-78"/>
                <a:cs typeface="Dubai Light" panose="020B0303030403030204" pitchFamily="34" charset="-78"/>
              </a:rPr>
            </a:br>
            <a:r>
              <a:rPr lang="es-MX" dirty="0">
                <a:latin typeface="Dubai Light" panose="020B0303030403030204" pitchFamily="34" charset="-78"/>
                <a:cs typeface="Dubai Light" panose="020B0303030403030204" pitchFamily="34" charset="-78"/>
              </a:rPr>
              <a:t>(Fuente: </a:t>
            </a:r>
            <a:r>
              <a:rPr lang="es-MX" dirty="0" err="1">
                <a:latin typeface="Dubai Light" panose="020B0303030403030204" pitchFamily="34" charset="-78"/>
                <a:cs typeface="Dubai Light" panose="020B0303030403030204" pitchFamily="34" charset="-78"/>
              </a:rPr>
              <a:t>Mainwaring</a:t>
            </a:r>
            <a:r>
              <a:rPr lang="es-MX" dirty="0">
                <a:latin typeface="Dubai Light" panose="020B0303030403030204" pitchFamily="34" charset="-78"/>
                <a:cs typeface="Dubai Light" panose="020B0303030403030204" pitchFamily="34" charset="-78"/>
              </a:rPr>
              <a:t> &amp; Pérez-Liñán, 2013)</a:t>
            </a:r>
          </a:p>
        </p:txBody>
      </p:sp>
    </p:spTree>
    <p:extLst>
      <p:ext uri="{BB962C8B-B14F-4D97-AF65-F5344CB8AC3E}">
        <p14:creationId xmlns:p14="http://schemas.microsoft.com/office/powerpoint/2010/main" val="2222145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C1F6FD-5C50-87E2-A557-61E6BB1BCBBF}"/>
              </a:ext>
            </a:extLst>
          </p:cNvPr>
          <p:cNvSpPr>
            <a:spLocks noGrp="1"/>
          </p:cNvSpPr>
          <p:nvPr>
            <p:ph type="title"/>
          </p:nvPr>
        </p:nvSpPr>
        <p:spPr/>
        <p:txBody>
          <a:bodyPr/>
          <a:lstStyle/>
          <a:p>
            <a:r>
              <a:rPr lang="es-MX" dirty="0">
                <a:latin typeface="Aharoni" panose="02010803020104030203" pitchFamily="2" charset="-79"/>
                <a:cs typeface="Aharoni" panose="02010803020104030203" pitchFamily="2" charset="-79"/>
              </a:rPr>
              <a:t>Ejemplo de Codificación</a:t>
            </a:r>
          </a:p>
        </p:txBody>
      </p:sp>
      <p:sp>
        <p:nvSpPr>
          <p:cNvPr id="3" name="Marcador de contenido 2">
            <a:extLst>
              <a:ext uri="{FF2B5EF4-FFF2-40B4-BE49-F238E27FC236}">
                <a16:creationId xmlns:a16="http://schemas.microsoft.com/office/drawing/2014/main" id="{A2229A53-D883-CF74-3B9D-BFE5090AF772}"/>
              </a:ext>
            </a:extLst>
          </p:cNvPr>
          <p:cNvSpPr>
            <a:spLocks noGrp="1"/>
          </p:cNvSpPr>
          <p:nvPr>
            <p:ph idx="1"/>
          </p:nvPr>
        </p:nvSpPr>
        <p:spPr/>
        <p:txBody>
          <a:bodyPr>
            <a:normAutofit/>
          </a:bodyPr>
          <a:lstStyle/>
          <a:p>
            <a:pPr marL="0" indent="0">
              <a:buNone/>
            </a:pPr>
            <a:r>
              <a:rPr lang="es-MX" dirty="0">
                <a:latin typeface="Dubai Light" panose="020B0303030403030204" pitchFamily="34" charset="-78"/>
                <a:cs typeface="Dubai Light" panose="020B0303030403030204" pitchFamily="34" charset="-78"/>
              </a:rPr>
              <a:t>Clasifican los gobiernos como competitivos (democráticos o semidemocráticos) o autoritarios utilizando una regla de agregación simple.</a:t>
            </a:r>
          </a:p>
          <a:p>
            <a:pPr>
              <a:buFont typeface="Wingdings" panose="05000000000000000000" pitchFamily="2" charset="2"/>
              <a:buChar char="Ø"/>
            </a:pPr>
            <a:r>
              <a:rPr lang="es-MX" dirty="0">
                <a:latin typeface="Dubai Light" panose="020B0303030403030204" pitchFamily="34" charset="-78"/>
                <a:cs typeface="Dubai Light" panose="020B0303030403030204" pitchFamily="34" charset="-78"/>
              </a:rPr>
              <a:t>Cuando los gobiernos no cometen violaciones significativas de ninguno de los cuatro criterios, los codificamos como democráticos. </a:t>
            </a:r>
          </a:p>
          <a:p>
            <a:pPr>
              <a:buFont typeface="Wingdings" panose="05000000000000000000" pitchFamily="2" charset="2"/>
              <a:buChar char="Ø"/>
            </a:pPr>
            <a:r>
              <a:rPr lang="es-MX" dirty="0">
                <a:latin typeface="Dubai Light" panose="020B0303030403030204" pitchFamily="34" charset="-78"/>
                <a:cs typeface="Dubai Light" panose="020B0303030403030204" pitchFamily="34" charset="-78"/>
              </a:rPr>
              <a:t>Si incurren en violaciones parciales, pero no flagrantes, de cualquiera de esos principios, se tratan como semidemocráticos. </a:t>
            </a:r>
          </a:p>
          <a:p>
            <a:pPr>
              <a:buFont typeface="Wingdings" panose="05000000000000000000" pitchFamily="2" charset="2"/>
              <a:buChar char="Ø"/>
            </a:pPr>
            <a:r>
              <a:rPr lang="es-MX" dirty="0">
                <a:latin typeface="Dubai Light" panose="020B0303030403030204" pitchFamily="34" charset="-78"/>
                <a:cs typeface="Dubai Light" panose="020B0303030403030204" pitchFamily="34" charset="-78"/>
              </a:rPr>
              <a:t>Se clasifican como autoritarios si presentan una o más violaciones flagrantes de esos principios. </a:t>
            </a:r>
          </a:p>
        </p:txBody>
      </p:sp>
    </p:spTree>
    <p:extLst>
      <p:ext uri="{BB962C8B-B14F-4D97-AF65-F5344CB8AC3E}">
        <p14:creationId xmlns:p14="http://schemas.microsoft.com/office/powerpoint/2010/main" val="3332417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070E9A1C-609D-86AB-7A21-4C5CC0BDF1D8}"/>
              </a:ext>
            </a:extLst>
          </p:cNvPr>
          <p:cNvGraphicFramePr>
            <a:graphicFrameLocks noGrp="1"/>
          </p:cNvGraphicFramePr>
          <p:nvPr>
            <p:extLst>
              <p:ext uri="{D42A27DB-BD31-4B8C-83A1-F6EECF244321}">
                <p14:modId xmlns:p14="http://schemas.microsoft.com/office/powerpoint/2010/main" val="1753057239"/>
              </p:ext>
            </p:extLst>
          </p:nvPr>
        </p:nvGraphicFramePr>
        <p:xfrm>
          <a:off x="530352" y="533123"/>
          <a:ext cx="10735056" cy="5878916"/>
        </p:xfrm>
        <a:graphic>
          <a:graphicData uri="http://schemas.openxmlformats.org/drawingml/2006/table">
            <a:tbl>
              <a:tblPr firstRow="1" firstCol="1" bandRow="1"/>
              <a:tblGrid>
                <a:gridCol w="3283730">
                  <a:extLst>
                    <a:ext uri="{9D8B030D-6E8A-4147-A177-3AD203B41FA5}">
                      <a16:colId xmlns:a16="http://schemas.microsoft.com/office/drawing/2014/main" val="3121437602"/>
                    </a:ext>
                  </a:extLst>
                </a:gridCol>
                <a:gridCol w="3724472">
                  <a:extLst>
                    <a:ext uri="{9D8B030D-6E8A-4147-A177-3AD203B41FA5}">
                      <a16:colId xmlns:a16="http://schemas.microsoft.com/office/drawing/2014/main" val="445077690"/>
                    </a:ext>
                  </a:extLst>
                </a:gridCol>
                <a:gridCol w="3726854">
                  <a:extLst>
                    <a:ext uri="{9D8B030D-6E8A-4147-A177-3AD203B41FA5}">
                      <a16:colId xmlns:a16="http://schemas.microsoft.com/office/drawing/2014/main" val="1114847848"/>
                    </a:ext>
                  </a:extLst>
                </a:gridCol>
              </a:tblGrid>
              <a:tr h="229872">
                <a:tc>
                  <a:txBody>
                    <a:bodyPr/>
                    <a:lstStyle/>
                    <a:p>
                      <a:pPr algn="l" fontAlgn="b">
                        <a:lnSpc>
                          <a:spcPct val="115000"/>
                        </a:lnSpc>
                        <a:spcAft>
                          <a:spcPts val="800"/>
                        </a:spcAft>
                        <a:buNone/>
                      </a:pPr>
                      <a:r>
                        <a:rPr lang="es-MX" sz="1400" b="1"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Sin violaciones</a:t>
                      </a:r>
                      <a:endParaRPr lang="es-MX" sz="2400" b="1" i="0" u="none" strike="noStrike" dirty="0">
                        <a:effectLst/>
                        <a:latin typeface="Dubai Light" panose="020B0303030403030204" pitchFamily="34" charset="-78"/>
                        <a:cs typeface="Dubai Light" panose="020B0303030403030204" pitchFamily="34" charset="-78"/>
                      </a:endParaRPr>
                    </a:p>
                  </a:txBody>
                  <a:tcPr marL="16621" marR="16621" marT="3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lnSpc>
                          <a:spcPct val="115000"/>
                        </a:lnSpc>
                        <a:spcAft>
                          <a:spcPts val="800"/>
                        </a:spcAft>
                        <a:buNone/>
                      </a:pPr>
                      <a:r>
                        <a:rPr lang="es-MX" sz="1400" b="1"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Violaciones parciales</a:t>
                      </a:r>
                      <a:endParaRPr lang="es-MX" sz="2400" b="1" i="0" u="none" strike="noStrike" dirty="0">
                        <a:effectLst/>
                        <a:latin typeface="Dubai Light" panose="020B0303030403030204" pitchFamily="34" charset="-78"/>
                        <a:cs typeface="Dubai Light" panose="020B0303030403030204" pitchFamily="34" charset="-78"/>
                      </a:endParaRPr>
                    </a:p>
                  </a:txBody>
                  <a:tcPr marL="16621" marR="16621" marT="3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lnSpc>
                          <a:spcPct val="115000"/>
                        </a:lnSpc>
                        <a:spcAft>
                          <a:spcPts val="800"/>
                        </a:spcAft>
                        <a:buNone/>
                      </a:pPr>
                      <a:r>
                        <a:rPr lang="es-MX" sz="1400" b="1"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Violaciones Mayores</a:t>
                      </a:r>
                      <a:endParaRPr lang="es-MX" sz="2400" b="1" i="0" u="none" strike="noStrike" dirty="0">
                        <a:effectLst/>
                        <a:latin typeface="Dubai Light" panose="020B0303030403030204" pitchFamily="34" charset="-78"/>
                        <a:cs typeface="Dubai Light" panose="020B0303030403030204" pitchFamily="34" charset="-78"/>
                      </a:endParaRPr>
                    </a:p>
                  </a:txBody>
                  <a:tcPr marL="16621" marR="16621" marT="3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2247111244"/>
                  </a:ext>
                </a:extLst>
              </a:tr>
              <a:tr h="268636">
                <a:tc gridSpan="3">
                  <a:txBody>
                    <a:bodyPr/>
                    <a:lstStyle/>
                    <a:p>
                      <a:pPr algn="l" fontAlgn="b">
                        <a:lnSpc>
                          <a:spcPct val="115000"/>
                        </a:lnSpc>
                        <a:spcAft>
                          <a:spcPts val="800"/>
                        </a:spcAft>
                        <a:buNone/>
                      </a:pPr>
                      <a:r>
                        <a:rPr lang="es-MX" sz="1400" b="1" i="1"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Elecciones para la legislatura y el ejecutivo</a:t>
                      </a:r>
                      <a:endParaRPr lang="es-MX" sz="2400" b="1" i="1" u="none" strike="noStrike" dirty="0">
                        <a:effectLst/>
                        <a:latin typeface="Dubai Light" panose="020B0303030403030204" pitchFamily="34" charset="-78"/>
                        <a:cs typeface="Dubai Light" panose="020B0303030403030204" pitchFamily="34" charset="-78"/>
                      </a:endParaRPr>
                    </a:p>
                  </a:txBody>
                  <a:tcPr marL="34192" marR="34192" marT="17096" marB="1709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2816145273"/>
                  </a:ext>
                </a:extLst>
              </a:tr>
              <a:tr h="2813845">
                <a:tc>
                  <a:txBody>
                    <a:bodyPr/>
                    <a:lstStyle/>
                    <a:p>
                      <a:pPr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La cabeza del gobierno y de la legislatura son elegidos en elecciones libres y justas.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a) Hay denuncias sistemáticas de elecciones amañadas y/o acoso a la oposición, pero sigue habiendo incertidumbre sobre los resultados electorales.</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b) Los militares vetan a algunos candidatos presidenciales «inaceptables» pero importantes;</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el fraude afecta, pero no distorsiona por completo los resultados electorales; o las elecciones se celebran bajo unas reglas del juego sustancialmente desiguales.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a)El jefe del gobierno o del poder legislativo no es elegido.</a:t>
                      </a:r>
                    </a:p>
                    <a:p>
                      <a:pPr marL="0" indent="0"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b)El gobierno utiliza sus recursos (clientelismo, represión o una combinación de ambos) para garantizar la victoria electoral. Existe certeza sobre el resultado de las elecciones presidenciales.</a:t>
                      </a:r>
                    </a:p>
                    <a:p>
                      <a:pPr marL="0" indent="0"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 c)Mediante el fraude, la manipulación o la represión directa, el gobierno hace imposible que una amplia gama de partidos compita (o, si lo hacen, que asuman el cargo).</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7439807"/>
                  </a:ext>
                </a:extLst>
              </a:tr>
              <a:tr h="127079">
                <a:tc gridSpan="3">
                  <a:txBody>
                    <a:bodyPr/>
                    <a:lstStyle/>
                    <a:p>
                      <a:pPr algn="just" fontAlgn="t">
                        <a:lnSpc>
                          <a:spcPct val="115000"/>
                        </a:lnSpc>
                        <a:spcAft>
                          <a:spcPts val="800"/>
                        </a:spcAft>
                        <a:buNone/>
                      </a:pPr>
                      <a:r>
                        <a:rPr lang="es-MX" sz="1600" b="1" i="1"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Sufragio</a:t>
                      </a:r>
                      <a:endParaRPr lang="es-MX" sz="2800" b="1" i="1" u="none" strike="noStrike" dirty="0">
                        <a:effectLst/>
                        <a:latin typeface="Dubai Light" panose="020B0303030403030204" pitchFamily="34" charset="-78"/>
                        <a:cs typeface="Dubai Light" panose="020B0303030403030204" pitchFamily="34" charset="-78"/>
                      </a:endParaRPr>
                    </a:p>
                  </a:txBody>
                  <a:tcPr marL="34192" marR="34192" marT="17096" marB="1709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583088159"/>
                  </a:ext>
                </a:extLst>
              </a:tr>
              <a:tr h="2251955">
                <a:tc>
                  <a:txBody>
                    <a:bodyPr/>
                    <a:lstStyle/>
                    <a:p>
                      <a:pPr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El derecho al voto es amplio en comparación con otros países del mismo período histórico, y las categorías sociales privadas de derechos (por ejemplo, los niños) no se consideran grupos políticamente excluidos con preferencias electorales distintivas.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La privación del derecho al voto de algunos grupos sociales se produce de formas que no suelen alterar los resultados electorales.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fontAlgn="b">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Una gran parte de la población adulta se ve privada de sus derechos por motivos étnicos, de clase, de género o educativos, de tal manera que:</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a) es probable que impida resultados electorales muy diferentes (o al menos eso es lo que se cree generalmente);</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b) resulta inusualmente excluyente para ese periodo histórico; o</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c) desencadena protestas sociales masivas.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0492807"/>
                  </a:ext>
                </a:extLst>
              </a:tr>
            </a:tbl>
          </a:graphicData>
        </a:graphic>
      </p:graphicFrame>
      <p:sp>
        <p:nvSpPr>
          <p:cNvPr id="6" name="CuadroTexto 5">
            <a:extLst>
              <a:ext uri="{FF2B5EF4-FFF2-40B4-BE49-F238E27FC236}">
                <a16:creationId xmlns:a16="http://schemas.microsoft.com/office/drawing/2014/main" id="{2AD79EA3-A8DF-718C-9E84-A58A84A070BB}"/>
              </a:ext>
            </a:extLst>
          </p:cNvPr>
          <p:cNvSpPr txBox="1"/>
          <p:nvPr/>
        </p:nvSpPr>
        <p:spPr>
          <a:xfrm>
            <a:off x="394932" y="6412039"/>
            <a:ext cx="6097604" cy="369332"/>
          </a:xfrm>
          <a:prstGeom prst="rect">
            <a:avLst/>
          </a:prstGeom>
          <a:noFill/>
        </p:spPr>
        <p:txBody>
          <a:bodyPr wrap="square">
            <a:spAutoFit/>
          </a:bodyPr>
          <a:lstStyle/>
          <a:p>
            <a:r>
              <a:rPr lang="es-MX" dirty="0">
                <a:latin typeface="Dubai Light" panose="020B0303030403030204" pitchFamily="34" charset="-78"/>
                <a:cs typeface="Dubai Light" panose="020B0303030403030204" pitchFamily="34" charset="-78"/>
              </a:rPr>
              <a:t>(Fuente: </a:t>
            </a:r>
            <a:r>
              <a:rPr lang="es-MX" dirty="0" err="1">
                <a:latin typeface="Dubai Light" panose="020B0303030403030204" pitchFamily="34" charset="-78"/>
                <a:cs typeface="Dubai Light" panose="020B0303030403030204" pitchFamily="34" charset="-78"/>
              </a:rPr>
              <a:t>Mainwairing</a:t>
            </a:r>
            <a:r>
              <a:rPr lang="es-MX" dirty="0">
                <a:latin typeface="Dubai Light" panose="020B0303030403030204" pitchFamily="34" charset="-78"/>
                <a:cs typeface="Dubai Light" panose="020B0303030403030204" pitchFamily="34" charset="-78"/>
              </a:rPr>
              <a:t>, Brinks &amp; Pérez </a:t>
            </a:r>
            <a:r>
              <a:rPr lang="es-MX" dirty="0" err="1">
                <a:latin typeface="Dubai Light" panose="020B0303030403030204" pitchFamily="34" charset="-78"/>
                <a:cs typeface="Dubai Light" panose="020B0303030403030204" pitchFamily="34" charset="-78"/>
              </a:rPr>
              <a:t>Ligñán</a:t>
            </a:r>
            <a:r>
              <a:rPr lang="es-MX" dirty="0">
                <a:latin typeface="Dubai Light" panose="020B0303030403030204" pitchFamily="34" charset="-78"/>
                <a:cs typeface="Dubai Light" panose="020B0303030403030204" pitchFamily="34" charset="-78"/>
              </a:rPr>
              <a:t>, 2001,2007)</a:t>
            </a:r>
          </a:p>
        </p:txBody>
      </p:sp>
      <p:sp>
        <p:nvSpPr>
          <p:cNvPr id="7" name="CuadroTexto 6">
            <a:extLst>
              <a:ext uri="{FF2B5EF4-FFF2-40B4-BE49-F238E27FC236}">
                <a16:creationId xmlns:a16="http://schemas.microsoft.com/office/drawing/2014/main" id="{2AC053C1-43B3-3978-97CD-83D9744F03C1}"/>
              </a:ext>
            </a:extLst>
          </p:cNvPr>
          <p:cNvSpPr txBox="1"/>
          <p:nvPr/>
        </p:nvSpPr>
        <p:spPr>
          <a:xfrm>
            <a:off x="530352" y="83682"/>
            <a:ext cx="5209032" cy="365760"/>
          </a:xfrm>
          <a:prstGeom prst="rect">
            <a:avLst/>
          </a:prstGeom>
          <a:noFill/>
        </p:spPr>
        <p:txBody>
          <a:bodyPr wrap="square" rtlCol="0">
            <a:spAutoFit/>
          </a:bodyPr>
          <a:lstStyle/>
          <a:p>
            <a:r>
              <a:rPr lang="es-MX" b="1" dirty="0">
                <a:latin typeface="Aharoni" panose="02010803020104030203" pitchFamily="2" charset="-79"/>
                <a:cs typeface="Aharoni" panose="02010803020104030203" pitchFamily="2" charset="-79"/>
              </a:rPr>
              <a:t>Codificación de variables</a:t>
            </a:r>
          </a:p>
        </p:txBody>
      </p:sp>
    </p:spTree>
    <p:extLst>
      <p:ext uri="{BB962C8B-B14F-4D97-AF65-F5344CB8AC3E}">
        <p14:creationId xmlns:p14="http://schemas.microsoft.com/office/powerpoint/2010/main" val="3989196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329A8CE-454E-BE8E-5B34-CF6B950D61B1}"/>
              </a:ext>
            </a:extLst>
          </p:cNvPr>
          <p:cNvGraphicFramePr>
            <a:graphicFrameLocks noGrp="1"/>
          </p:cNvGraphicFramePr>
          <p:nvPr>
            <p:extLst>
              <p:ext uri="{D42A27DB-BD31-4B8C-83A1-F6EECF244321}">
                <p14:modId xmlns:p14="http://schemas.microsoft.com/office/powerpoint/2010/main" val="2596744929"/>
              </p:ext>
            </p:extLst>
          </p:nvPr>
        </p:nvGraphicFramePr>
        <p:xfrm>
          <a:off x="462815" y="444966"/>
          <a:ext cx="11196547" cy="6093663"/>
        </p:xfrm>
        <a:graphic>
          <a:graphicData uri="http://schemas.openxmlformats.org/drawingml/2006/table">
            <a:tbl>
              <a:tblPr firstRow="1" firstCol="1" bandRow="1"/>
              <a:tblGrid>
                <a:gridCol w="3424895">
                  <a:extLst>
                    <a:ext uri="{9D8B030D-6E8A-4147-A177-3AD203B41FA5}">
                      <a16:colId xmlns:a16="http://schemas.microsoft.com/office/drawing/2014/main" val="391197273"/>
                    </a:ext>
                  </a:extLst>
                </a:gridCol>
                <a:gridCol w="3884584">
                  <a:extLst>
                    <a:ext uri="{9D8B030D-6E8A-4147-A177-3AD203B41FA5}">
                      <a16:colId xmlns:a16="http://schemas.microsoft.com/office/drawing/2014/main" val="3735706533"/>
                    </a:ext>
                  </a:extLst>
                </a:gridCol>
                <a:gridCol w="3887068">
                  <a:extLst>
                    <a:ext uri="{9D8B030D-6E8A-4147-A177-3AD203B41FA5}">
                      <a16:colId xmlns:a16="http://schemas.microsoft.com/office/drawing/2014/main" val="3423000304"/>
                    </a:ext>
                  </a:extLst>
                </a:gridCol>
              </a:tblGrid>
              <a:tr h="200348">
                <a:tc>
                  <a:txBody>
                    <a:bodyPr/>
                    <a:lstStyle/>
                    <a:p>
                      <a:pPr algn="just" fontAlgn="b">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Sin violaciones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just" fontAlgn="b">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Violaciones parciales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just" fontAlgn="b">
                        <a:lnSpc>
                          <a:spcPct val="115000"/>
                        </a:lnSpc>
                        <a:spcAft>
                          <a:spcPts val="800"/>
                        </a:spcAft>
                        <a:buNone/>
                      </a:pPr>
                      <a:r>
                        <a:rPr lang="es-MX" sz="1400" b="0" i="0" u="none" strike="noStrike">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Violaciones Mayores</a:t>
                      </a:r>
                      <a:endParaRPr lang="es-MX" sz="2400" b="0" i="0" u="none" strike="noStrike">
                        <a:effectLst/>
                        <a:latin typeface="Dubai Light" panose="020B0303030403030204" pitchFamily="34" charset="-78"/>
                        <a:cs typeface="Dubai Light" panose="020B0303030403030204" pitchFamily="34" charset="-78"/>
                      </a:endParaRPr>
                    </a:p>
                  </a:txBody>
                  <a:tcPr marL="16621" marR="16621" marT="3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951571734"/>
                  </a:ext>
                </a:extLst>
              </a:tr>
              <a:tr h="227849">
                <a:tc gridSpan="3">
                  <a:txBody>
                    <a:bodyPr/>
                    <a:lstStyle/>
                    <a:p>
                      <a:pPr algn="just" fontAlgn="b">
                        <a:lnSpc>
                          <a:spcPct val="115000"/>
                        </a:lnSpc>
                        <a:spcAft>
                          <a:spcPts val="800"/>
                        </a:spcAft>
                        <a:buNone/>
                      </a:pPr>
                      <a:r>
                        <a:rPr lang="es-MX" sz="1400" b="1" i="1"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Libertades civiles</a:t>
                      </a:r>
                      <a:endParaRPr lang="es-MX" sz="2400" b="1" i="1" u="none" strike="noStrike" dirty="0">
                        <a:effectLst/>
                        <a:latin typeface="Dubai Light" panose="020B0303030403030204" pitchFamily="34" charset="-78"/>
                        <a:cs typeface="Dubai Light" panose="020B0303030403030204" pitchFamily="34" charset="-78"/>
                      </a:endParaRPr>
                    </a:p>
                  </a:txBody>
                  <a:tcPr marL="34192" marR="34192" marT="17096" marB="1709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448172960"/>
                  </a:ext>
                </a:extLst>
              </a:tr>
              <a:tr h="2867066">
                <a:tc>
                  <a:txBody>
                    <a:bodyPr/>
                    <a:lstStyle/>
                    <a:p>
                      <a:pPr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Las violaciones de los derechos humanos son poco frecuentes, los partidos políticos pueden organizarse libremente y el gobierno respeta las garantías constitucionales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a) Las violaciones de los derechos humanos no son generalizadas, pero siguen afectando a la capacidad de la oposición para organizarse en algunas zonas geográficas o en algunos sectores sociales.</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b) Existe una censura intermitente de los medios de comunicación o la prohibición regular de un partido o candidato importante.</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c) El gobierno reorganiza o desmantela recurrentemente los tribunales y otras instituciones de rendición de cuentas con</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el fin de impedir el control de su poder, pero estas instituciones siguen teniendo cierta capacidad para restringir al gobierno.</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a) Se producen violaciones graves de los derechos humanos o censura</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contra los medios de comunicación de la oposición de forma sistemática.</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b) Los partidos políticos no son libres de organizarse (es decir, la mayoría de los principales partidos están prohibidos, solo</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se permite la existencia de un único partido o unos pocos partidos están estrictamente controlados por el gobierno).</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c) El sistema legal es sistemáticamente parcial contra la oposición. Los opositores se enfrentan regularmente a acusaciones penales.</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818209"/>
                  </a:ext>
                </a:extLst>
              </a:tr>
              <a:tr h="227849">
                <a:tc gridSpan="3">
                  <a:txBody>
                    <a:bodyPr/>
                    <a:lstStyle/>
                    <a:p>
                      <a:pPr algn="just" fontAlgn="b">
                        <a:lnSpc>
                          <a:spcPct val="115000"/>
                        </a:lnSpc>
                        <a:spcAft>
                          <a:spcPts val="800"/>
                        </a:spcAft>
                        <a:buNone/>
                      </a:pPr>
                      <a:r>
                        <a:rPr lang="es-MX" sz="1400" b="1" i="1"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Control Civil</a:t>
                      </a:r>
                      <a:endParaRPr lang="es-MX" sz="2400" b="1" i="1" u="none" strike="noStrike" dirty="0">
                        <a:effectLst/>
                        <a:latin typeface="Dubai Light" panose="020B0303030403030204" pitchFamily="34" charset="-78"/>
                        <a:cs typeface="Dubai Light" panose="020B0303030403030204" pitchFamily="34" charset="-78"/>
                      </a:endParaRPr>
                    </a:p>
                  </a:txBody>
                  <a:tcPr marL="34192" marR="34192" marT="17096" marB="1709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20296882"/>
                  </a:ext>
                </a:extLst>
              </a:tr>
              <a:tr h="2168317">
                <a:tc>
                  <a:txBody>
                    <a:bodyPr/>
                    <a:lstStyle/>
                    <a:p>
                      <a:pPr algn="just" fontAlgn="t">
                        <a:lnSpc>
                          <a:spcPct val="115000"/>
                        </a:lnSpc>
                        <a:spcAft>
                          <a:spcPts val="800"/>
                        </a:spcAft>
                        <a:buNone/>
                      </a:pP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Los líderes militares y el ejército como</a:t>
                      </a:r>
                      <a:b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br>
                      <a:r>
                        <a:rPr lang="es-MX" sz="1400" b="0" i="0" u="none" strike="noStrike" dirty="0">
                          <a:solidFill>
                            <a:srgbClr val="000000"/>
                          </a:solidFill>
                          <a:effectLst/>
                          <a:latin typeface="Dubai Light" panose="020B0303030403030204" pitchFamily="34" charset="-78"/>
                          <a:ea typeface="Times New Roman" panose="02020603050405020304" pitchFamily="18" charset="0"/>
                          <a:cs typeface="Dubai Light" panose="020B0303030403030204" pitchFamily="34" charset="-78"/>
                        </a:rPr>
                        <a:t>institución tienen una influencia insignificante o menor en las políticas que no sean militares, y sus preferencias no afectan sustancialmente las posibilidades de los candidatos presidenciales. Las potencias extranjeras no controlan el territorio nacional.</a:t>
                      </a:r>
                      <a:endParaRPr lang="es-MX" sz="2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indent="-228600" algn="just" fontAlgn="t">
                        <a:lnSpc>
                          <a:spcPct val="115000"/>
                        </a:lnSpc>
                        <a:spcAft>
                          <a:spcPts val="800"/>
                        </a:spcAft>
                        <a:buAutoNum type="alphaLcParenR"/>
                      </a:pPr>
                      <a:r>
                        <a:rPr lang="es-ES" sz="1400" b="0" i="0" u="none" strike="noStrike" kern="1200" dirty="0">
                          <a:solidFill>
                            <a:srgbClr val="000000"/>
                          </a:solidFill>
                          <a:effectLst/>
                          <a:latin typeface="Dubai Light" panose="020B0303030403030204" pitchFamily="34" charset="-78"/>
                          <a:cs typeface="Dubai Light" panose="020B0303030403030204" pitchFamily="34" charset="-78"/>
                        </a:rPr>
                        <a:t>Los líderes militares o las fuerzas armadas como institución pueden vetar políticas importantes en algunas áreas no relacionadas con las fuerzas armadas.</a:t>
                      </a:r>
                    </a:p>
                    <a:p>
                      <a:pPr marL="228600" indent="-228600" algn="just" fontAlgn="t">
                        <a:lnSpc>
                          <a:spcPct val="115000"/>
                        </a:lnSpc>
                        <a:spcAft>
                          <a:spcPts val="800"/>
                        </a:spcAft>
                        <a:buAutoNum type="alphaLcParenR"/>
                      </a:pPr>
                      <a:r>
                        <a:rPr lang="es-ES" sz="1400" b="0" i="0" u="none" strike="noStrike" kern="1200" dirty="0">
                          <a:solidFill>
                            <a:srgbClr val="000000"/>
                          </a:solidFill>
                          <a:effectLst/>
                          <a:latin typeface="Dubai Light" panose="020B0303030403030204" pitchFamily="34" charset="-78"/>
                          <a:cs typeface="Dubai Light" panose="020B0303030403030204" pitchFamily="34" charset="-78"/>
                        </a:rPr>
                        <a:t>Los países extranjeros ejercen un poder de veto explícito sobre algunas decisiones de los funcionarios electos.</a:t>
                      </a:r>
                      <a:endParaRPr lang="en-US" sz="1400" b="0" i="0" u="none" strike="noStrike" kern="1200" dirty="0">
                        <a:solidFill>
                          <a:srgbClr val="000000"/>
                        </a:solidFill>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indent="-228600" algn="just" fontAlgn="t">
                        <a:lnSpc>
                          <a:spcPct val="115000"/>
                        </a:lnSpc>
                        <a:spcAft>
                          <a:spcPts val="800"/>
                        </a:spcAft>
                        <a:buAutoNum type="alphaLcParenR"/>
                      </a:pPr>
                      <a:r>
                        <a:rPr lang="es-ES" sz="1400" b="0" i="0" u="none" strike="noStrike" dirty="0">
                          <a:effectLst/>
                          <a:latin typeface="Dubai Light" panose="020B0303030403030204" pitchFamily="34" charset="-78"/>
                          <a:cs typeface="Dubai Light" panose="020B0303030403030204" pitchFamily="34" charset="-78"/>
                        </a:rPr>
                        <a:t>Los líderes militares o el ejército como institución dominan abiertamente áreas políticas importantes que no están estrictamente relacionadas con las fuerzas armadas.</a:t>
                      </a:r>
                    </a:p>
                    <a:p>
                      <a:pPr marL="0" indent="0" algn="just" fontAlgn="t">
                        <a:lnSpc>
                          <a:spcPct val="115000"/>
                        </a:lnSpc>
                        <a:spcAft>
                          <a:spcPts val="800"/>
                        </a:spcAft>
                        <a:buNone/>
                      </a:pPr>
                      <a:r>
                        <a:rPr lang="es-ES" sz="1400" b="0" i="0" u="none" strike="noStrike" dirty="0">
                          <a:effectLst/>
                          <a:latin typeface="Dubai Light" panose="020B0303030403030204" pitchFamily="34" charset="-78"/>
                          <a:cs typeface="Dubai Light" panose="020B0303030403030204" pitchFamily="34" charset="-78"/>
                        </a:rPr>
                        <a:t>b) El jefe de gobierno electo es un títere, de modo que el proceso electoral no determina realmente quién gobierna.</a:t>
                      </a:r>
                    </a:p>
                    <a:p>
                      <a:pPr marL="0" indent="0" algn="just" fontAlgn="t">
                        <a:lnSpc>
                          <a:spcPct val="115000"/>
                        </a:lnSpc>
                        <a:spcAft>
                          <a:spcPts val="800"/>
                        </a:spcAft>
                        <a:buNone/>
                      </a:pPr>
                      <a:r>
                        <a:rPr lang="es-ES" sz="1400" b="0" i="0" u="none" strike="noStrike" dirty="0">
                          <a:effectLst/>
                          <a:latin typeface="Dubai Light" panose="020B0303030403030204" pitchFamily="34" charset="-78"/>
                          <a:cs typeface="Dubai Light" panose="020B0303030403030204" pitchFamily="34" charset="-78"/>
                        </a:rPr>
                        <a:t>c) El país está gobernado por un gobierno extranjero.</a:t>
                      </a:r>
                      <a:endParaRPr lang="en-US" sz="1400" b="0" i="0" u="none" strike="noStrike" dirty="0">
                        <a:effectLst/>
                        <a:latin typeface="Dubai Light" panose="020B0303030403030204" pitchFamily="34" charset="-78"/>
                        <a:cs typeface="Dubai Light" panose="020B0303030403030204" pitchFamily="34" charset="-78"/>
                      </a:endParaRPr>
                    </a:p>
                  </a:txBody>
                  <a:tcPr marL="16621" marR="16621" marT="35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206079"/>
                  </a:ext>
                </a:extLst>
              </a:tr>
            </a:tbl>
          </a:graphicData>
        </a:graphic>
      </p:graphicFrame>
      <p:sp>
        <p:nvSpPr>
          <p:cNvPr id="6" name="CuadroTexto 5">
            <a:extLst>
              <a:ext uri="{FF2B5EF4-FFF2-40B4-BE49-F238E27FC236}">
                <a16:creationId xmlns:a16="http://schemas.microsoft.com/office/drawing/2014/main" id="{B52347B5-901B-FE85-6D5D-9722697C88B7}"/>
              </a:ext>
            </a:extLst>
          </p:cNvPr>
          <p:cNvSpPr txBox="1"/>
          <p:nvPr/>
        </p:nvSpPr>
        <p:spPr>
          <a:xfrm>
            <a:off x="532638" y="6488668"/>
            <a:ext cx="6094476" cy="369332"/>
          </a:xfrm>
          <a:prstGeom prst="rect">
            <a:avLst/>
          </a:prstGeom>
          <a:noFill/>
        </p:spPr>
        <p:txBody>
          <a:bodyPr wrap="square">
            <a:spAutoFit/>
          </a:bodyPr>
          <a:lstStyle/>
          <a:p>
            <a:r>
              <a:rPr lang="es-MX" dirty="0">
                <a:latin typeface="Dubai Light" panose="020B0303030403030204" pitchFamily="34" charset="-78"/>
                <a:cs typeface="Dubai Light" panose="020B0303030403030204" pitchFamily="34" charset="-78"/>
              </a:rPr>
              <a:t>(Fuente: </a:t>
            </a:r>
            <a:r>
              <a:rPr lang="es-MX" dirty="0" err="1">
                <a:latin typeface="Dubai Light" panose="020B0303030403030204" pitchFamily="34" charset="-78"/>
                <a:cs typeface="Dubai Light" panose="020B0303030403030204" pitchFamily="34" charset="-78"/>
              </a:rPr>
              <a:t>Mainwairing</a:t>
            </a:r>
            <a:r>
              <a:rPr lang="es-MX" dirty="0">
                <a:latin typeface="Dubai Light" panose="020B0303030403030204" pitchFamily="34" charset="-78"/>
                <a:cs typeface="Dubai Light" panose="020B0303030403030204" pitchFamily="34" charset="-78"/>
              </a:rPr>
              <a:t>, Brinks &amp; Pérez </a:t>
            </a:r>
            <a:r>
              <a:rPr lang="es-MX" dirty="0" err="1">
                <a:latin typeface="Dubai Light" panose="020B0303030403030204" pitchFamily="34" charset="-78"/>
                <a:cs typeface="Dubai Light" panose="020B0303030403030204" pitchFamily="34" charset="-78"/>
              </a:rPr>
              <a:t>Ligñán</a:t>
            </a:r>
            <a:r>
              <a:rPr lang="es-MX" dirty="0">
                <a:latin typeface="Dubai Light" panose="020B0303030403030204" pitchFamily="34" charset="-78"/>
                <a:cs typeface="Dubai Light" panose="020B0303030403030204" pitchFamily="34" charset="-78"/>
              </a:rPr>
              <a:t>, 2001,2007)</a:t>
            </a:r>
          </a:p>
        </p:txBody>
      </p:sp>
      <p:sp>
        <p:nvSpPr>
          <p:cNvPr id="8" name="CuadroTexto 7">
            <a:extLst>
              <a:ext uri="{FF2B5EF4-FFF2-40B4-BE49-F238E27FC236}">
                <a16:creationId xmlns:a16="http://schemas.microsoft.com/office/drawing/2014/main" id="{C18857A7-6F94-9543-EACE-C6082FF27419}"/>
              </a:ext>
            </a:extLst>
          </p:cNvPr>
          <p:cNvSpPr txBox="1"/>
          <p:nvPr/>
        </p:nvSpPr>
        <p:spPr>
          <a:xfrm>
            <a:off x="462814" y="75634"/>
            <a:ext cx="6094476" cy="369332"/>
          </a:xfrm>
          <a:prstGeom prst="rect">
            <a:avLst/>
          </a:prstGeom>
          <a:noFill/>
        </p:spPr>
        <p:txBody>
          <a:bodyPr wrap="square">
            <a:spAutoFit/>
          </a:bodyPr>
          <a:lstStyle/>
          <a:p>
            <a:r>
              <a:rPr lang="es-MX" b="1" dirty="0">
                <a:latin typeface="Aharoni" panose="02010803020104030203" pitchFamily="2" charset="-79"/>
                <a:cs typeface="Aharoni" panose="02010803020104030203" pitchFamily="2" charset="-79"/>
              </a:rPr>
              <a:t>Codificación de variables</a:t>
            </a:r>
          </a:p>
        </p:txBody>
      </p:sp>
    </p:spTree>
    <p:extLst>
      <p:ext uri="{BB962C8B-B14F-4D97-AF65-F5344CB8AC3E}">
        <p14:creationId xmlns:p14="http://schemas.microsoft.com/office/powerpoint/2010/main" val="1948629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1325214-AB3A-B790-FABF-8D9AA6B725BC}"/>
              </a:ext>
            </a:extLst>
          </p:cNvPr>
          <p:cNvPicPr>
            <a:picLocks noChangeAspect="1"/>
          </p:cNvPicPr>
          <p:nvPr/>
        </p:nvPicPr>
        <p:blipFill>
          <a:blip r:embed="rId2"/>
          <a:stretch>
            <a:fillRect/>
          </a:stretch>
        </p:blipFill>
        <p:spPr>
          <a:xfrm>
            <a:off x="3175645" y="469730"/>
            <a:ext cx="8346166" cy="5571067"/>
          </a:xfrm>
          <a:prstGeom prst="rect">
            <a:avLst/>
          </a:prstGeom>
        </p:spPr>
      </p:pic>
      <p:sp>
        <p:nvSpPr>
          <p:cNvPr id="5" name="CuadroTexto 4">
            <a:extLst>
              <a:ext uri="{FF2B5EF4-FFF2-40B4-BE49-F238E27FC236}">
                <a16:creationId xmlns:a16="http://schemas.microsoft.com/office/drawing/2014/main" id="{214CBC49-FBE6-D30A-9C37-35E125AB55AA}"/>
              </a:ext>
            </a:extLst>
          </p:cNvPr>
          <p:cNvSpPr txBox="1"/>
          <p:nvPr/>
        </p:nvSpPr>
        <p:spPr>
          <a:xfrm>
            <a:off x="640080" y="950976"/>
            <a:ext cx="1938528" cy="830997"/>
          </a:xfrm>
          <a:prstGeom prst="rect">
            <a:avLst/>
          </a:prstGeom>
          <a:noFill/>
        </p:spPr>
        <p:txBody>
          <a:bodyPr wrap="square" rtlCol="0">
            <a:spAutoFit/>
          </a:bodyPr>
          <a:lstStyle/>
          <a:p>
            <a:r>
              <a:rPr lang="es-MX" sz="2400" b="1" dirty="0">
                <a:latin typeface="Dubai Light" panose="020B0303030403030204" pitchFamily="34" charset="-78"/>
                <a:cs typeface="Dubai Light" panose="020B0303030403030204" pitchFamily="34" charset="-78"/>
              </a:rPr>
              <a:t>Resultado de la Codificación</a:t>
            </a:r>
          </a:p>
        </p:txBody>
      </p:sp>
      <p:cxnSp>
        <p:nvCxnSpPr>
          <p:cNvPr id="7" name="Conector recto de flecha 6">
            <a:extLst>
              <a:ext uri="{FF2B5EF4-FFF2-40B4-BE49-F238E27FC236}">
                <a16:creationId xmlns:a16="http://schemas.microsoft.com/office/drawing/2014/main" id="{870156F0-032A-0E1C-F79B-5BE33CEA130C}"/>
              </a:ext>
            </a:extLst>
          </p:cNvPr>
          <p:cNvCxnSpPr/>
          <p:nvPr/>
        </p:nvCxnSpPr>
        <p:spPr>
          <a:xfrm>
            <a:off x="2743200" y="1289304"/>
            <a:ext cx="4324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uadroTexto 8">
            <a:extLst>
              <a:ext uri="{FF2B5EF4-FFF2-40B4-BE49-F238E27FC236}">
                <a16:creationId xmlns:a16="http://schemas.microsoft.com/office/drawing/2014/main" id="{F8A78427-EEEC-EB8B-F5CD-5A13B4C31AE2}"/>
              </a:ext>
            </a:extLst>
          </p:cNvPr>
          <p:cNvSpPr txBox="1"/>
          <p:nvPr/>
        </p:nvSpPr>
        <p:spPr>
          <a:xfrm>
            <a:off x="3526498" y="6033508"/>
            <a:ext cx="6094476" cy="369332"/>
          </a:xfrm>
          <a:prstGeom prst="rect">
            <a:avLst/>
          </a:prstGeom>
          <a:noFill/>
        </p:spPr>
        <p:txBody>
          <a:bodyPr wrap="square">
            <a:spAutoFit/>
          </a:bodyPr>
          <a:lstStyle/>
          <a:p>
            <a:pPr marL="0" indent="0">
              <a:buNone/>
            </a:pPr>
            <a:r>
              <a:rPr lang="es-MX" dirty="0">
                <a:latin typeface="Dubai Light" panose="020B0303030403030204" pitchFamily="34" charset="-78"/>
                <a:cs typeface="Dubai Light" panose="020B0303030403030204" pitchFamily="34" charset="-78"/>
              </a:rPr>
              <a:t>(Fuente: </a:t>
            </a:r>
            <a:r>
              <a:rPr lang="es-MX" dirty="0" err="1">
                <a:latin typeface="Dubai Light" panose="020B0303030403030204" pitchFamily="34" charset="-78"/>
                <a:cs typeface="Dubai Light" panose="020B0303030403030204" pitchFamily="34" charset="-78"/>
              </a:rPr>
              <a:t>Mainwaring</a:t>
            </a:r>
            <a:r>
              <a:rPr lang="es-MX" dirty="0">
                <a:latin typeface="Dubai Light" panose="020B0303030403030204" pitchFamily="34" charset="-78"/>
                <a:cs typeface="Dubai Light" panose="020B0303030403030204" pitchFamily="34" charset="-78"/>
              </a:rPr>
              <a:t> &amp; Pérez-Liñán, 2013)</a:t>
            </a:r>
          </a:p>
        </p:txBody>
      </p:sp>
    </p:spTree>
    <p:extLst>
      <p:ext uri="{BB962C8B-B14F-4D97-AF65-F5344CB8AC3E}">
        <p14:creationId xmlns:p14="http://schemas.microsoft.com/office/powerpoint/2010/main" val="3941504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ABD5E7A-3CAB-9916-4B15-7C7EC766C725}"/>
              </a:ext>
            </a:extLst>
          </p:cNvPr>
          <p:cNvGraphicFramePr>
            <a:graphicFrameLocks noGrp="1"/>
          </p:cNvGraphicFramePr>
          <p:nvPr>
            <p:extLst>
              <p:ext uri="{D42A27DB-BD31-4B8C-83A1-F6EECF244321}">
                <p14:modId xmlns:p14="http://schemas.microsoft.com/office/powerpoint/2010/main" val="1186347601"/>
              </p:ext>
            </p:extLst>
          </p:nvPr>
        </p:nvGraphicFramePr>
        <p:xfrm>
          <a:off x="783771" y="721251"/>
          <a:ext cx="10549569" cy="5853429"/>
        </p:xfrm>
        <a:graphic>
          <a:graphicData uri="http://schemas.openxmlformats.org/drawingml/2006/table">
            <a:tbl>
              <a:tblPr firstRow="1" firstCol="1" bandRow="1">
                <a:tableStyleId>{616DA210-FB5B-4158-B5E0-FEB733F419BA}</a:tableStyleId>
              </a:tblPr>
              <a:tblGrid>
                <a:gridCol w="2280111">
                  <a:extLst>
                    <a:ext uri="{9D8B030D-6E8A-4147-A177-3AD203B41FA5}">
                      <a16:colId xmlns:a16="http://schemas.microsoft.com/office/drawing/2014/main" val="1525797455"/>
                    </a:ext>
                  </a:extLst>
                </a:gridCol>
                <a:gridCol w="2756486">
                  <a:extLst>
                    <a:ext uri="{9D8B030D-6E8A-4147-A177-3AD203B41FA5}">
                      <a16:colId xmlns:a16="http://schemas.microsoft.com/office/drawing/2014/main" val="2785887252"/>
                    </a:ext>
                  </a:extLst>
                </a:gridCol>
                <a:gridCol w="2756486">
                  <a:extLst>
                    <a:ext uri="{9D8B030D-6E8A-4147-A177-3AD203B41FA5}">
                      <a16:colId xmlns:a16="http://schemas.microsoft.com/office/drawing/2014/main" val="2835774725"/>
                    </a:ext>
                  </a:extLst>
                </a:gridCol>
                <a:gridCol w="2756486">
                  <a:extLst>
                    <a:ext uri="{9D8B030D-6E8A-4147-A177-3AD203B41FA5}">
                      <a16:colId xmlns:a16="http://schemas.microsoft.com/office/drawing/2014/main" val="2194301927"/>
                    </a:ext>
                  </a:extLst>
                </a:gridCol>
              </a:tblGrid>
              <a:tr h="503471">
                <a:tc>
                  <a:txBody>
                    <a:bodyPr/>
                    <a:lstStyle/>
                    <a:p>
                      <a:pPr algn="ctr">
                        <a:lnSpc>
                          <a:spcPct val="115000"/>
                        </a:lnSpc>
                        <a:spcAft>
                          <a:spcPts val="800"/>
                        </a:spcAft>
                        <a:buNone/>
                      </a:pPr>
                      <a:r>
                        <a:rPr lang="es-MX" sz="1600" kern="100" dirty="0">
                          <a:effectLst/>
                          <a:latin typeface="Dubai Light" panose="020B0303030403030204" pitchFamily="34" charset="-78"/>
                          <a:cs typeface="Dubai Light" panose="020B0303030403030204" pitchFamily="34" charset="-78"/>
                        </a:rPr>
                        <a:t>Nombre de variable</a:t>
                      </a:r>
                      <a:endParaRPr lang="es-MX" sz="1600" kern="100" dirty="0">
                        <a:effectLst/>
                        <a:latin typeface="Dubai Light" panose="020B0303030403030204" pitchFamily="34" charset="-78"/>
                        <a:ea typeface="Aptos" panose="020B0004020202020204" pitchFamily="34" charset="0"/>
                        <a:cs typeface="Dubai Light" panose="020B0303030403030204" pitchFamily="34" charset="-78"/>
                      </a:endParaRPr>
                    </a:p>
                  </a:txBody>
                  <a:tcPr marL="68580" marR="68580" marT="0" marB="0"/>
                </a:tc>
                <a:tc>
                  <a:txBody>
                    <a:bodyPr/>
                    <a:lstStyle/>
                    <a:p>
                      <a:pPr algn="ctr">
                        <a:lnSpc>
                          <a:spcPct val="115000"/>
                        </a:lnSpc>
                        <a:spcAft>
                          <a:spcPts val="800"/>
                        </a:spcAft>
                        <a:buNone/>
                      </a:pPr>
                      <a:r>
                        <a:rPr lang="es-MX" sz="1600" kern="100" dirty="0">
                          <a:effectLst/>
                          <a:latin typeface="Dubai Light" panose="020B0303030403030204" pitchFamily="34" charset="-78"/>
                          <a:cs typeface="Dubai Light" panose="020B0303030403030204" pitchFamily="34" charset="-78"/>
                        </a:rPr>
                        <a:t>Definición</a:t>
                      </a:r>
                      <a:endParaRPr lang="es-MX" sz="1600" kern="100" dirty="0">
                        <a:effectLst/>
                        <a:latin typeface="Dubai Light" panose="020B0303030403030204" pitchFamily="34" charset="-78"/>
                        <a:ea typeface="Aptos" panose="020B0004020202020204" pitchFamily="34" charset="0"/>
                        <a:cs typeface="Dubai Light" panose="020B0303030403030204" pitchFamily="34" charset="-78"/>
                      </a:endParaRPr>
                    </a:p>
                  </a:txBody>
                  <a:tcPr marL="68580" marR="68580" marT="0" marB="0"/>
                </a:tc>
                <a:tc>
                  <a:txBody>
                    <a:bodyPr/>
                    <a:lstStyle/>
                    <a:p>
                      <a:pPr algn="ctr">
                        <a:lnSpc>
                          <a:spcPct val="115000"/>
                        </a:lnSpc>
                        <a:spcAft>
                          <a:spcPts val="800"/>
                        </a:spcAft>
                        <a:buNone/>
                      </a:pPr>
                      <a:r>
                        <a:rPr lang="es-MX" sz="1600" kern="100" dirty="0">
                          <a:effectLst/>
                          <a:latin typeface="Dubai Light" panose="020B0303030403030204" pitchFamily="34" charset="-78"/>
                          <a:cs typeface="Dubai Light" panose="020B0303030403030204" pitchFamily="34" charset="-78"/>
                        </a:rPr>
                        <a:t>Ejemplos</a:t>
                      </a:r>
                      <a:endParaRPr lang="es-MX" sz="1600" kern="100" dirty="0">
                        <a:effectLst/>
                        <a:latin typeface="Dubai Light" panose="020B0303030403030204" pitchFamily="34" charset="-78"/>
                        <a:ea typeface="Aptos" panose="020B0004020202020204" pitchFamily="34" charset="0"/>
                        <a:cs typeface="Dubai Light" panose="020B0303030403030204" pitchFamily="34" charset="-78"/>
                      </a:endParaRPr>
                    </a:p>
                  </a:txBody>
                  <a:tcPr marL="68580" marR="68580" marT="0" marB="0"/>
                </a:tc>
                <a:tc>
                  <a:txBody>
                    <a:bodyPr/>
                    <a:lstStyle/>
                    <a:p>
                      <a:pPr algn="ctr">
                        <a:lnSpc>
                          <a:spcPct val="115000"/>
                        </a:lnSpc>
                        <a:spcAft>
                          <a:spcPts val="800"/>
                        </a:spcAft>
                        <a:buNone/>
                      </a:pPr>
                      <a:r>
                        <a:rPr lang="es-MX" sz="1600" kern="100" dirty="0">
                          <a:effectLst/>
                          <a:latin typeface="Dubai Light" panose="020B0303030403030204" pitchFamily="34" charset="-78"/>
                          <a:cs typeface="Dubai Light" panose="020B0303030403030204" pitchFamily="34" charset="-78"/>
                        </a:rPr>
                        <a:t>Fuentes de información</a:t>
                      </a:r>
                      <a:endParaRPr lang="es-MX" sz="1600" kern="100" dirty="0">
                        <a:effectLst/>
                        <a:latin typeface="Dubai Light" panose="020B0303030403030204" pitchFamily="34" charset="-78"/>
                        <a:ea typeface="Aptos" panose="020B0004020202020204" pitchFamily="34" charset="0"/>
                        <a:cs typeface="Dubai Light" panose="020B0303030403030204" pitchFamily="34" charset="-78"/>
                      </a:endParaRPr>
                    </a:p>
                  </a:txBody>
                  <a:tcPr marL="68580" marR="68580" marT="0" marB="0"/>
                </a:tc>
                <a:extLst>
                  <a:ext uri="{0D108BD9-81ED-4DB2-BD59-A6C34878D82A}">
                    <a16:rowId xmlns:a16="http://schemas.microsoft.com/office/drawing/2014/main" val="4024183244"/>
                  </a:ext>
                </a:extLst>
              </a:tr>
              <a:tr h="360509">
                <a:tc gridSpan="4">
                  <a:txBody>
                    <a:bodyPr/>
                    <a:lstStyle/>
                    <a:p>
                      <a:pPr algn="l">
                        <a:lnSpc>
                          <a:spcPct val="115000"/>
                        </a:lnSpc>
                        <a:spcAft>
                          <a:spcPts val="800"/>
                        </a:spcAft>
                        <a:buNone/>
                      </a:pPr>
                      <a:r>
                        <a:rPr lang="es-MX" sz="1600" kern="100" dirty="0">
                          <a:effectLst/>
                          <a:latin typeface="Dubai Light" panose="020B0303030403030204" pitchFamily="34" charset="-78"/>
                          <a:ea typeface="Aptos" panose="020B0004020202020204" pitchFamily="34" charset="0"/>
                          <a:cs typeface="Dubai Light" panose="020B0303030403030204" pitchFamily="34" charset="-78"/>
                        </a:rPr>
                        <a:t>Atención a demandas</a:t>
                      </a:r>
                    </a:p>
                  </a:txBody>
                  <a:tcPr marL="68580" marR="68580" marT="0" marB="0"/>
                </a:tc>
                <a:tc hMerge="1">
                  <a:txBody>
                    <a:bodyPr/>
                    <a:lstStyle/>
                    <a:p>
                      <a:pPr algn="ctr">
                        <a:lnSpc>
                          <a:spcPct val="115000"/>
                        </a:lnSpc>
                        <a:spcAft>
                          <a:spcPts val="800"/>
                        </a:spcAft>
                        <a:buNone/>
                      </a:pPr>
                      <a:endParaRPr lang="es-MX" sz="1600" kern="100" dirty="0">
                        <a:effectLst/>
                        <a:latin typeface="Dubai Light" panose="020B0303030403030204" pitchFamily="34" charset="-78"/>
                        <a:ea typeface="Aptos" panose="020B0004020202020204" pitchFamily="34" charset="0"/>
                        <a:cs typeface="Dubai Light" panose="020B0303030403030204" pitchFamily="34" charset="-78"/>
                      </a:endParaRPr>
                    </a:p>
                  </a:txBody>
                  <a:tcPr marL="68580" marR="68580" marT="0" marB="0"/>
                </a:tc>
                <a:tc hMerge="1">
                  <a:txBody>
                    <a:bodyPr/>
                    <a:lstStyle/>
                    <a:p>
                      <a:pPr algn="ctr">
                        <a:lnSpc>
                          <a:spcPct val="115000"/>
                        </a:lnSpc>
                        <a:spcAft>
                          <a:spcPts val="800"/>
                        </a:spcAft>
                        <a:buNone/>
                      </a:pPr>
                      <a:endParaRPr lang="es-MX" sz="1600" kern="100" dirty="0">
                        <a:effectLst/>
                        <a:latin typeface="Dubai Light" panose="020B0303030403030204" pitchFamily="34" charset="-78"/>
                        <a:ea typeface="Aptos" panose="020B0004020202020204" pitchFamily="34" charset="0"/>
                        <a:cs typeface="Dubai Light" panose="020B0303030403030204" pitchFamily="34" charset="-78"/>
                      </a:endParaRPr>
                    </a:p>
                  </a:txBody>
                  <a:tcPr marL="68580" marR="68580" marT="0" marB="0"/>
                </a:tc>
                <a:tc hMerge="1">
                  <a:txBody>
                    <a:bodyPr/>
                    <a:lstStyle/>
                    <a:p>
                      <a:pPr algn="ctr">
                        <a:lnSpc>
                          <a:spcPct val="115000"/>
                        </a:lnSpc>
                        <a:spcAft>
                          <a:spcPts val="800"/>
                        </a:spcAft>
                        <a:buNone/>
                      </a:pPr>
                      <a:endParaRPr lang="es-MX" sz="1600" kern="100" dirty="0">
                        <a:effectLst/>
                        <a:latin typeface="Dubai Light" panose="020B0303030403030204" pitchFamily="34" charset="-78"/>
                        <a:ea typeface="Aptos" panose="020B0004020202020204" pitchFamily="34" charset="0"/>
                        <a:cs typeface="Dubai Light" panose="020B0303030403030204" pitchFamily="34" charset="-78"/>
                      </a:endParaRPr>
                    </a:p>
                  </a:txBody>
                  <a:tcPr marL="68580" marR="68580" marT="0" marB="0"/>
                </a:tc>
                <a:extLst>
                  <a:ext uri="{0D108BD9-81ED-4DB2-BD59-A6C34878D82A}">
                    <a16:rowId xmlns:a16="http://schemas.microsoft.com/office/drawing/2014/main" val="2369726861"/>
                  </a:ext>
                </a:extLst>
              </a:tr>
              <a:tr h="849238">
                <a:tc>
                  <a:txBody>
                    <a:bodyPr/>
                    <a:lstStyle/>
                    <a:p>
                      <a:pPr marL="0" algn="just" defTabSz="914400" rtl="0" eaLnBrk="1" latinLnBrk="0" hangingPunct="1">
                        <a:lnSpc>
                          <a:spcPct val="115000"/>
                        </a:lnSpc>
                        <a:spcAft>
                          <a:spcPts val="800"/>
                        </a:spcAft>
                        <a:buNone/>
                      </a:pPr>
                      <a:r>
                        <a:rPr lang="es-MX" sz="1400" b="1" kern="100" dirty="0">
                          <a:solidFill>
                            <a:schemeClr val="tx1"/>
                          </a:solidFill>
                          <a:effectLst/>
                          <a:latin typeface="Dubai Light" panose="020B0303030403030204" pitchFamily="34" charset="-78"/>
                          <a:ea typeface="+mn-ea"/>
                          <a:cs typeface="Dubai Light" panose="020B0303030403030204" pitchFamily="34" charset="-78"/>
                        </a:rPr>
                        <a:t> </a:t>
                      </a:r>
                      <a:r>
                        <a:rPr lang="es-ES" sz="1400" b="1" kern="100" dirty="0">
                          <a:solidFill>
                            <a:schemeClr val="tx1"/>
                          </a:solidFill>
                          <a:effectLst/>
                          <a:latin typeface="Dubai Light" panose="020B0303030403030204" pitchFamily="34" charset="-78"/>
                          <a:ea typeface="+mn-ea"/>
                          <a:cs typeface="Dubai Light" panose="020B0303030403030204" pitchFamily="34" charset="-78"/>
                        </a:rPr>
                        <a:t>CONCESIÓN</a:t>
                      </a:r>
                      <a:endParaRPr lang="es-MX" sz="140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tc>
                <a:tc>
                  <a:txBody>
                    <a:bodyPr/>
                    <a:lstStyle/>
                    <a:p>
                      <a:pPr marL="0" algn="just" defTabSz="914400" rtl="0" eaLnBrk="1" latinLnBrk="0" hangingPunct="1">
                        <a:lnSpc>
                          <a:spcPct val="115000"/>
                        </a:lnSpc>
                        <a:spcAft>
                          <a:spcPts val="800"/>
                        </a:spcAft>
                        <a:buNone/>
                      </a:pPr>
                      <a:r>
                        <a:rPr lang="es-MX" sz="1400" b="1" kern="100" dirty="0">
                          <a:solidFill>
                            <a:schemeClr val="tx1"/>
                          </a:solidFill>
                          <a:effectLst/>
                          <a:latin typeface="Dubai Light" panose="020B0303030403030204" pitchFamily="34" charset="-78"/>
                          <a:ea typeface="+mn-ea"/>
                          <a:cs typeface="Dubai Light" panose="020B0303030403030204" pitchFamily="34" charset="-78"/>
                        </a:rPr>
                        <a:t> </a:t>
                      </a:r>
                      <a:r>
                        <a:rPr lang="es-ES" sz="1400" b="1" kern="100" dirty="0">
                          <a:solidFill>
                            <a:schemeClr val="tx1"/>
                          </a:solidFill>
                          <a:effectLst/>
                          <a:latin typeface="Dubai Light" panose="020B0303030403030204" pitchFamily="34" charset="-78"/>
                          <a:ea typeface="+mn-ea"/>
                          <a:cs typeface="Dubai Light" panose="020B0303030403030204" pitchFamily="34" charset="-78"/>
                        </a:rPr>
                        <a:t>El gobierno se apacigua o se rinde ante los manifestantes y sus demandas(</a:t>
                      </a:r>
                      <a:r>
                        <a:rPr lang="es-ES" sz="1400" b="1" kern="100" dirty="0" err="1">
                          <a:solidFill>
                            <a:schemeClr val="tx1"/>
                          </a:solidFill>
                          <a:effectLst/>
                          <a:latin typeface="Dubai Light" panose="020B0303030403030204" pitchFamily="34" charset="-78"/>
                          <a:ea typeface="+mn-ea"/>
                          <a:cs typeface="Dubai Light" panose="020B0303030403030204" pitchFamily="34" charset="-78"/>
                        </a:rPr>
                        <a:t>Leuschner</a:t>
                      </a:r>
                      <a:r>
                        <a:rPr lang="es-ES" sz="1400" b="1" kern="100" dirty="0">
                          <a:solidFill>
                            <a:schemeClr val="tx1"/>
                          </a:solidFill>
                          <a:effectLst/>
                          <a:latin typeface="Dubai Light" panose="020B0303030403030204" pitchFamily="34" charset="-78"/>
                          <a:ea typeface="+mn-ea"/>
                          <a:cs typeface="Dubai Light" panose="020B0303030403030204" pitchFamily="34" charset="-78"/>
                        </a:rPr>
                        <a:t> &amp; </a:t>
                      </a:r>
                      <a:r>
                        <a:rPr lang="es-ES" sz="1400" b="1" kern="100" dirty="0" err="1">
                          <a:solidFill>
                            <a:schemeClr val="tx1"/>
                          </a:solidFill>
                          <a:effectLst/>
                          <a:latin typeface="Dubai Light" panose="020B0303030403030204" pitchFamily="34" charset="-78"/>
                          <a:ea typeface="+mn-ea"/>
                          <a:cs typeface="Dubai Light" panose="020B0303030403030204" pitchFamily="34" charset="-78"/>
                        </a:rPr>
                        <a:t>Hellmeier</a:t>
                      </a:r>
                      <a:r>
                        <a:rPr lang="es-ES" sz="1400" b="1" kern="100" dirty="0">
                          <a:solidFill>
                            <a:schemeClr val="tx1"/>
                          </a:solidFill>
                          <a:effectLst/>
                          <a:latin typeface="Dubai Light" panose="020B0303030403030204" pitchFamily="34" charset="-78"/>
                          <a:ea typeface="+mn-ea"/>
                          <a:cs typeface="Dubai Light" panose="020B0303030403030204" pitchFamily="34" charset="-78"/>
                        </a:rPr>
                        <a:t>, 2023)</a:t>
                      </a:r>
                      <a:endParaRPr lang="es-MX" sz="140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tc>
                <a:tc>
                  <a:txBody>
                    <a:bodyPr/>
                    <a:lstStyle/>
                    <a:p>
                      <a:pPr marL="0" algn="just" defTabSz="914400" rtl="0" eaLnBrk="1" latinLnBrk="0" hangingPunct="1">
                        <a:lnSpc>
                          <a:spcPct val="115000"/>
                        </a:lnSpc>
                        <a:spcAft>
                          <a:spcPts val="800"/>
                        </a:spcAft>
                        <a:buNone/>
                      </a:pPr>
                      <a:r>
                        <a:rPr lang="es-MX" sz="1050" b="1" kern="100" dirty="0">
                          <a:solidFill>
                            <a:schemeClr val="tx1"/>
                          </a:solidFill>
                          <a:effectLst/>
                          <a:latin typeface="Dubai Light" panose="020B0303030403030204" pitchFamily="34" charset="-78"/>
                          <a:ea typeface="+mn-ea"/>
                          <a:cs typeface="Dubai Light" panose="020B0303030403030204" pitchFamily="34" charset="-78"/>
                        </a:rPr>
                        <a:t> </a:t>
                      </a:r>
                      <a:r>
                        <a:rPr lang="es-ES" sz="1050" b="1" kern="100" dirty="0">
                          <a:solidFill>
                            <a:schemeClr val="tx1"/>
                          </a:solidFill>
                          <a:effectLst/>
                          <a:latin typeface="Dubai Light" panose="020B0303030403030204" pitchFamily="34" charset="-78"/>
                          <a:ea typeface="+mn-ea"/>
                          <a:cs typeface="Dubai Light" panose="020B0303030403030204" pitchFamily="34" charset="-78"/>
                        </a:rPr>
                        <a:t>-Materialización de la renuncia de un presidente o un ministro de gobierno por petición de los manifestantes.</a:t>
                      </a:r>
                      <a:br>
                        <a:rPr lang="es-ES" sz="1050" b="1" kern="100" dirty="0">
                          <a:solidFill>
                            <a:schemeClr val="tx1"/>
                          </a:solidFill>
                          <a:effectLst/>
                          <a:latin typeface="Dubai Light" panose="020B0303030403030204" pitchFamily="34" charset="-78"/>
                          <a:ea typeface="+mn-ea"/>
                          <a:cs typeface="Dubai Light" panose="020B0303030403030204" pitchFamily="34" charset="-78"/>
                        </a:rPr>
                      </a:br>
                      <a:r>
                        <a:rPr lang="es-ES" sz="1050" b="1" kern="100" dirty="0">
                          <a:solidFill>
                            <a:schemeClr val="tx1"/>
                          </a:solidFill>
                          <a:effectLst/>
                          <a:latin typeface="Dubai Light" panose="020B0303030403030204" pitchFamily="34" charset="-78"/>
                          <a:ea typeface="+mn-ea"/>
                          <a:cs typeface="Dubai Light" panose="020B0303030403030204" pitchFamily="34" charset="-78"/>
                        </a:rPr>
                        <a:t>-Rechazo de un proyecto de ley al que los manifestantes se opusieron en protesta.</a:t>
                      </a:r>
                      <a:br>
                        <a:rPr lang="es-ES" sz="1050" b="1" kern="100" dirty="0">
                          <a:solidFill>
                            <a:schemeClr val="tx1"/>
                          </a:solidFill>
                          <a:effectLst/>
                          <a:latin typeface="Dubai Light" panose="020B0303030403030204" pitchFamily="34" charset="-78"/>
                          <a:ea typeface="+mn-ea"/>
                          <a:cs typeface="Dubai Light" panose="020B0303030403030204" pitchFamily="34" charset="-78"/>
                        </a:rPr>
                      </a:br>
                      <a:r>
                        <a:rPr lang="es-ES" sz="1050" b="1" kern="100" dirty="0">
                          <a:solidFill>
                            <a:schemeClr val="tx1"/>
                          </a:solidFill>
                          <a:effectLst/>
                          <a:latin typeface="Dubai Light" panose="020B0303030403030204" pitchFamily="34" charset="-78"/>
                          <a:ea typeface="+mn-ea"/>
                          <a:cs typeface="Dubai Light" panose="020B0303030403030204" pitchFamily="34" charset="-78"/>
                        </a:rPr>
                        <a:t>-Presentar una acusación formal por parte del congreso al presidente o algún ministro de gobierno según petición de los manifestantes.</a:t>
                      </a:r>
                      <a:br>
                        <a:rPr lang="es-ES" sz="1050" b="1" kern="100" dirty="0">
                          <a:solidFill>
                            <a:schemeClr val="tx1"/>
                          </a:solidFill>
                          <a:effectLst/>
                          <a:latin typeface="Dubai Light" panose="020B0303030403030204" pitchFamily="34" charset="-78"/>
                          <a:ea typeface="+mn-ea"/>
                          <a:cs typeface="Dubai Light" panose="020B0303030403030204" pitchFamily="34" charset="-78"/>
                        </a:rPr>
                      </a:br>
                      <a:r>
                        <a:rPr lang="es-ES" sz="1050" b="1" kern="100" dirty="0">
                          <a:solidFill>
                            <a:schemeClr val="tx1"/>
                          </a:solidFill>
                          <a:effectLst/>
                          <a:latin typeface="Dubai Light" panose="020B0303030403030204" pitchFamily="34" charset="-78"/>
                          <a:ea typeface="+mn-ea"/>
                          <a:cs typeface="Dubai Light" panose="020B0303030403030204" pitchFamily="34" charset="-78"/>
                        </a:rPr>
                        <a:t>-Rechazar el alza del precio de algún servicio público (ejemplo: agua, luz).</a:t>
                      </a: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tc>
                <a:tc>
                  <a:txBody>
                    <a:bodyPr/>
                    <a:lstStyle/>
                    <a:p>
                      <a:pPr marL="0" algn="just" defTabSz="914400" rtl="0" eaLnBrk="1" latinLnBrk="0" hangingPunct="1">
                        <a:lnSpc>
                          <a:spcPct val="115000"/>
                        </a:lnSpc>
                        <a:spcAft>
                          <a:spcPts val="800"/>
                        </a:spcAft>
                        <a:buNone/>
                      </a:pPr>
                      <a:r>
                        <a:rPr lang="es-MX" sz="1200" b="1" kern="100" dirty="0">
                          <a:solidFill>
                            <a:schemeClr val="tx1"/>
                          </a:solidFill>
                          <a:effectLst/>
                          <a:latin typeface="Dubai Light" panose="020B0303030403030204" pitchFamily="34" charset="-78"/>
                          <a:ea typeface="+mn-ea"/>
                          <a:cs typeface="Dubai Light" panose="020B0303030403030204" pitchFamily="34" charset="-78"/>
                        </a:rPr>
                        <a:t> Noticias de protestas en internet</a:t>
                      </a:r>
                    </a:p>
                  </a:txBody>
                  <a:tcPr marL="68580" marR="68580" marT="0" marB="0"/>
                </a:tc>
                <a:extLst>
                  <a:ext uri="{0D108BD9-81ED-4DB2-BD59-A6C34878D82A}">
                    <a16:rowId xmlns:a16="http://schemas.microsoft.com/office/drawing/2014/main" val="2369568635"/>
                  </a:ext>
                </a:extLst>
              </a:tr>
              <a:tr h="731573">
                <a:tc>
                  <a:txBody>
                    <a:bodyPr/>
                    <a:lstStyle/>
                    <a:p>
                      <a:pPr marL="0" algn="just" defTabSz="914400" rtl="0" eaLnBrk="1" latinLnBrk="0" hangingPunct="1">
                        <a:lnSpc>
                          <a:spcPct val="115000"/>
                        </a:lnSpc>
                        <a:spcAft>
                          <a:spcPts val="800"/>
                        </a:spcAft>
                        <a:buNone/>
                      </a:pPr>
                      <a:r>
                        <a:rPr lang="es-ES" sz="1400" b="1" kern="100" dirty="0">
                          <a:solidFill>
                            <a:schemeClr val="tx1"/>
                          </a:solidFill>
                          <a:effectLst/>
                          <a:latin typeface="Dubai Light" panose="020B0303030403030204" pitchFamily="34" charset="-78"/>
                          <a:ea typeface="+mn-ea"/>
                          <a:cs typeface="Dubai Light" panose="020B0303030403030204" pitchFamily="34" charset="-78"/>
                        </a:rPr>
                        <a:t>COMPENSACIÓN</a:t>
                      </a:r>
                      <a:endParaRPr lang="es-MX" sz="140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tc>
                <a:tc>
                  <a:txBody>
                    <a:bodyPr/>
                    <a:lstStyle/>
                    <a:p>
                      <a:pPr marL="0" algn="just" defTabSz="914400" rtl="0" eaLnBrk="1" latinLnBrk="0" hangingPunct="1">
                        <a:lnSpc>
                          <a:spcPct val="115000"/>
                        </a:lnSpc>
                        <a:spcAft>
                          <a:spcPts val="800"/>
                        </a:spcAft>
                        <a:buNone/>
                      </a:pPr>
                      <a:r>
                        <a:rPr lang="es-MX" sz="1400" b="1" kern="100" dirty="0">
                          <a:solidFill>
                            <a:schemeClr val="tx1"/>
                          </a:solidFill>
                          <a:effectLst/>
                          <a:latin typeface="Dubai Light" panose="020B0303030403030204" pitchFamily="34" charset="-78"/>
                          <a:ea typeface="+mn-ea"/>
                          <a:cs typeface="Dubai Light" panose="020B0303030403030204" pitchFamily="34" charset="-78"/>
                        </a:rPr>
                        <a:t> </a:t>
                      </a:r>
                      <a:r>
                        <a:rPr lang="es-ES" sz="1400" b="1" kern="100" dirty="0">
                          <a:solidFill>
                            <a:schemeClr val="tx1"/>
                          </a:solidFill>
                          <a:effectLst/>
                          <a:latin typeface="Dubai Light" panose="020B0303030403030204" pitchFamily="34" charset="-78"/>
                          <a:ea typeface="+mn-ea"/>
                          <a:cs typeface="Dubai Light" panose="020B0303030403030204" pitchFamily="34" charset="-78"/>
                        </a:rPr>
                        <a:t>Las compensaciones son acciones estatales que no representan avances sustantivos para los objetivos de la protesta.</a:t>
                      </a:r>
                      <a:endParaRPr lang="es-MX" sz="140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tc>
                <a:tc>
                  <a:txBody>
                    <a:bodyPr/>
                    <a:lstStyle/>
                    <a:p>
                      <a:pPr marL="0" algn="just" defTabSz="914400" rtl="0" eaLnBrk="1" latinLnBrk="0" hangingPunct="1">
                        <a:lnSpc>
                          <a:spcPct val="115000"/>
                        </a:lnSpc>
                        <a:spcAft>
                          <a:spcPts val="800"/>
                        </a:spcAft>
                        <a:buNone/>
                      </a:pP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p>
                      <a:pPr marL="0" algn="just" defTabSz="914400" rtl="0" eaLnBrk="1" latinLnBrk="0" hangingPunct="1">
                        <a:lnSpc>
                          <a:spcPct val="115000"/>
                        </a:lnSpc>
                        <a:spcAft>
                          <a:spcPts val="800"/>
                        </a:spcAft>
                        <a:buNone/>
                      </a:pPr>
                      <a:r>
                        <a:rPr lang="es-ES" sz="1050" b="1" kern="100" dirty="0">
                          <a:solidFill>
                            <a:schemeClr val="tx1"/>
                          </a:solidFill>
                          <a:effectLst/>
                          <a:latin typeface="Dubai Light" panose="020B0303030403030204" pitchFamily="34" charset="-78"/>
                          <a:ea typeface="+mn-ea"/>
                          <a:cs typeface="Dubai Light" panose="020B0303030403030204" pitchFamily="34" charset="-78"/>
                        </a:rPr>
                        <a:t>-Ampliación de beneficios otorgados por políticas sociales existentes que benefician al sector que se ha estado manifestando</a:t>
                      </a: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p>
                      <a:pPr marL="0" algn="just" defTabSz="914400" rtl="0" eaLnBrk="1" latinLnBrk="0" hangingPunct="1">
                        <a:lnSpc>
                          <a:spcPct val="115000"/>
                        </a:lnSpc>
                        <a:spcAft>
                          <a:spcPts val="800"/>
                        </a:spcAft>
                        <a:buNone/>
                      </a:pPr>
                      <a:r>
                        <a:rPr lang="es-ES" sz="1050" b="1" kern="100" dirty="0">
                          <a:solidFill>
                            <a:schemeClr val="tx1"/>
                          </a:solidFill>
                          <a:effectLst/>
                          <a:latin typeface="Dubai Light" panose="020B0303030403030204" pitchFamily="34" charset="-78"/>
                          <a:ea typeface="+mn-ea"/>
                          <a:cs typeface="Dubai Light" panose="020B0303030403030204" pitchFamily="34" charset="-78"/>
                        </a:rPr>
                        <a:t>-Anunciar la apertura del dialogo con algunos sectores participantes en la manifestación</a:t>
                      </a:r>
                      <a:br>
                        <a:rPr lang="es-ES" sz="1050" b="1" kern="100" dirty="0">
                          <a:solidFill>
                            <a:schemeClr val="tx1"/>
                          </a:solidFill>
                          <a:effectLst/>
                          <a:latin typeface="Dubai Light" panose="020B0303030403030204" pitchFamily="34" charset="-78"/>
                          <a:ea typeface="+mn-ea"/>
                          <a:cs typeface="Dubai Light" panose="020B0303030403030204" pitchFamily="34" charset="-78"/>
                        </a:rPr>
                      </a:br>
                      <a:r>
                        <a:rPr lang="es-ES" sz="1050" b="1" kern="100" dirty="0">
                          <a:solidFill>
                            <a:schemeClr val="tx1"/>
                          </a:solidFill>
                          <a:effectLst/>
                          <a:latin typeface="Dubai Light" panose="020B0303030403030204" pitchFamily="34" charset="-78"/>
                          <a:ea typeface="+mn-ea"/>
                          <a:cs typeface="Dubai Light" panose="020B0303030403030204" pitchFamily="34" charset="-78"/>
                        </a:rPr>
                        <a:t>-Crear una comisión para indagar sobre los hechos que han sido objeto del descontento</a:t>
                      </a: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p>
                      <a:pPr marL="0" algn="just" defTabSz="914400" rtl="0" eaLnBrk="1" latinLnBrk="0" hangingPunct="1">
                        <a:lnSpc>
                          <a:spcPct val="115000"/>
                        </a:lnSpc>
                        <a:spcAft>
                          <a:spcPts val="800"/>
                        </a:spcAft>
                        <a:buNone/>
                      </a:pP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tc>
                <a:tc>
                  <a:txBody>
                    <a:bodyPr/>
                    <a:lstStyle/>
                    <a:p>
                      <a:pPr marL="0" algn="just" defTabSz="914400" rtl="0" eaLnBrk="1" latinLnBrk="0" hangingPunct="1">
                        <a:lnSpc>
                          <a:spcPct val="115000"/>
                        </a:lnSpc>
                        <a:spcAft>
                          <a:spcPts val="800"/>
                        </a:spcAft>
                        <a:buNone/>
                      </a:pPr>
                      <a:r>
                        <a:rPr lang="es-MX" sz="1200" b="1" kern="100" dirty="0">
                          <a:solidFill>
                            <a:schemeClr val="tx1"/>
                          </a:solidFill>
                          <a:effectLst/>
                          <a:latin typeface="Dubai Light" panose="020B0303030403030204" pitchFamily="34" charset="-78"/>
                          <a:ea typeface="+mn-ea"/>
                          <a:cs typeface="Dubai Light" panose="020B0303030403030204" pitchFamily="34" charset="-78"/>
                        </a:rPr>
                        <a:t> Noticias de protestas en internet</a:t>
                      </a:r>
                    </a:p>
                  </a:txBody>
                  <a:tcPr marL="68580" marR="68580" marT="0" marB="0"/>
                </a:tc>
                <a:extLst>
                  <a:ext uri="{0D108BD9-81ED-4DB2-BD59-A6C34878D82A}">
                    <a16:rowId xmlns:a16="http://schemas.microsoft.com/office/drawing/2014/main" val="3946497508"/>
                  </a:ext>
                </a:extLst>
              </a:tr>
              <a:tr h="731573">
                <a:tc>
                  <a:txBody>
                    <a:bodyPr/>
                    <a:lstStyle/>
                    <a:p>
                      <a:pPr marL="0" algn="just" defTabSz="914400" rtl="0" eaLnBrk="1" latinLnBrk="0" hangingPunct="1">
                        <a:lnSpc>
                          <a:spcPct val="115000"/>
                        </a:lnSpc>
                        <a:spcAft>
                          <a:spcPts val="800"/>
                        </a:spcAft>
                        <a:buNone/>
                      </a:pPr>
                      <a:r>
                        <a:rPr lang="es-MX" sz="1400" b="1" kern="100" dirty="0">
                          <a:solidFill>
                            <a:schemeClr val="tx1"/>
                          </a:solidFill>
                          <a:effectLst/>
                          <a:latin typeface="Dubai Light" panose="020B0303030403030204" pitchFamily="34" charset="-78"/>
                          <a:ea typeface="+mn-ea"/>
                          <a:cs typeface="Dubai Light" panose="020B0303030403030204" pitchFamily="34" charset="-78"/>
                        </a:rPr>
                        <a:t>IGNORAR</a:t>
                      </a:r>
                    </a:p>
                  </a:txBody>
                  <a:tcPr marL="68580" marR="68580" marT="0" marB="0"/>
                </a:tc>
                <a:tc>
                  <a:txBody>
                    <a:bodyPr/>
                    <a:lstStyle/>
                    <a:p>
                      <a:pPr marL="0" algn="just" defTabSz="914400" rtl="0" eaLnBrk="1" latinLnBrk="0" hangingPunct="1">
                        <a:lnSpc>
                          <a:spcPct val="115000"/>
                        </a:lnSpc>
                        <a:spcAft>
                          <a:spcPts val="800"/>
                        </a:spcAft>
                        <a:buNone/>
                      </a:pPr>
                      <a:r>
                        <a:rPr lang="es-ES" sz="1400" b="1" kern="100" dirty="0">
                          <a:solidFill>
                            <a:schemeClr val="tx1"/>
                          </a:solidFill>
                          <a:effectLst/>
                          <a:latin typeface="Dubai Light" panose="020B0303030403030204" pitchFamily="34" charset="-78"/>
                          <a:ea typeface="+mn-ea"/>
                          <a:cs typeface="Dubai Light" panose="020B0303030403030204" pitchFamily="34" charset="-78"/>
                        </a:rPr>
                        <a:t>Respuestas realizadas por el gobierno que no toman en cuenta lo que los manifestantes piden mediante las protestas.</a:t>
                      </a:r>
                      <a:endParaRPr lang="es-MX" sz="140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tc>
                <a:tc>
                  <a:txBody>
                    <a:bodyPr/>
                    <a:lstStyle/>
                    <a:p>
                      <a:pPr marL="0" marR="0" lvl="0" indent="0" algn="just" defTabSz="914400" rtl="0" eaLnBrk="1" fontAlgn="auto" latinLnBrk="0" hangingPunct="1">
                        <a:lnSpc>
                          <a:spcPct val="115000"/>
                        </a:lnSpc>
                        <a:spcBef>
                          <a:spcPts val="0"/>
                        </a:spcBef>
                        <a:spcAft>
                          <a:spcPts val="800"/>
                        </a:spcAft>
                        <a:buClrTx/>
                        <a:buSzTx/>
                        <a:buFontTx/>
                        <a:buNone/>
                        <a:tabLst/>
                        <a:defRPr/>
                      </a:pPr>
                      <a:r>
                        <a:rPr lang="es-ES" sz="2000" kern="1200" dirty="0">
                          <a:solidFill>
                            <a:schemeClr val="tx1"/>
                          </a:solidFill>
                          <a:effectLst/>
                          <a:latin typeface="Dubai Light" panose="020B0303030403030204" pitchFamily="34" charset="-78"/>
                          <a:ea typeface="+mn-ea"/>
                          <a:cs typeface="Dubai Light" panose="020B0303030403030204" pitchFamily="34" charset="-78"/>
                        </a:rPr>
                        <a:t>-</a:t>
                      </a:r>
                      <a:r>
                        <a:rPr lang="es-ES" sz="1050" b="1" kern="100" dirty="0">
                          <a:solidFill>
                            <a:schemeClr val="tx1"/>
                          </a:solidFill>
                          <a:effectLst/>
                          <a:latin typeface="Dubai Light" panose="020B0303030403030204" pitchFamily="34" charset="-78"/>
                          <a:ea typeface="+mn-ea"/>
                          <a:cs typeface="Dubai Light" panose="020B0303030403030204" pitchFamily="34" charset="-78"/>
                        </a:rPr>
                        <a:t>Aprobar el proyecto de ley al que la gente se opuso mediante las protestas.</a:t>
                      </a:r>
                      <a:br>
                        <a:rPr lang="es-ES" sz="1050" b="1" kern="100" dirty="0">
                          <a:solidFill>
                            <a:schemeClr val="tx1"/>
                          </a:solidFill>
                          <a:effectLst/>
                          <a:latin typeface="Dubai Light" panose="020B0303030403030204" pitchFamily="34" charset="-78"/>
                          <a:ea typeface="+mn-ea"/>
                          <a:cs typeface="Dubai Light" panose="020B0303030403030204" pitchFamily="34" charset="-78"/>
                        </a:rPr>
                      </a:br>
                      <a:r>
                        <a:rPr lang="es-ES" sz="1050" b="1" kern="100" dirty="0">
                          <a:solidFill>
                            <a:schemeClr val="tx1"/>
                          </a:solidFill>
                          <a:effectLst/>
                          <a:latin typeface="Dubai Light" panose="020B0303030403030204" pitchFamily="34" charset="-78"/>
                          <a:ea typeface="+mn-ea"/>
                          <a:cs typeface="Dubai Light" panose="020B0303030403030204" pitchFamily="34" charset="-78"/>
                        </a:rPr>
                        <a:t>- Vetar o derogar una ley que los manifestantes buscan que se mantenga.</a:t>
                      </a: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p>
                      <a:pPr marL="0" algn="just" defTabSz="914400" rtl="0" eaLnBrk="1" latinLnBrk="0" hangingPunct="1">
                        <a:lnSpc>
                          <a:spcPct val="115000"/>
                        </a:lnSpc>
                        <a:spcAft>
                          <a:spcPts val="800"/>
                        </a:spcAft>
                        <a:buNone/>
                      </a:pPr>
                      <a:endParaRPr lang="es-MX" sz="1050" b="1" kern="100" dirty="0">
                        <a:solidFill>
                          <a:schemeClr val="tx1"/>
                        </a:solidFill>
                        <a:effectLst/>
                        <a:latin typeface="Dubai Light" panose="020B0303030403030204" pitchFamily="34" charset="-78"/>
                        <a:ea typeface="+mn-ea"/>
                        <a:cs typeface="Dubai Light" panose="020B0303030403030204" pitchFamily="34" charset="-78"/>
                      </a:endParaRPr>
                    </a:p>
                  </a:txBody>
                  <a:tcPr marL="68580" marR="68580" marT="0" marB="0"/>
                </a:tc>
                <a:tc>
                  <a:txBody>
                    <a:bodyPr/>
                    <a:lstStyle/>
                    <a:p>
                      <a:pPr marL="0" algn="just" defTabSz="914400" rtl="0" eaLnBrk="1" latinLnBrk="0" hangingPunct="1">
                        <a:lnSpc>
                          <a:spcPct val="115000"/>
                        </a:lnSpc>
                        <a:spcAft>
                          <a:spcPts val="800"/>
                        </a:spcAft>
                        <a:buNone/>
                      </a:pPr>
                      <a:r>
                        <a:rPr lang="es-MX" sz="1200" b="1" kern="100" dirty="0">
                          <a:solidFill>
                            <a:schemeClr val="tx1"/>
                          </a:solidFill>
                          <a:effectLst/>
                          <a:latin typeface="Dubai Light" panose="020B0303030403030204" pitchFamily="34" charset="-78"/>
                          <a:ea typeface="+mn-ea"/>
                          <a:cs typeface="Dubai Light" panose="020B0303030403030204" pitchFamily="34" charset="-78"/>
                        </a:rPr>
                        <a:t>Noticias de protestas en internet</a:t>
                      </a:r>
                    </a:p>
                  </a:txBody>
                  <a:tcPr marL="68580" marR="68580" marT="0" marB="0"/>
                </a:tc>
                <a:extLst>
                  <a:ext uri="{0D108BD9-81ED-4DB2-BD59-A6C34878D82A}">
                    <a16:rowId xmlns:a16="http://schemas.microsoft.com/office/drawing/2014/main" val="583541924"/>
                  </a:ext>
                </a:extLst>
              </a:tr>
            </a:tbl>
          </a:graphicData>
        </a:graphic>
      </p:graphicFrame>
      <p:sp>
        <p:nvSpPr>
          <p:cNvPr id="2" name="CuadroTexto 1">
            <a:extLst>
              <a:ext uri="{FF2B5EF4-FFF2-40B4-BE49-F238E27FC236}">
                <a16:creationId xmlns:a16="http://schemas.microsoft.com/office/drawing/2014/main" id="{81DCEBB6-7671-6DA7-FFFD-AD3717795956}"/>
              </a:ext>
            </a:extLst>
          </p:cNvPr>
          <p:cNvSpPr txBox="1"/>
          <p:nvPr/>
        </p:nvSpPr>
        <p:spPr>
          <a:xfrm>
            <a:off x="783771" y="8309566"/>
            <a:ext cx="4049485" cy="369332"/>
          </a:xfrm>
          <a:prstGeom prst="rect">
            <a:avLst/>
          </a:prstGeom>
          <a:noFill/>
        </p:spPr>
        <p:txBody>
          <a:bodyPr wrap="square" rtlCol="0">
            <a:spAutoFit/>
          </a:bodyPr>
          <a:lstStyle/>
          <a:p>
            <a:r>
              <a:rPr lang="es-MX" dirty="0"/>
              <a:t>Fuente: Elaboración propia</a:t>
            </a:r>
          </a:p>
        </p:txBody>
      </p:sp>
      <p:sp>
        <p:nvSpPr>
          <p:cNvPr id="3" name="CuadroTexto 2">
            <a:extLst>
              <a:ext uri="{FF2B5EF4-FFF2-40B4-BE49-F238E27FC236}">
                <a16:creationId xmlns:a16="http://schemas.microsoft.com/office/drawing/2014/main" id="{EFACB973-6506-F47E-B6CE-5767352D301B}"/>
              </a:ext>
            </a:extLst>
          </p:cNvPr>
          <p:cNvSpPr txBox="1"/>
          <p:nvPr/>
        </p:nvSpPr>
        <p:spPr>
          <a:xfrm>
            <a:off x="783771" y="74920"/>
            <a:ext cx="10210800" cy="646331"/>
          </a:xfrm>
          <a:prstGeom prst="rect">
            <a:avLst/>
          </a:prstGeom>
          <a:noFill/>
        </p:spPr>
        <p:txBody>
          <a:bodyPr wrap="square" rtlCol="0">
            <a:spAutoFit/>
          </a:bodyPr>
          <a:lstStyle/>
          <a:p>
            <a:r>
              <a:rPr lang="es-MX" sz="3600" b="1" dirty="0">
                <a:latin typeface="Ahoni"/>
              </a:rPr>
              <a:t>Ejemplo de codificación de variables</a:t>
            </a:r>
          </a:p>
        </p:txBody>
      </p:sp>
    </p:spTree>
    <p:extLst>
      <p:ext uri="{BB962C8B-B14F-4D97-AF65-F5344CB8AC3E}">
        <p14:creationId xmlns:p14="http://schemas.microsoft.com/office/powerpoint/2010/main" val="258240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Graphic 212">
            <a:extLst>
              <a:ext uri="{FF2B5EF4-FFF2-40B4-BE49-F238E27FC236}">
                <a16:creationId xmlns:a16="http://schemas.microsoft.com/office/drawing/2014/main" id="{55C61911-45B2-48BF-AC7A-1EB579B42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2373" y="798490"/>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2" name="Graphic 212">
            <a:extLst>
              <a:ext uri="{FF2B5EF4-FFF2-40B4-BE49-F238E27FC236}">
                <a16:creationId xmlns:a16="http://schemas.microsoft.com/office/drawing/2014/main" id="{2DE4D4CE-6DAE-4A05-BE5B-6BCE3F4EC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2373" y="798490"/>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 name="Título 1">
            <a:extLst>
              <a:ext uri="{FF2B5EF4-FFF2-40B4-BE49-F238E27FC236}">
                <a16:creationId xmlns:a16="http://schemas.microsoft.com/office/drawing/2014/main" id="{86C7BBFB-0A54-95DA-5C9F-352866DDD4CA}"/>
              </a:ext>
            </a:extLst>
          </p:cNvPr>
          <p:cNvSpPr>
            <a:spLocks noGrp="1"/>
          </p:cNvSpPr>
          <p:nvPr>
            <p:ph type="title"/>
          </p:nvPr>
        </p:nvSpPr>
        <p:spPr>
          <a:xfrm>
            <a:off x="1732868" y="159971"/>
            <a:ext cx="4114571" cy="4296387"/>
          </a:xfrm>
        </p:spPr>
        <p:txBody>
          <a:bodyPr>
            <a:normAutofit/>
          </a:bodyPr>
          <a:lstStyle/>
          <a:p>
            <a:pPr algn="ctr"/>
            <a:r>
              <a:rPr lang="es-MX" dirty="0">
                <a:solidFill>
                  <a:schemeClr val="bg1"/>
                </a:solidFill>
              </a:rPr>
              <a:t>Google </a:t>
            </a:r>
            <a:r>
              <a:rPr lang="es-MX" dirty="0" err="1">
                <a:solidFill>
                  <a:schemeClr val="bg1"/>
                </a:solidFill>
              </a:rPr>
              <a:t>Colab</a:t>
            </a:r>
            <a:endParaRPr lang="es-MX" dirty="0">
              <a:solidFill>
                <a:schemeClr val="bg1"/>
              </a:solidFill>
            </a:endParaRPr>
          </a:p>
        </p:txBody>
      </p:sp>
      <p:grpSp>
        <p:nvGrpSpPr>
          <p:cNvPr id="14" name="Group 13">
            <a:extLst>
              <a:ext uri="{FF2B5EF4-FFF2-40B4-BE49-F238E27FC236}">
                <a16:creationId xmlns:a16="http://schemas.microsoft.com/office/drawing/2014/main" id="{B8CB1D39-68D4-4372-BF3B-2A33A7495E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5" name="Freeform: Shape 14">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18" name="Oval 17">
            <a:extLst>
              <a:ext uri="{FF2B5EF4-FFF2-40B4-BE49-F238E27FC236}">
                <a16:creationId xmlns:a16="http://schemas.microsoft.com/office/drawing/2014/main" id="{10C23D31-5B0A-4956-A59F-A24F57D2A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988" y="4604761"/>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F4C6FC6E-4AAF-4628-B7E5-85DF9D32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988" y="4604761"/>
            <a:ext cx="319941" cy="31994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Marcador de contenido 2">
            <a:extLst>
              <a:ext uri="{FF2B5EF4-FFF2-40B4-BE49-F238E27FC236}">
                <a16:creationId xmlns:a16="http://schemas.microsoft.com/office/drawing/2014/main" id="{12F8D332-84FF-8FC5-4019-2F023D5EC4B6}"/>
              </a:ext>
            </a:extLst>
          </p:cNvPr>
          <p:cNvSpPr>
            <a:spLocks noGrp="1"/>
          </p:cNvSpPr>
          <p:nvPr>
            <p:ph idx="1"/>
          </p:nvPr>
        </p:nvSpPr>
        <p:spPr>
          <a:xfrm>
            <a:off x="5640609" y="798490"/>
            <a:ext cx="5581233" cy="4975040"/>
          </a:xfrm>
        </p:spPr>
        <p:txBody>
          <a:bodyPr>
            <a:normAutofit fontScale="47500" lnSpcReduction="20000"/>
          </a:bodyPr>
          <a:lstStyle/>
          <a:p>
            <a:pPr algn="just">
              <a:buFont typeface="Wingdings" panose="05000000000000000000" pitchFamily="2" charset="2"/>
              <a:buChar char="Ø"/>
            </a:pPr>
            <a:r>
              <a:rPr lang="es-MX" sz="5100" dirty="0">
                <a:solidFill>
                  <a:schemeClr val="bg1"/>
                </a:solidFill>
                <a:latin typeface="Dubai Light" panose="020B0303030403030204" pitchFamily="34" charset="-78"/>
                <a:cs typeface="Dubai Light" panose="020B0303030403030204" pitchFamily="34" charset="-78"/>
              </a:rPr>
              <a:t>Es un servicio gratuito en la nube alojado por Google que permite a los usuarios escribir y ejecutar código Python con acceso gratuito a GPU y de fácil intercambio.</a:t>
            </a:r>
          </a:p>
          <a:p>
            <a:pPr algn="just">
              <a:buFont typeface="Wingdings" panose="05000000000000000000" pitchFamily="2" charset="2"/>
              <a:buChar char="Ø"/>
            </a:pPr>
            <a:endParaRPr lang="es-MX" sz="5100" dirty="0">
              <a:solidFill>
                <a:schemeClr val="bg1"/>
              </a:solidFill>
              <a:latin typeface="Dubai Light" panose="020B0303030403030204" pitchFamily="34" charset="-78"/>
              <a:cs typeface="Dubai Light" panose="020B0303030403030204" pitchFamily="34" charset="-78"/>
            </a:endParaRPr>
          </a:p>
          <a:p>
            <a:pPr lvl="0" algn="just">
              <a:buFont typeface="Wingdings" panose="05000000000000000000" pitchFamily="2" charset="2"/>
              <a:buChar char="Ø"/>
            </a:pPr>
            <a:r>
              <a:rPr lang="es-MX" sz="5100" dirty="0">
                <a:solidFill>
                  <a:schemeClr val="bg1"/>
                </a:solidFill>
                <a:latin typeface="Dubai Light" panose="020B0303030403030204" pitchFamily="34" charset="-78"/>
                <a:cs typeface="Dubai Light" panose="020B0303030403030204" pitchFamily="34" charset="-78"/>
              </a:rPr>
              <a:t>Puedes utilizar cualquier funcionalidad de Python sin instalación previa.</a:t>
            </a:r>
          </a:p>
          <a:p>
            <a:pPr lvl="0" algn="just">
              <a:buFont typeface="Wingdings" panose="05000000000000000000" pitchFamily="2" charset="2"/>
              <a:buChar char="Ø"/>
            </a:pPr>
            <a:endParaRPr lang="es-MX" sz="5100" dirty="0">
              <a:solidFill>
                <a:schemeClr val="bg1"/>
              </a:solidFill>
              <a:latin typeface="Dubai Light" panose="020B0303030403030204" pitchFamily="34" charset="-78"/>
              <a:cs typeface="Dubai Light" panose="020B0303030403030204" pitchFamily="34" charset="-78"/>
            </a:endParaRPr>
          </a:p>
          <a:p>
            <a:pPr lvl="0" algn="just">
              <a:buFont typeface="Wingdings" panose="05000000000000000000" pitchFamily="2" charset="2"/>
              <a:buChar char="Ø"/>
            </a:pPr>
            <a:r>
              <a:rPr lang="es-MX" sz="5100" dirty="0">
                <a:solidFill>
                  <a:schemeClr val="bg1"/>
                </a:solidFill>
                <a:latin typeface="Dubai Light" panose="020B0303030403030204" pitchFamily="34" charset="-78"/>
                <a:cs typeface="Dubai Light" panose="020B0303030403030204" pitchFamily="34" charset="-78"/>
              </a:rPr>
              <a:t>El cuaderno puede contener cualquier número de salidas </a:t>
            </a:r>
          </a:p>
          <a:p>
            <a:pPr marL="0" lvl="0" indent="0" algn="just">
              <a:buNone/>
            </a:pPr>
            <a:endParaRPr lang="es-MX" sz="5100" dirty="0">
              <a:solidFill>
                <a:schemeClr val="bg1"/>
              </a:solidFill>
              <a:latin typeface="Dubai Light" panose="020B0303030403030204" pitchFamily="34" charset="-78"/>
              <a:cs typeface="Dubai Light" panose="020B0303030403030204" pitchFamily="34" charset="-78"/>
            </a:endParaRPr>
          </a:p>
          <a:p>
            <a:pPr lvl="0" algn="just">
              <a:buFont typeface="Wingdings" panose="05000000000000000000" pitchFamily="2" charset="2"/>
              <a:buChar char="Ø"/>
            </a:pPr>
            <a:r>
              <a:rPr lang="es-MX" sz="5100" dirty="0">
                <a:solidFill>
                  <a:schemeClr val="bg1"/>
                </a:solidFill>
                <a:latin typeface="Dubai Light" panose="020B0303030403030204" pitchFamily="34" charset="-78"/>
                <a:cs typeface="Dubai Light" panose="020B0303030403030204" pitchFamily="34" charset="-78"/>
              </a:rPr>
              <a:t>Los documentos creados en Google </a:t>
            </a:r>
            <a:r>
              <a:rPr lang="es-MX" sz="5100" dirty="0" err="1">
                <a:solidFill>
                  <a:schemeClr val="bg1"/>
                </a:solidFill>
                <a:latin typeface="Dubai Light" panose="020B0303030403030204" pitchFamily="34" charset="-78"/>
                <a:cs typeface="Dubai Light" panose="020B0303030403030204" pitchFamily="34" charset="-78"/>
              </a:rPr>
              <a:t>Colab</a:t>
            </a:r>
            <a:r>
              <a:rPr lang="es-MX" sz="5100" dirty="0">
                <a:solidFill>
                  <a:schemeClr val="bg1"/>
                </a:solidFill>
                <a:latin typeface="Dubai Light" panose="020B0303030403030204" pitchFamily="34" charset="-78"/>
                <a:cs typeface="Dubai Light" panose="020B0303030403030204" pitchFamily="34" charset="-78"/>
              </a:rPr>
              <a:t> se pueden compartir a través de Google Drive o exportando tu notebook a </a:t>
            </a:r>
            <a:r>
              <a:rPr lang="es-MX" sz="5100" dirty="0" err="1">
                <a:solidFill>
                  <a:schemeClr val="bg1"/>
                </a:solidFill>
                <a:latin typeface="Dubai Light" panose="020B0303030403030204" pitchFamily="34" charset="-78"/>
                <a:cs typeface="Dubai Light" panose="020B0303030403030204" pitchFamily="34" charset="-78"/>
              </a:rPr>
              <a:t>Github</a:t>
            </a:r>
            <a:r>
              <a:rPr lang="es-MX" sz="5100" dirty="0">
                <a:solidFill>
                  <a:schemeClr val="bg1"/>
                </a:solidFill>
                <a:latin typeface="Dubai Light" panose="020B0303030403030204" pitchFamily="34" charset="-78"/>
                <a:cs typeface="Dubai Light" panose="020B0303030403030204" pitchFamily="34" charset="-78"/>
              </a:rPr>
              <a:t> </a:t>
            </a:r>
          </a:p>
          <a:p>
            <a:pPr>
              <a:buFont typeface="Wingdings" panose="05000000000000000000" pitchFamily="2" charset="2"/>
              <a:buChar char="Ø"/>
            </a:pPr>
            <a:endParaRPr lang="es-MX" sz="2000" dirty="0">
              <a:solidFill>
                <a:schemeClr val="bg1"/>
              </a:solidFill>
            </a:endParaRPr>
          </a:p>
          <a:p>
            <a:endParaRPr lang="es-MX" sz="2000" dirty="0">
              <a:solidFill>
                <a:schemeClr val="bg1"/>
              </a:solidFill>
            </a:endParaRPr>
          </a:p>
        </p:txBody>
      </p:sp>
      <p:grpSp>
        <p:nvGrpSpPr>
          <p:cNvPr id="22"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3" name="Freeform: Shape 22">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5" name="Imagen 4">
            <a:extLst>
              <a:ext uri="{FF2B5EF4-FFF2-40B4-BE49-F238E27FC236}">
                <a16:creationId xmlns:a16="http://schemas.microsoft.com/office/drawing/2014/main" id="{23F35C18-0FB7-E704-7548-217F879D9408}"/>
              </a:ext>
            </a:extLst>
          </p:cNvPr>
          <p:cNvPicPr>
            <a:picLocks noChangeAspect="1"/>
          </p:cNvPicPr>
          <p:nvPr/>
        </p:nvPicPr>
        <p:blipFill>
          <a:blip r:embed="rId3"/>
          <a:stretch>
            <a:fillRect/>
          </a:stretch>
        </p:blipFill>
        <p:spPr>
          <a:xfrm>
            <a:off x="701049" y="1884547"/>
            <a:ext cx="1160805" cy="823362"/>
          </a:xfrm>
          <a:prstGeom prst="rect">
            <a:avLst/>
          </a:prstGeom>
        </p:spPr>
      </p:pic>
      <p:sp>
        <p:nvSpPr>
          <p:cNvPr id="9" name="Diagrama de flujo: conector 8">
            <a:extLst>
              <a:ext uri="{FF2B5EF4-FFF2-40B4-BE49-F238E27FC236}">
                <a16:creationId xmlns:a16="http://schemas.microsoft.com/office/drawing/2014/main" id="{63935AF6-68F1-E577-1EB1-E6309A100A37}"/>
              </a:ext>
            </a:extLst>
          </p:cNvPr>
          <p:cNvSpPr/>
          <p:nvPr/>
        </p:nvSpPr>
        <p:spPr>
          <a:xfrm>
            <a:off x="4271863" y="512732"/>
            <a:ext cx="1221124" cy="1290247"/>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a:p>
        </p:txBody>
      </p:sp>
      <p:sp>
        <p:nvSpPr>
          <p:cNvPr id="4" name="CuadroTexto 3">
            <a:extLst>
              <a:ext uri="{FF2B5EF4-FFF2-40B4-BE49-F238E27FC236}">
                <a16:creationId xmlns:a16="http://schemas.microsoft.com/office/drawing/2014/main" id="{23813438-EEEC-BE7F-3CF6-67B94895ECCE}"/>
              </a:ext>
            </a:extLst>
          </p:cNvPr>
          <p:cNvSpPr txBox="1"/>
          <p:nvPr/>
        </p:nvSpPr>
        <p:spPr>
          <a:xfrm>
            <a:off x="701049" y="3330924"/>
            <a:ext cx="5195532" cy="461665"/>
          </a:xfrm>
          <a:prstGeom prst="rect">
            <a:avLst/>
          </a:prstGeom>
          <a:noFill/>
        </p:spPr>
        <p:txBody>
          <a:bodyPr wrap="square" rtlCol="0">
            <a:spAutoFit/>
          </a:bodyPr>
          <a:lstStyle/>
          <a:p>
            <a:r>
              <a:rPr lang="es-MX" sz="2400" dirty="0">
                <a:solidFill>
                  <a:schemeClr val="bg1"/>
                </a:solidFill>
              </a:rPr>
              <a:t>https://colab.research.google.com</a:t>
            </a:r>
          </a:p>
        </p:txBody>
      </p:sp>
    </p:spTree>
    <p:extLst>
      <p:ext uri="{BB962C8B-B14F-4D97-AF65-F5344CB8AC3E}">
        <p14:creationId xmlns:p14="http://schemas.microsoft.com/office/powerpoint/2010/main" val="468322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DD8E39-EA14-4679-9655-1BFF5A7B63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nterfaz de usuario gráfica, Texto, Aplicación&#10;&#10;El contenido generado por IA puede ser incorrecto.">
            <a:extLst>
              <a:ext uri="{FF2B5EF4-FFF2-40B4-BE49-F238E27FC236}">
                <a16:creationId xmlns:a16="http://schemas.microsoft.com/office/drawing/2014/main" id="{36AF2188-A6A0-AFA4-AC4F-3FD6BFFCE92E}"/>
              </a:ext>
            </a:extLst>
          </p:cNvPr>
          <p:cNvPicPr>
            <a:picLocks noChangeAspect="1"/>
          </p:cNvPicPr>
          <p:nvPr/>
        </p:nvPicPr>
        <p:blipFill>
          <a:blip r:embed="rId2"/>
          <a:srcRect l="6420" r="6469" b="1"/>
          <a:stretch>
            <a:fillRect/>
          </a:stretch>
        </p:blipFill>
        <p:spPr>
          <a:xfrm>
            <a:off x="20" y="10"/>
            <a:ext cx="12191980" cy="6857990"/>
          </a:xfrm>
          <a:custGeom>
            <a:avLst/>
            <a:gdLst/>
            <a:ahLst/>
            <a:cxnLst/>
            <a:rect l="l" t="t" r="r" b="b"/>
            <a:pathLst>
              <a:path w="12192000" h="6858000">
                <a:moveTo>
                  <a:pt x="0" y="0"/>
                </a:moveTo>
                <a:lnTo>
                  <a:pt x="12192000" y="0"/>
                </a:lnTo>
                <a:lnTo>
                  <a:pt x="12192000" y="6858000"/>
                </a:lnTo>
                <a:lnTo>
                  <a:pt x="11560655" y="6858000"/>
                </a:lnTo>
                <a:lnTo>
                  <a:pt x="11572884" y="6759738"/>
                </a:lnTo>
                <a:cubicBezTo>
                  <a:pt x="11663744" y="6693104"/>
                  <a:pt x="11749315" y="6619456"/>
                  <a:pt x="11812292" y="6532282"/>
                </a:cubicBezTo>
                <a:cubicBezTo>
                  <a:pt x="11851232" y="6478675"/>
                  <a:pt x="11886807" y="6425068"/>
                  <a:pt x="11956995" y="6386992"/>
                </a:cubicBezTo>
                <a:cubicBezTo>
                  <a:pt x="11918054" y="6334888"/>
                  <a:pt x="11851232" y="6322863"/>
                  <a:pt x="11801234" y="6284788"/>
                </a:cubicBezTo>
                <a:cubicBezTo>
                  <a:pt x="11797390" y="6253224"/>
                  <a:pt x="11876711" y="6262743"/>
                  <a:pt x="11856520" y="6193604"/>
                </a:cubicBezTo>
                <a:cubicBezTo>
                  <a:pt x="11829119" y="6101419"/>
                  <a:pt x="11858923" y="5996209"/>
                  <a:pt x="11722875" y="5956630"/>
                </a:cubicBezTo>
                <a:cubicBezTo>
                  <a:pt x="11686819" y="5866950"/>
                  <a:pt x="11676724" y="5723664"/>
                  <a:pt x="11763258" y="5635988"/>
                </a:cubicBezTo>
                <a:cubicBezTo>
                  <a:pt x="11892094" y="5505226"/>
                  <a:pt x="11871424" y="5422059"/>
                  <a:pt x="11706050" y="5351418"/>
                </a:cubicBezTo>
                <a:cubicBezTo>
                  <a:pt x="11684896" y="5342400"/>
                  <a:pt x="11707491" y="4786287"/>
                  <a:pt x="11697876" y="4763241"/>
                </a:cubicBezTo>
                <a:cubicBezTo>
                  <a:pt x="11713260" y="4731677"/>
                  <a:pt x="11749315" y="4739192"/>
                  <a:pt x="11776236" y="4730675"/>
                </a:cubicBezTo>
                <a:cubicBezTo>
                  <a:pt x="11894018" y="4694603"/>
                  <a:pt x="11897864" y="4694603"/>
                  <a:pt x="11868540" y="4584884"/>
                </a:cubicBezTo>
                <a:cubicBezTo>
                  <a:pt x="11859884" y="4551817"/>
                  <a:pt x="11880076" y="4538289"/>
                  <a:pt x="11898825" y="4517749"/>
                </a:cubicBezTo>
                <a:cubicBezTo>
                  <a:pt x="11969013" y="4441095"/>
                  <a:pt x="11969494" y="4440094"/>
                  <a:pt x="11897864" y="4375464"/>
                </a:cubicBezTo>
                <a:cubicBezTo>
                  <a:pt x="11877192" y="4356928"/>
                  <a:pt x="11863252" y="4336887"/>
                  <a:pt x="11854116" y="4311838"/>
                </a:cubicBezTo>
                <a:cubicBezTo>
                  <a:pt x="11837290" y="4266245"/>
                  <a:pt x="11837771" y="4228169"/>
                  <a:pt x="11901709" y="4203620"/>
                </a:cubicBezTo>
                <a:cubicBezTo>
                  <a:pt x="11946418" y="4186086"/>
                  <a:pt x="11971897" y="4166044"/>
                  <a:pt x="11974782" y="4114442"/>
                </a:cubicBezTo>
                <a:cubicBezTo>
                  <a:pt x="11976706" y="4071355"/>
                  <a:pt x="11981993" y="4043299"/>
                  <a:pt x="11932476" y="4024762"/>
                </a:cubicBezTo>
                <a:cubicBezTo>
                  <a:pt x="11892576" y="4009732"/>
                  <a:pt x="11881038" y="3977668"/>
                  <a:pt x="11885365" y="3939592"/>
                </a:cubicBezTo>
                <a:cubicBezTo>
                  <a:pt x="11895460" y="3846405"/>
                  <a:pt x="11841137" y="3791796"/>
                  <a:pt x="11751719" y="3749211"/>
                </a:cubicBezTo>
                <a:cubicBezTo>
                  <a:pt x="11666628" y="3708629"/>
                  <a:pt x="11592115" y="3654019"/>
                  <a:pt x="11513754" y="3604420"/>
                </a:cubicBezTo>
                <a:cubicBezTo>
                  <a:pt x="11426740" y="3549310"/>
                  <a:pt x="11325786" y="3516243"/>
                  <a:pt x="11220504" y="3488188"/>
                </a:cubicBezTo>
                <a:cubicBezTo>
                  <a:pt x="11239734" y="3448108"/>
                  <a:pt x="11306076" y="3470653"/>
                  <a:pt x="11312805" y="3414541"/>
                </a:cubicBezTo>
                <a:cubicBezTo>
                  <a:pt x="11148394" y="3366945"/>
                  <a:pt x="10991193" y="3295301"/>
                  <a:pt x="10805146" y="3277767"/>
                </a:cubicBezTo>
                <a:cubicBezTo>
                  <a:pt x="10955618" y="3286784"/>
                  <a:pt x="11092147" y="3222154"/>
                  <a:pt x="11234926" y="3203117"/>
                </a:cubicBezTo>
                <a:cubicBezTo>
                  <a:pt x="11248386" y="3171554"/>
                  <a:pt x="11217140" y="3179569"/>
                  <a:pt x="11204640" y="3174060"/>
                </a:cubicBezTo>
                <a:cubicBezTo>
                  <a:pt x="11192140" y="3168047"/>
                  <a:pt x="11176757" y="3166042"/>
                  <a:pt x="11174834" y="3143498"/>
                </a:cubicBezTo>
                <a:cubicBezTo>
                  <a:pt x="11243580" y="3110932"/>
                  <a:pt x="11329632" y="3132475"/>
                  <a:pt x="11400780" y="3099410"/>
                </a:cubicBezTo>
                <a:cubicBezTo>
                  <a:pt x="11384916" y="3051314"/>
                  <a:pt x="11323382" y="3080371"/>
                  <a:pt x="11297902" y="3041793"/>
                </a:cubicBezTo>
                <a:cubicBezTo>
                  <a:pt x="11364246" y="3034780"/>
                  <a:pt x="11425779" y="3031774"/>
                  <a:pt x="11485870" y="3021253"/>
                </a:cubicBezTo>
                <a:cubicBezTo>
                  <a:pt x="11532984" y="3013236"/>
                  <a:pt x="11545964" y="2972154"/>
                  <a:pt x="11513754" y="2944098"/>
                </a:cubicBezTo>
                <a:cubicBezTo>
                  <a:pt x="11484909" y="2919049"/>
                  <a:pt x="11442604" y="2917044"/>
                  <a:pt x="11405107" y="2906523"/>
                </a:cubicBezTo>
                <a:cubicBezTo>
                  <a:pt x="11137817" y="2833377"/>
                  <a:pt x="10857066" y="2809829"/>
                  <a:pt x="10572950" y="2803317"/>
                </a:cubicBezTo>
                <a:cubicBezTo>
                  <a:pt x="10117210" y="2792795"/>
                  <a:pt x="9660028" y="2793297"/>
                  <a:pt x="9205250" y="2778767"/>
                </a:cubicBezTo>
                <a:cubicBezTo>
                  <a:pt x="8996489" y="2772379"/>
                  <a:pt x="8788540" y="2761765"/>
                  <a:pt x="8579578" y="2759181"/>
                </a:cubicBezTo>
                <a:cubicBezTo>
                  <a:pt x="8509922" y="2758320"/>
                  <a:pt x="8440155" y="2758352"/>
                  <a:pt x="8370208" y="2759730"/>
                </a:cubicBezTo>
                <a:cubicBezTo>
                  <a:pt x="8070708" y="2765742"/>
                  <a:pt x="7771690" y="2764238"/>
                  <a:pt x="7470748" y="2819849"/>
                </a:cubicBezTo>
                <a:cubicBezTo>
                  <a:pt x="7316911" y="2848407"/>
                  <a:pt x="7156825" y="2838887"/>
                  <a:pt x="7001547" y="2861432"/>
                </a:cubicBezTo>
                <a:cubicBezTo>
                  <a:pt x="6765024" y="2896002"/>
                  <a:pt x="6528501" y="2936583"/>
                  <a:pt x="6295343" y="2988688"/>
                </a:cubicBezTo>
                <a:cubicBezTo>
                  <a:pt x="6222271" y="3005220"/>
                  <a:pt x="6131892" y="3015241"/>
                  <a:pt x="6075166" y="3078367"/>
                </a:cubicBezTo>
                <a:cubicBezTo>
                  <a:pt x="5985266" y="3038288"/>
                  <a:pt x="5929502" y="3113938"/>
                  <a:pt x="5859314" y="3139490"/>
                </a:cubicBezTo>
                <a:cubicBezTo>
                  <a:pt x="5831912" y="3149510"/>
                  <a:pt x="5795857" y="3163538"/>
                  <a:pt x="5800183" y="3195101"/>
                </a:cubicBezTo>
                <a:cubicBezTo>
                  <a:pt x="5804030" y="3234680"/>
                  <a:pt x="5844410" y="3260231"/>
                  <a:pt x="5882870" y="3252215"/>
                </a:cubicBezTo>
                <a:cubicBezTo>
                  <a:pt x="6002574" y="3227164"/>
                  <a:pt x="6109777" y="3283277"/>
                  <a:pt x="6232848" y="3274760"/>
                </a:cubicBezTo>
                <a:cubicBezTo>
                  <a:pt x="6125643" y="3298808"/>
                  <a:pt x="6018918" y="3323358"/>
                  <a:pt x="5911715" y="3347407"/>
                </a:cubicBezTo>
                <a:cubicBezTo>
                  <a:pt x="6070839" y="3366444"/>
                  <a:pt x="6227559" y="3332376"/>
                  <a:pt x="6384279" y="3312836"/>
                </a:cubicBezTo>
                <a:cubicBezTo>
                  <a:pt x="6434757" y="3306824"/>
                  <a:pt x="6513117" y="3260732"/>
                  <a:pt x="6526097" y="3325362"/>
                </a:cubicBezTo>
                <a:cubicBezTo>
                  <a:pt x="6534750" y="3368448"/>
                  <a:pt x="6450622" y="3371454"/>
                  <a:pt x="6403028" y="3383478"/>
                </a:cubicBezTo>
                <a:cubicBezTo>
                  <a:pt x="6192945" y="3435081"/>
                  <a:pt x="5979497" y="3465141"/>
                  <a:pt x="5767013" y="3500713"/>
                </a:cubicBezTo>
                <a:cubicBezTo>
                  <a:pt x="5746822" y="3504220"/>
                  <a:pt x="5720381" y="3501214"/>
                  <a:pt x="5706920" y="3511233"/>
                </a:cubicBezTo>
                <a:cubicBezTo>
                  <a:pt x="5598272" y="3591895"/>
                  <a:pt x="5460782" y="3618449"/>
                  <a:pt x="5310793" y="3677066"/>
                </a:cubicBezTo>
                <a:cubicBezTo>
                  <a:pt x="5405498" y="3704622"/>
                  <a:pt x="5469435" y="3648007"/>
                  <a:pt x="5548276" y="3660533"/>
                </a:cubicBezTo>
                <a:cubicBezTo>
                  <a:pt x="5467993" y="3721154"/>
                  <a:pt x="5374730" y="3732677"/>
                  <a:pt x="5293005" y="3765743"/>
                </a:cubicBezTo>
                <a:cubicBezTo>
                  <a:pt x="5234355" y="3789291"/>
                  <a:pt x="5016580" y="3862938"/>
                  <a:pt x="4983410" y="3883981"/>
                </a:cubicBezTo>
                <a:cubicBezTo>
                  <a:pt x="4883416" y="3949110"/>
                  <a:pt x="4756501" y="3979672"/>
                  <a:pt x="4674775" y="4068850"/>
                </a:cubicBezTo>
                <a:cubicBezTo>
                  <a:pt x="4617087" y="4131477"/>
                  <a:pt x="4520939" y="4119952"/>
                  <a:pt x="4453155" y="4163539"/>
                </a:cubicBezTo>
                <a:cubicBezTo>
                  <a:pt x="4429119" y="4204622"/>
                  <a:pt x="4475751" y="4215143"/>
                  <a:pt x="4492095" y="4237188"/>
                </a:cubicBezTo>
                <a:cubicBezTo>
                  <a:pt x="4513728" y="4266746"/>
                  <a:pt x="4475269" y="4283280"/>
                  <a:pt x="4464213" y="4318851"/>
                </a:cubicBezTo>
                <a:cubicBezTo>
                  <a:pt x="4591608" y="4278771"/>
                  <a:pt x="4713234" y="4255223"/>
                  <a:pt x="4857456" y="4241696"/>
                </a:cubicBezTo>
                <a:cubicBezTo>
                  <a:pt x="4809862" y="4299311"/>
                  <a:pt x="4752174" y="4274261"/>
                  <a:pt x="4713234" y="4295303"/>
                </a:cubicBezTo>
                <a:cubicBezTo>
                  <a:pt x="4687756" y="4308830"/>
                  <a:pt x="4648816" y="4314843"/>
                  <a:pt x="4656026" y="4348410"/>
                </a:cubicBezTo>
                <a:cubicBezTo>
                  <a:pt x="4661795" y="4374963"/>
                  <a:pt x="4694486" y="4371456"/>
                  <a:pt x="4718523" y="4368951"/>
                </a:cubicBezTo>
                <a:cubicBezTo>
                  <a:pt x="4810825" y="4359433"/>
                  <a:pt x="4900722" y="4356425"/>
                  <a:pt x="4989178" y="4420054"/>
                </a:cubicBezTo>
                <a:cubicBezTo>
                  <a:pt x="4764193" y="4512739"/>
                  <a:pt x="4505557" y="4473661"/>
                  <a:pt x="4304127" y="4609933"/>
                </a:cubicBezTo>
                <a:cubicBezTo>
                  <a:pt x="4332491" y="4652018"/>
                  <a:pt x="4372871" y="4629473"/>
                  <a:pt x="4402677" y="4624463"/>
                </a:cubicBezTo>
                <a:cubicBezTo>
                  <a:pt x="4598338" y="4590394"/>
                  <a:pt x="5297331" y="4651016"/>
                  <a:pt x="5398287" y="4608430"/>
                </a:cubicBezTo>
                <a:cubicBezTo>
                  <a:pt x="5460301" y="4582379"/>
                  <a:pt x="5525682" y="4569853"/>
                  <a:pt x="5592504" y="4585886"/>
                </a:cubicBezTo>
                <a:cubicBezTo>
                  <a:pt x="5656923" y="4601416"/>
                  <a:pt x="5640578" y="4819353"/>
                  <a:pt x="5411266" y="4964142"/>
                </a:cubicBezTo>
                <a:cubicBezTo>
                  <a:pt x="5378575" y="4984684"/>
                  <a:pt x="5524721" y="5014244"/>
                  <a:pt x="5480493" y="5031277"/>
                </a:cubicBezTo>
                <a:cubicBezTo>
                  <a:pt x="5445880" y="5044804"/>
                  <a:pt x="5276179" y="5037289"/>
                  <a:pt x="5233393" y="5047810"/>
                </a:cubicBezTo>
                <a:cubicBezTo>
                  <a:pt x="5216567" y="5052318"/>
                  <a:pt x="4701216" y="5221157"/>
                  <a:pt x="4750251" y="5256728"/>
                </a:cubicBezTo>
                <a:cubicBezTo>
                  <a:pt x="4896877" y="5363441"/>
                  <a:pt x="5388190" y="5558833"/>
                  <a:pt x="4508440" y="5624965"/>
                </a:cubicBezTo>
                <a:cubicBezTo>
                  <a:pt x="4536323" y="5663542"/>
                  <a:pt x="4613241" y="5638994"/>
                  <a:pt x="4602665" y="5706629"/>
                </a:cubicBezTo>
                <a:cubicBezTo>
                  <a:pt x="4485845" y="5743202"/>
                  <a:pt x="4350758" y="5741198"/>
                  <a:pt x="4215189" y="5797811"/>
                </a:cubicBezTo>
                <a:cubicBezTo>
                  <a:pt x="4276245" y="5838893"/>
                  <a:pt x="4346432" y="5813844"/>
                  <a:pt x="4407966" y="5826870"/>
                </a:cubicBezTo>
                <a:cubicBezTo>
                  <a:pt x="4373353" y="5878473"/>
                  <a:pt x="4313741" y="5870457"/>
                  <a:pt x="4265186" y="5881478"/>
                </a:cubicBezTo>
                <a:cubicBezTo>
                  <a:pt x="4220479" y="5892001"/>
                  <a:pt x="4125774" y="5981680"/>
                  <a:pt x="4145964" y="5977170"/>
                </a:cubicBezTo>
                <a:cubicBezTo>
                  <a:pt x="4332971" y="5937091"/>
                  <a:pt x="4522862" y="5948113"/>
                  <a:pt x="4710350" y="5909035"/>
                </a:cubicBezTo>
                <a:cubicBezTo>
                  <a:pt x="4772366" y="5896009"/>
                  <a:pt x="4842554" y="5870958"/>
                  <a:pt x="4870916" y="5949616"/>
                </a:cubicBezTo>
                <a:cubicBezTo>
                  <a:pt x="4879571" y="5972663"/>
                  <a:pt x="4873320" y="5980177"/>
                  <a:pt x="4960333" y="5949115"/>
                </a:cubicBezTo>
                <a:cubicBezTo>
                  <a:pt x="4994466" y="5937091"/>
                  <a:pt x="5039656" y="5924065"/>
                  <a:pt x="5073788" y="5953623"/>
                </a:cubicBezTo>
                <a:cubicBezTo>
                  <a:pt x="5052154" y="5990698"/>
                  <a:pt x="5010331" y="5979675"/>
                  <a:pt x="4979084" y="5990197"/>
                </a:cubicBezTo>
                <a:cubicBezTo>
                  <a:pt x="4896397" y="6017250"/>
                  <a:pt x="5180513" y="6120457"/>
                  <a:pt x="5100228" y="6151519"/>
                </a:cubicBezTo>
                <a:cubicBezTo>
                  <a:pt x="4935817" y="6215148"/>
                  <a:pt x="4832938" y="6196611"/>
                  <a:pt x="4666602" y="6266250"/>
                </a:cubicBezTo>
                <a:cubicBezTo>
                  <a:pt x="4723331" y="6264746"/>
                  <a:pt x="4706024" y="6288795"/>
                  <a:pt x="4762750" y="6288795"/>
                </a:cubicBezTo>
                <a:cubicBezTo>
                  <a:pt x="4788229" y="6288795"/>
                  <a:pt x="4815151" y="6294807"/>
                  <a:pt x="4815151" y="6322363"/>
                </a:cubicBezTo>
                <a:cubicBezTo>
                  <a:pt x="4815151" y="6348414"/>
                  <a:pt x="4516613" y="6491199"/>
                  <a:pt x="4558918" y="6504727"/>
                </a:cubicBezTo>
                <a:cubicBezTo>
                  <a:pt x="4674295" y="6541299"/>
                  <a:pt x="4970431" y="6429075"/>
                  <a:pt x="4899280" y="6480679"/>
                </a:cubicBezTo>
                <a:cubicBezTo>
                  <a:pt x="4791114" y="6559337"/>
                  <a:pt x="4774769" y="6574868"/>
                  <a:pt x="4692563" y="6586391"/>
                </a:cubicBezTo>
                <a:cubicBezTo>
                  <a:pt x="4621894" y="6596411"/>
                  <a:pt x="4373353" y="6816352"/>
                  <a:pt x="4303645" y="6834888"/>
                </a:cubicBezTo>
                <a:cubicBezTo>
                  <a:pt x="4288262" y="6838896"/>
                  <a:pt x="4291687" y="6845065"/>
                  <a:pt x="4307829" y="6852361"/>
                </a:cubicBezTo>
                <a:lnTo>
                  <a:pt x="4323786" y="6858000"/>
                </a:lnTo>
                <a:lnTo>
                  <a:pt x="0" y="6858000"/>
                </a:lnTo>
                <a:close/>
              </a:path>
            </a:pathLst>
          </a:custGeom>
        </p:spPr>
      </p:pic>
      <p:sp>
        <p:nvSpPr>
          <p:cNvPr id="2" name="Título 1">
            <a:extLst>
              <a:ext uri="{FF2B5EF4-FFF2-40B4-BE49-F238E27FC236}">
                <a16:creationId xmlns:a16="http://schemas.microsoft.com/office/drawing/2014/main" id="{7AB1E47E-49C0-B6DF-FB50-9CFA6AC69C44}"/>
              </a:ext>
            </a:extLst>
          </p:cNvPr>
          <p:cNvSpPr>
            <a:spLocks noGrp="1"/>
          </p:cNvSpPr>
          <p:nvPr>
            <p:ph type="title"/>
          </p:nvPr>
        </p:nvSpPr>
        <p:spPr>
          <a:xfrm>
            <a:off x="5801709" y="3159719"/>
            <a:ext cx="5552090" cy="1336081"/>
          </a:xfrm>
        </p:spPr>
        <p:txBody>
          <a:bodyPr vert="horz" lIns="91440" tIns="45720" rIns="91440" bIns="45720" rtlCol="0" anchor="b">
            <a:normAutofit/>
          </a:bodyPr>
          <a:lstStyle/>
          <a:p>
            <a:r>
              <a:rPr lang="en-US"/>
              <a:t>Google Colab</a:t>
            </a:r>
          </a:p>
        </p:txBody>
      </p:sp>
      <p:sp>
        <p:nvSpPr>
          <p:cNvPr id="5" name="CuadroTexto 4">
            <a:extLst>
              <a:ext uri="{FF2B5EF4-FFF2-40B4-BE49-F238E27FC236}">
                <a16:creationId xmlns:a16="http://schemas.microsoft.com/office/drawing/2014/main" id="{7BE59BF1-776A-225E-5985-BD0E4B61402B}"/>
              </a:ext>
            </a:extLst>
          </p:cNvPr>
          <p:cNvSpPr txBox="1"/>
          <p:nvPr/>
        </p:nvSpPr>
        <p:spPr>
          <a:xfrm>
            <a:off x="5801709" y="4572000"/>
            <a:ext cx="5552089" cy="1647825"/>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u="sng">
                <a:hlinkClick r:id="rId3"/>
              </a:rPr>
              <a:t>https://colab.research.google.com/</a:t>
            </a:r>
            <a:endParaRPr lang="en-US" sz="2000"/>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1827157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D49CCB-2C35-CBDC-5E22-900915248762}"/>
              </a:ext>
            </a:extLst>
          </p:cNvPr>
          <p:cNvSpPr>
            <a:spLocks noGrp="1"/>
          </p:cNvSpPr>
          <p:nvPr>
            <p:ph type="title"/>
          </p:nvPr>
        </p:nvSpPr>
        <p:spPr>
          <a:xfrm>
            <a:off x="739877" y="0"/>
            <a:ext cx="10515600" cy="1325563"/>
          </a:xfrm>
        </p:spPr>
        <p:txBody>
          <a:bodyPr/>
          <a:lstStyle/>
          <a:p>
            <a:r>
              <a:rPr lang="es-MX" dirty="0"/>
              <a:t>Conociendo Google </a:t>
            </a:r>
            <a:r>
              <a:rPr lang="es-MX" dirty="0" err="1"/>
              <a:t>Colab</a:t>
            </a:r>
            <a:endParaRPr lang="es-MX" dirty="0"/>
          </a:p>
        </p:txBody>
      </p:sp>
      <p:pic>
        <p:nvPicPr>
          <p:cNvPr id="4" name="Imagen 3">
            <a:extLst>
              <a:ext uri="{FF2B5EF4-FFF2-40B4-BE49-F238E27FC236}">
                <a16:creationId xmlns:a16="http://schemas.microsoft.com/office/drawing/2014/main" id="{AA9079BE-2913-5004-9CF7-B793EB0CF16E}"/>
              </a:ext>
            </a:extLst>
          </p:cNvPr>
          <p:cNvPicPr>
            <a:picLocks noChangeAspect="1"/>
          </p:cNvPicPr>
          <p:nvPr/>
        </p:nvPicPr>
        <p:blipFill>
          <a:blip r:embed="rId2"/>
          <a:stretch>
            <a:fillRect/>
          </a:stretch>
        </p:blipFill>
        <p:spPr>
          <a:xfrm>
            <a:off x="936523" y="1130710"/>
            <a:ext cx="9379539" cy="4246761"/>
          </a:xfrm>
          <a:prstGeom prst="rect">
            <a:avLst/>
          </a:prstGeom>
        </p:spPr>
      </p:pic>
      <p:sp>
        <p:nvSpPr>
          <p:cNvPr id="5" name="CuadroTexto 4">
            <a:extLst>
              <a:ext uri="{FF2B5EF4-FFF2-40B4-BE49-F238E27FC236}">
                <a16:creationId xmlns:a16="http://schemas.microsoft.com/office/drawing/2014/main" id="{07A9399E-FA3F-DBDB-7D62-A2274245FD32}"/>
              </a:ext>
            </a:extLst>
          </p:cNvPr>
          <p:cNvSpPr txBox="1"/>
          <p:nvPr/>
        </p:nvSpPr>
        <p:spPr>
          <a:xfrm>
            <a:off x="2776725" y="3594615"/>
            <a:ext cx="7665133" cy="2308324"/>
          </a:xfrm>
          <a:prstGeom prst="rect">
            <a:avLst/>
          </a:prstGeom>
          <a:noFill/>
        </p:spPr>
        <p:txBody>
          <a:bodyPr wrap="square" rtlCol="0">
            <a:spAutoFit/>
          </a:bodyPr>
          <a:lstStyle/>
          <a:p>
            <a:pPr marL="285750" indent="-285750" algn="ctr">
              <a:buFont typeface="Wingdings" panose="05000000000000000000" pitchFamily="2" charset="2"/>
              <a:buChar char="Ø"/>
            </a:pPr>
            <a:r>
              <a:rPr lang="es-MX" sz="3600" dirty="0"/>
              <a:t>Abrir  archivo</a:t>
            </a:r>
          </a:p>
          <a:p>
            <a:pPr marL="285750" indent="-285750" algn="ctr">
              <a:buFont typeface="Wingdings" panose="05000000000000000000" pitchFamily="2" charset="2"/>
              <a:buChar char="Ø"/>
            </a:pPr>
            <a:r>
              <a:rPr lang="es-MX" sz="3600" dirty="0"/>
              <a:t>Nombrar Archivo</a:t>
            </a:r>
          </a:p>
          <a:p>
            <a:pPr marL="285750" indent="-285750" algn="ctr">
              <a:buFont typeface="Wingdings" panose="05000000000000000000" pitchFamily="2" charset="2"/>
              <a:buChar char="Ø"/>
            </a:pPr>
            <a:r>
              <a:rPr lang="es-MX" sz="3600" dirty="0"/>
              <a:t>Fragmentos de Códigos</a:t>
            </a:r>
          </a:p>
          <a:p>
            <a:pPr marL="285750" indent="-285750" algn="ctr">
              <a:buFont typeface="Wingdings" panose="05000000000000000000" pitchFamily="2" charset="2"/>
              <a:buChar char="Ø"/>
            </a:pPr>
            <a:r>
              <a:rPr lang="es-MX" sz="3600" dirty="0"/>
              <a:t>Acceso Gratis a GPU</a:t>
            </a:r>
          </a:p>
        </p:txBody>
      </p:sp>
    </p:spTree>
    <p:extLst>
      <p:ext uri="{BB962C8B-B14F-4D97-AF65-F5344CB8AC3E}">
        <p14:creationId xmlns:p14="http://schemas.microsoft.com/office/powerpoint/2010/main" val="2012814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BB06CF6-6624-9117-3639-F7FCFC58B337}"/>
              </a:ext>
            </a:extLst>
          </p:cNvPr>
          <p:cNvSpPr>
            <a:spLocks noGrp="1"/>
          </p:cNvSpPr>
          <p:nvPr>
            <p:ph type="title"/>
          </p:nvPr>
        </p:nvSpPr>
        <p:spPr>
          <a:xfrm>
            <a:off x="4216384" y="152688"/>
            <a:ext cx="3880338" cy="1067209"/>
          </a:xfrm>
        </p:spPr>
        <p:txBody>
          <a:bodyPr>
            <a:normAutofit/>
          </a:bodyPr>
          <a:lstStyle/>
          <a:p>
            <a:r>
              <a:rPr lang="es-MX" sz="3400" dirty="0">
                <a:solidFill>
                  <a:schemeClr val="bg1"/>
                </a:solidFill>
              </a:rPr>
              <a:t>Principales Librerías</a:t>
            </a:r>
          </a:p>
        </p:txBody>
      </p:sp>
      <p:pic>
        <p:nvPicPr>
          <p:cNvPr id="4" name="Imagen 3">
            <a:extLst>
              <a:ext uri="{FF2B5EF4-FFF2-40B4-BE49-F238E27FC236}">
                <a16:creationId xmlns:a16="http://schemas.microsoft.com/office/drawing/2014/main" id="{5989289F-F14A-A66A-15D1-0285E74F3C48}"/>
              </a:ext>
            </a:extLst>
          </p:cNvPr>
          <p:cNvPicPr>
            <a:picLocks noChangeAspect="1"/>
          </p:cNvPicPr>
          <p:nvPr/>
        </p:nvPicPr>
        <p:blipFill>
          <a:blip r:embed="rId3"/>
          <a:srcRect l="16553" r="8544"/>
          <a:stretch>
            <a:fillRect/>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11" name="Group 10">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2" name="Freeform: Shape 11">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3" name="Marcador de contenido 2">
            <a:extLst>
              <a:ext uri="{FF2B5EF4-FFF2-40B4-BE49-F238E27FC236}">
                <a16:creationId xmlns:a16="http://schemas.microsoft.com/office/drawing/2014/main" id="{92CF2F96-5754-9BFB-06C4-ED64C5DAC1D9}"/>
              </a:ext>
            </a:extLst>
          </p:cNvPr>
          <p:cNvSpPr>
            <a:spLocks noGrp="1"/>
          </p:cNvSpPr>
          <p:nvPr>
            <p:ph idx="1"/>
          </p:nvPr>
        </p:nvSpPr>
        <p:spPr>
          <a:xfrm>
            <a:off x="6234868" y="1095407"/>
            <a:ext cx="5447511" cy="5076300"/>
          </a:xfrm>
        </p:spPr>
        <p:txBody>
          <a:bodyPr>
            <a:normAutofit/>
          </a:bodyPr>
          <a:lstStyle/>
          <a:p>
            <a:pPr>
              <a:spcAft>
                <a:spcPts val="800"/>
              </a:spcAft>
              <a:buNone/>
            </a:pPr>
            <a:r>
              <a:rPr lang="es-MX" sz="2600" b="1" i="1" kern="100" dirty="0" err="1">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NumPy</a:t>
            </a:r>
            <a:endParaRPr lang="es-MX" sz="2600" b="1" i="1"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endParaRPr>
          </a:p>
          <a:p>
            <a:pPr marL="342900" lvl="0" indent="-342900">
              <a:buFont typeface="+mj-lt"/>
              <a:buAutoNum type="alphaLcParenR"/>
            </a:pPr>
            <a:r>
              <a:rPr lang="es-MX"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Listas multidimensionales (</a:t>
            </a:r>
            <a:r>
              <a:rPr lang="es-MX" sz="2000" kern="100" dirty="0" err="1">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ndarray</a:t>
            </a:r>
            <a:r>
              <a:rPr lang="es-MX"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 en Python.</a:t>
            </a:r>
          </a:p>
          <a:p>
            <a:pPr marL="342900" lvl="0" indent="-342900">
              <a:buFont typeface="+mj-lt"/>
              <a:buAutoNum type="alphaLcParenR"/>
            </a:pPr>
            <a:r>
              <a:rPr lang="pt-BR"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Operaciones matemáticas rápidas: suma, resta, produto, etc.</a:t>
            </a:r>
            <a:endParaRPr lang="es-MX"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endParaRPr>
          </a:p>
          <a:p>
            <a:pPr marL="342900" lvl="0" indent="-342900">
              <a:spcAft>
                <a:spcPts val="800"/>
              </a:spcAft>
              <a:buFont typeface="+mj-lt"/>
              <a:buAutoNum type="alphaLcParenR"/>
            </a:pPr>
            <a:r>
              <a:rPr lang="pt-BR"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Álgebra lineal</a:t>
            </a:r>
            <a:endParaRPr lang="es-MX"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endParaRPr>
          </a:p>
          <a:p>
            <a:pPr>
              <a:spcAft>
                <a:spcPts val="800"/>
              </a:spcAft>
              <a:buNone/>
            </a:pPr>
            <a:r>
              <a:rPr lang="es-MX" sz="2600" b="1" i="1"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Pandas</a:t>
            </a:r>
          </a:p>
          <a:p>
            <a:pPr marL="342900" lvl="0" indent="-342900">
              <a:buFont typeface="+mj-lt"/>
              <a:buAutoNum type="alphaLcParenR"/>
            </a:pPr>
            <a:r>
              <a:rPr lang="es-MX"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Manipulación de tablas de datos: Excel o SQL.</a:t>
            </a:r>
          </a:p>
          <a:p>
            <a:pPr marL="342900" lvl="0" indent="-342900">
              <a:buFont typeface="+mj-lt"/>
              <a:buAutoNum type="alphaLcParenR"/>
            </a:pPr>
            <a:r>
              <a:rPr lang="es-MX"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Limpieza de datos: manejo de valores faltantes, duplicados, filtrado, etc.</a:t>
            </a:r>
          </a:p>
          <a:p>
            <a:pPr marL="342900" lvl="0" indent="-342900">
              <a:buFont typeface="+mj-lt"/>
              <a:buAutoNum type="alphaLcParenR"/>
            </a:pPr>
            <a:r>
              <a:rPr lang="es-MX"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Agrupación y resumen de datos.</a:t>
            </a:r>
          </a:p>
          <a:p>
            <a:pPr marL="342900" lvl="0" indent="-342900">
              <a:spcAft>
                <a:spcPts val="800"/>
              </a:spcAft>
              <a:buFont typeface="+mj-lt"/>
              <a:buAutoNum type="alphaLcParenR"/>
            </a:pPr>
            <a:r>
              <a:rPr lang="es-MX" sz="2000" kern="100" dirty="0">
                <a:solidFill>
                  <a:schemeClr val="bg1"/>
                </a:solidFill>
                <a:effectLst/>
                <a:latin typeface="Dubai Light" panose="020B0303030403030204" pitchFamily="34" charset="-78"/>
                <a:ea typeface="Aptos" panose="020B0004020202020204" pitchFamily="34" charset="0"/>
                <a:cs typeface="Dubai Light" panose="020B0303030403030204" pitchFamily="34" charset="-78"/>
              </a:rPr>
              <a:t>Lectura y escritura de archivos: CSV, Excel, JSON, bases de datos, entre otros.</a:t>
            </a:r>
          </a:p>
          <a:p>
            <a:endParaRPr lang="es-MX" sz="2000" dirty="0">
              <a:solidFill>
                <a:schemeClr val="bg1"/>
              </a:solidFill>
            </a:endParaRPr>
          </a:p>
        </p:txBody>
      </p:sp>
      <p:grpSp>
        <p:nvGrpSpPr>
          <p:cNvPr id="15"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16" name="Freeform: Shape 15">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694309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Script de ordenador en una pantalla">
            <a:extLst>
              <a:ext uri="{FF2B5EF4-FFF2-40B4-BE49-F238E27FC236}">
                <a16:creationId xmlns:a16="http://schemas.microsoft.com/office/drawing/2014/main" id="{0DD6E295-5341-0BEC-094A-6BB4F1DCCAA3}"/>
              </a:ext>
            </a:extLst>
          </p:cNvPr>
          <p:cNvPicPr>
            <a:picLocks noChangeAspect="1"/>
          </p:cNvPicPr>
          <p:nvPr/>
        </p:nvPicPr>
        <p:blipFill>
          <a:blip r:embed="rId2">
            <a:grayscl/>
          </a:blip>
          <a:srcRect t="7512" b="8219"/>
          <a:stretch>
            <a:fillRect/>
          </a:stretch>
        </p:blipFill>
        <p:spPr>
          <a:xfrm>
            <a:off x="20" y="10"/>
            <a:ext cx="12191980" cy="6857990"/>
          </a:xfrm>
          <a:prstGeom prst="rect">
            <a:avLst/>
          </a:prstGeom>
        </p:spPr>
      </p:pic>
      <p:sp>
        <p:nvSpPr>
          <p:cNvPr id="13" name="Freeform 12">
            <a:extLst>
              <a:ext uri="{FF2B5EF4-FFF2-40B4-BE49-F238E27FC236}">
                <a16:creationId xmlns:a16="http://schemas.microsoft.com/office/drawing/2014/main" id="{5625EBD2-B0F5-41AE-B3A7-8EC468264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1594" y="2311110"/>
            <a:ext cx="7028812" cy="2235780"/>
          </a:xfrm>
          <a:custGeom>
            <a:avLst/>
            <a:gdLst>
              <a:gd name="connsiteX0" fmla="*/ 0 w 8935452"/>
              <a:gd name="connsiteY0" fmla="*/ 0 h 3735526"/>
              <a:gd name="connsiteX1" fmla="*/ 8935452 w 8935452"/>
              <a:gd name="connsiteY1" fmla="*/ 0 h 3735526"/>
              <a:gd name="connsiteX2" fmla="*/ 8935452 w 8935452"/>
              <a:gd name="connsiteY2" fmla="*/ 3384463 h 3735526"/>
              <a:gd name="connsiteX3" fmla="*/ 4674433 w 8935452"/>
              <a:gd name="connsiteY3" fmla="*/ 3384463 h 3735526"/>
              <a:gd name="connsiteX4" fmla="*/ 4470816 w 8935452"/>
              <a:gd name="connsiteY4" fmla="*/ 3735526 h 3735526"/>
              <a:gd name="connsiteX5" fmla="*/ 4267200 w 8935452"/>
              <a:gd name="connsiteY5" fmla="*/ 3384463 h 3735526"/>
              <a:gd name="connsiteX6" fmla="*/ 0 w 8935452"/>
              <a:gd name="connsiteY6" fmla="*/ 3384463 h 373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5452" h="3735526">
                <a:moveTo>
                  <a:pt x="0" y="0"/>
                </a:moveTo>
                <a:lnTo>
                  <a:pt x="8935452" y="0"/>
                </a:lnTo>
                <a:lnTo>
                  <a:pt x="8935452" y="3384463"/>
                </a:lnTo>
                <a:lnTo>
                  <a:pt x="4674433" y="3384463"/>
                </a:lnTo>
                <a:lnTo>
                  <a:pt x="4470816" y="3735526"/>
                </a:lnTo>
                <a:lnTo>
                  <a:pt x="4267200" y="3384463"/>
                </a:lnTo>
                <a:lnTo>
                  <a:pt x="0" y="3384463"/>
                </a:lnTo>
                <a:close/>
              </a:path>
            </a:pathLst>
          </a:custGeom>
          <a:solidFill>
            <a:schemeClr val="bg2"/>
          </a:solidFill>
          <a:ln w="190500" cap="sq" cmpd="thinThick">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AC895B13-11F3-8F67-D7D6-A6352FDE0BFA}"/>
              </a:ext>
            </a:extLst>
          </p:cNvPr>
          <p:cNvSpPr>
            <a:spLocks noGrp="1"/>
          </p:cNvSpPr>
          <p:nvPr>
            <p:ph type="ctrTitle"/>
          </p:nvPr>
        </p:nvSpPr>
        <p:spPr>
          <a:xfrm>
            <a:off x="3167062" y="2486025"/>
            <a:ext cx="5857875" cy="1676400"/>
          </a:xfrm>
        </p:spPr>
        <p:txBody>
          <a:bodyPr vert="horz" lIns="91440" tIns="45720" rIns="91440" bIns="45720" rtlCol="0" anchor="ctr">
            <a:normAutofit/>
          </a:bodyPr>
          <a:lstStyle/>
          <a:p>
            <a:r>
              <a:rPr lang="en-US" sz="3700">
                <a:solidFill>
                  <a:schemeClr val="tx2"/>
                </a:solidFill>
              </a:rPr>
              <a:t>Web scraping en Google News con Python</a:t>
            </a:r>
            <a:br>
              <a:rPr lang="en-US" sz="3700">
                <a:solidFill>
                  <a:schemeClr val="tx2"/>
                </a:solidFill>
              </a:rPr>
            </a:br>
            <a:endParaRPr lang="en-US" sz="3700">
              <a:solidFill>
                <a:schemeClr val="tx2"/>
              </a:solidFill>
            </a:endParaRPr>
          </a:p>
        </p:txBody>
      </p:sp>
    </p:spTree>
    <p:extLst>
      <p:ext uri="{BB962C8B-B14F-4D97-AF65-F5344CB8AC3E}">
        <p14:creationId xmlns:p14="http://schemas.microsoft.com/office/powerpoint/2010/main" val="350374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81F32"/>
        </a:solidFill>
        <a:effectLst/>
      </p:bgPr>
    </p:bg>
    <p:spTree>
      <p:nvGrpSpPr>
        <p:cNvPr id="1" name=""/>
        <p:cNvGrpSpPr/>
        <p:nvPr/>
      </p:nvGrpSpPr>
      <p:grpSpPr>
        <a:xfrm>
          <a:off x="0" y="0"/>
          <a:ext cx="0" cy="0"/>
          <a:chOff x="0" y="0"/>
          <a:chExt cx="0" cy="0"/>
        </a:xfrm>
      </p:grpSpPr>
      <p:pic>
        <p:nvPicPr>
          <p:cNvPr id="1026" name="Picture 2" descr="Las principales librerías de Python para Web Scraping - CoDigital">
            <a:extLst>
              <a:ext uri="{FF2B5EF4-FFF2-40B4-BE49-F238E27FC236}">
                <a16:creationId xmlns:a16="http://schemas.microsoft.com/office/drawing/2014/main" id="{05D29C43-AF34-1C21-B029-4C5DAB3F4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4869" y="314568"/>
            <a:ext cx="9094177" cy="6062785"/>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B1C4D0D9-00AE-6A79-FA89-AA29A868F517}"/>
              </a:ext>
            </a:extLst>
          </p:cNvPr>
          <p:cNvSpPr/>
          <p:nvPr/>
        </p:nvSpPr>
        <p:spPr>
          <a:xfrm>
            <a:off x="7057292" y="832338"/>
            <a:ext cx="1805354" cy="1582616"/>
          </a:xfrm>
          <a:prstGeom prst="rect">
            <a:avLst/>
          </a:prstGeom>
          <a:solidFill>
            <a:srgbClr val="181F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a:p>
        </p:txBody>
      </p:sp>
      <p:pic>
        <p:nvPicPr>
          <p:cNvPr id="5" name="Imagen 4">
            <a:extLst>
              <a:ext uri="{FF2B5EF4-FFF2-40B4-BE49-F238E27FC236}">
                <a16:creationId xmlns:a16="http://schemas.microsoft.com/office/drawing/2014/main" id="{6676BD44-8040-2E2C-47C1-FF6F258C0CF9}"/>
              </a:ext>
            </a:extLst>
          </p:cNvPr>
          <p:cNvPicPr>
            <a:picLocks noChangeAspect="1"/>
          </p:cNvPicPr>
          <p:nvPr/>
        </p:nvPicPr>
        <p:blipFill>
          <a:blip r:embed="rId4"/>
          <a:stretch>
            <a:fillRect/>
          </a:stretch>
        </p:blipFill>
        <p:spPr>
          <a:xfrm>
            <a:off x="2954606" y="887728"/>
            <a:ext cx="1804572" cy="1579001"/>
          </a:xfrm>
          <a:prstGeom prst="rect">
            <a:avLst/>
          </a:prstGeom>
        </p:spPr>
      </p:pic>
      <p:sp>
        <p:nvSpPr>
          <p:cNvPr id="6" name="CuadroTexto 5">
            <a:extLst>
              <a:ext uri="{FF2B5EF4-FFF2-40B4-BE49-F238E27FC236}">
                <a16:creationId xmlns:a16="http://schemas.microsoft.com/office/drawing/2014/main" id="{8C434232-F861-0177-8477-8A622CB61691}"/>
              </a:ext>
            </a:extLst>
          </p:cNvPr>
          <p:cNvSpPr txBox="1"/>
          <p:nvPr/>
        </p:nvSpPr>
        <p:spPr>
          <a:xfrm>
            <a:off x="7279640" y="2045622"/>
            <a:ext cx="1957754" cy="369332"/>
          </a:xfrm>
          <a:prstGeom prst="rect">
            <a:avLst/>
          </a:prstGeom>
          <a:noFill/>
        </p:spPr>
        <p:txBody>
          <a:bodyPr wrap="square" rtlCol="0">
            <a:spAutoFit/>
          </a:bodyPr>
          <a:lstStyle/>
          <a:p>
            <a:r>
              <a:rPr lang="es-MX" b="1" dirty="0">
                <a:solidFill>
                  <a:schemeClr val="bg1"/>
                </a:solidFill>
                <a:latin typeface="Aharoni" panose="02010803020104030203" pitchFamily="2" charset="-79"/>
                <a:cs typeface="Aharoni" panose="02010803020104030203" pitchFamily="2" charset="-79"/>
              </a:rPr>
              <a:t>API KEY</a:t>
            </a:r>
          </a:p>
        </p:txBody>
      </p:sp>
      <p:sp>
        <p:nvSpPr>
          <p:cNvPr id="7" name="CuadroTexto 6">
            <a:extLst>
              <a:ext uri="{FF2B5EF4-FFF2-40B4-BE49-F238E27FC236}">
                <a16:creationId xmlns:a16="http://schemas.microsoft.com/office/drawing/2014/main" id="{68ABE10D-C1C8-1568-95E3-965CF8AD6C91}"/>
              </a:ext>
            </a:extLst>
          </p:cNvPr>
          <p:cNvSpPr txBox="1"/>
          <p:nvPr/>
        </p:nvSpPr>
        <p:spPr>
          <a:xfrm>
            <a:off x="5486010" y="3516923"/>
            <a:ext cx="1793630" cy="400110"/>
          </a:xfrm>
          <a:prstGeom prst="rect">
            <a:avLst/>
          </a:prstGeom>
          <a:noFill/>
        </p:spPr>
        <p:txBody>
          <a:bodyPr wrap="square" rtlCol="0">
            <a:spAutoFit/>
          </a:bodyPr>
          <a:lstStyle/>
          <a:p>
            <a:r>
              <a:rPr lang="es-MX" sz="2000" b="1" i="1" dirty="0" err="1">
                <a:solidFill>
                  <a:schemeClr val="bg1"/>
                </a:solidFill>
              </a:rPr>
              <a:t>Request</a:t>
            </a:r>
            <a:endParaRPr lang="es-MX" sz="2000" b="1" i="1" dirty="0">
              <a:solidFill>
                <a:schemeClr val="bg1"/>
              </a:solidFill>
            </a:endParaRPr>
          </a:p>
        </p:txBody>
      </p:sp>
      <p:sp>
        <p:nvSpPr>
          <p:cNvPr id="8" name="Estrella: 5 puntas 7">
            <a:extLst>
              <a:ext uri="{FF2B5EF4-FFF2-40B4-BE49-F238E27FC236}">
                <a16:creationId xmlns:a16="http://schemas.microsoft.com/office/drawing/2014/main" id="{2545C7EF-A104-05E6-B5D1-ACA46C3FE00D}"/>
              </a:ext>
            </a:extLst>
          </p:cNvPr>
          <p:cNvSpPr/>
          <p:nvPr/>
        </p:nvSpPr>
        <p:spPr>
          <a:xfrm>
            <a:off x="7290777" y="1142945"/>
            <a:ext cx="996852" cy="902677"/>
          </a:xfrm>
          <a:prstGeom prst="star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422640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9E178F-E69D-5421-32E1-DAE379DC01DF}"/>
              </a:ext>
            </a:extLst>
          </p:cNvPr>
          <p:cNvSpPr>
            <a:spLocks noGrp="1"/>
          </p:cNvSpPr>
          <p:nvPr>
            <p:ph type="title"/>
          </p:nvPr>
        </p:nvSpPr>
        <p:spPr>
          <a:xfrm>
            <a:off x="838200" y="500062"/>
            <a:ext cx="10515600" cy="1325563"/>
          </a:xfrm>
        </p:spPr>
        <p:txBody>
          <a:bodyPr/>
          <a:lstStyle/>
          <a:p>
            <a:r>
              <a:rPr lang="es-MX" dirty="0"/>
              <a:t>¿Qué es y cómo obtengo mi clave Api?</a:t>
            </a:r>
            <a:br>
              <a:rPr lang="es-MX" dirty="0"/>
            </a:br>
            <a:endParaRPr lang="es-MX" dirty="0"/>
          </a:p>
        </p:txBody>
      </p:sp>
      <p:graphicFrame>
        <p:nvGraphicFramePr>
          <p:cNvPr id="5" name="Marcador de contenido 2">
            <a:extLst>
              <a:ext uri="{FF2B5EF4-FFF2-40B4-BE49-F238E27FC236}">
                <a16:creationId xmlns:a16="http://schemas.microsoft.com/office/drawing/2014/main" id="{0F6F1311-7215-5F03-C66D-84EACDD2C3D2}"/>
              </a:ext>
            </a:extLst>
          </p:cNvPr>
          <p:cNvGraphicFramePr>
            <a:graphicFrameLocks noGrp="1"/>
          </p:cNvGraphicFramePr>
          <p:nvPr>
            <p:ph idx="1"/>
            <p:extLst>
              <p:ext uri="{D42A27DB-BD31-4B8C-83A1-F6EECF244321}">
                <p14:modId xmlns:p14="http://schemas.microsoft.com/office/powerpoint/2010/main" val="234055037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8292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8AA503-2F18-371D-B877-E15C8BD7FB8F}"/>
              </a:ext>
            </a:extLst>
          </p:cNvPr>
          <p:cNvSpPr>
            <a:spLocks noGrp="1"/>
          </p:cNvSpPr>
          <p:nvPr>
            <p:ph type="title"/>
          </p:nvPr>
        </p:nvSpPr>
        <p:spPr>
          <a:xfrm>
            <a:off x="381140" y="361562"/>
            <a:ext cx="11810859" cy="1325563"/>
          </a:xfrm>
        </p:spPr>
        <p:txBody>
          <a:bodyPr>
            <a:normAutofit fontScale="90000"/>
          </a:bodyPr>
          <a:lstStyle/>
          <a:p>
            <a:r>
              <a:rPr lang="en-US" b="1" dirty="0"/>
              <a:t>Web scraping con </a:t>
            </a:r>
            <a:r>
              <a:rPr lang="en-US" b="1" dirty="0" err="1"/>
              <a:t>Scrapingdog’s</a:t>
            </a:r>
            <a:r>
              <a:rPr lang="en-US" b="1" dirty="0"/>
              <a:t> de Google News API</a:t>
            </a:r>
            <a:br>
              <a:rPr lang="es-MX" dirty="0"/>
            </a:br>
            <a:endParaRPr lang="es-MX" dirty="0"/>
          </a:p>
        </p:txBody>
      </p:sp>
      <p:pic>
        <p:nvPicPr>
          <p:cNvPr id="4" name="Marcador de contenido 3" descr="Interfaz de usuario gráfica, Aplicación&#10;&#10;El contenido generado por IA puede ser incorrecto.">
            <a:extLst>
              <a:ext uri="{FF2B5EF4-FFF2-40B4-BE49-F238E27FC236}">
                <a16:creationId xmlns:a16="http://schemas.microsoft.com/office/drawing/2014/main" id="{34DBF961-159B-AF58-F8E2-FA7B081DD7A9}"/>
              </a:ext>
            </a:extLst>
          </p:cNvPr>
          <p:cNvPicPr>
            <a:picLocks noGrp="1" noChangeAspect="1"/>
          </p:cNvPicPr>
          <p:nvPr>
            <p:ph idx="1"/>
          </p:nvPr>
        </p:nvPicPr>
        <p:blipFill>
          <a:blip r:embed="rId3"/>
          <a:stretch>
            <a:fillRect/>
          </a:stretch>
        </p:blipFill>
        <p:spPr>
          <a:xfrm>
            <a:off x="381140" y="1390600"/>
            <a:ext cx="5028775" cy="4786363"/>
          </a:xfrm>
          <a:prstGeom prst="rect">
            <a:avLst/>
          </a:prstGeom>
        </p:spPr>
      </p:pic>
      <p:sp>
        <p:nvSpPr>
          <p:cNvPr id="5" name="CuadroTexto 4">
            <a:extLst>
              <a:ext uri="{FF2B5EF4-FFF2-40B4-BE49-F238E27FC236}">
                <a16:creationId xmlns:a16="http://schemas.microsoft.com/office/drawing/2014/main" id="{DB0A73B3-3105-D23C-57A0-4163C2C473B2}"/>
              </a:ext>
            </a:extLst>
          </p:cNvPr>
          <p:cNvSpPr txBox="1"/>
          <p:nvPr/>
        </p:nvSpPr>
        <p:spPr>
          <a:xfrm>
            <a:off x="5409915" y="1837348"/>
            <a:ext cx="6597025" cy="954107"/>
          </a:xfrm>
          <a:prstGeom prst="rect">
            <a:avLst/>
          </a:prstGeom>
          <a:noFill/>
        </p:spPr>
        <p:txBody>
          <a:bodyPr wrap="square" rtlCol="0">
            <a:spAutoFit/>
          </a:bodyPr>
          <a:lstStyle/>
          <a:p>
            <a:r>
              <a:rPr lang="es-MX" sz="2800" u="sng" dirty="0">
                <a:hlinkClick r:id="rId4"/>
              </a:rPr>
              <a:t>https://api.scrapingdog.com/register</a:t>
            </a:r>
            <a:endParaRPr lang="es-MX" sz="2800" dirty="0"/>
          </a:p>
          <a:p>
            <a:endParaRPr lang="es-MX" sz="2800" dirty="0"/>
          </a:p>
        </p:txBody>
      </p:sp>
      <p:pic>
        <p:nvPicPr>
          <p:cNvPr id="6" name="Imagen 5">
            <a:extLst>
              <a:ext uri="{FF2B5EF4-FFF2-40B4-BE49-F238E27FC236}">
                <a16:creationId xmlns:a16="http://schemas.microsoft.com/office/drawing/2014/main" id="{E37CC375-489B-0B76-F6D2-8E0A8E1EB0D9}"/>
              </a:ext>
            </a:extLst>
          </p:cNvPr>
          <p:cNvPicPr>
            <a:picLocks noChangeAspect="1"/>
          </p:cNvPicPr>
          <p:nvPr/>
        </p:nvPicPr>
        <p:blipFill>
          <a:blip r:embed="rId5"/>
          <a:stretch>
            <a:fillRect/>
          </a:stretch>
        </p:blipFill>
        <p:spPr>
          <a:xfrm>
            <a:off x="4343400" y="2610456"/>
            <a:ext cx="7467459" cy="2520452"/>
          </a:xfrm>
          <a:prstGeom prst="rect">
            <a:avLst/>
          </a:prstGeom>
        </p:spPr>
      </p:pic>
      <p:cxnSp>
        <p:nvCxnSpPr>
          <p:cNvPr id="7" name="Conector recto 6">
            <a:extLst>
              <a:ext uri="{FF2B5EF4-FFF2-40B4-BE49-F238E27FC236}">
                <a16:creationId xmlns:a16="http://schemas.microsoft.com/office/drawing/2014/main" id="{7E86410C-881A-CFAA-D4A1-E3BD24F2B928}"/>
              </a:ext>
            </a:extLst>
          </p:cNvPr>
          <p:cNvCxnSpPr/>
          <p:nvPr/>
        </p:nvCxnSpPr>
        <p:spPr>
          <a:xfrm flipV="1">
            <a:off x="0" y="1175657"/>
            <a:ext cx="12192000" cy="76200"/>
          </a:xfrm>
          <a:prstGeom prst="line">
            <a:avLst/>
          </a:prstGeom>
        </p:spPr>
        <p:style>
          <a:lnRef idx="2">
            <a:schemeClr val="accent1"/>
          </a:lnRef>
          <a:fillRef idx="0">
            <a:schemeClr val="accent1"/>
          </a:fillRef>
          <a:effectRef idx="1">
            <a:schemeClr val="accent1"/>
          </a:effectRef>
          <a:fontRef idx="minor">
            <a:schemeClr val="tx1"/>
          </a:fontRef>
        </p:style>
      </p:cxnSp>
      <p:sp>
        <p:nvSpPr>
          <p:cNvPr id="10" name="Rectángulo 9">
            <a:extLst>
              <a:ext uri="{FF2B5EF4-FFF2-40B4-BE49-F238E27FC236}">
                <a16:creationId xmlns:a16="http://schemas.microsoft.com/office/drawing/2014/main" id="{4C84D1B9-7B73-F3BA-237C-40E1149DED33}"/>
              </a:ext>
            </a:extLst>
          </p:cNvPr>
          <p:cNvSpPr/>
          <p:nvPr/>
        </p:nvSpPr>
        <p:spPr>
          <a:xfrm>
            <a:off x="0" y="6718000"/>
            <a:ext cx="12192000" cy="139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2" name="Imagen 11">
            <a:extLst>
              <a:ext uri="{FF2B5EF4-FFF2-40B4-BE49-F238E27FC236}">
                <a16:creationId xmlns:a16="http://schemas.microsoft.com/office/drawing/2014/main" id="{55E2C691-CE44-94EE-A351-AC972F394423}"/>
              </a:ext>
            </a:extLst>
          </p:cNvPr>
          <p:cNvPicPr>
            <a:picLocks noChangeAspect="1"/>
          </p:cNvPicPr>
          <p:nvPr/>
        </p:nvPicPr>
        <p:blipFill>
          <a:blip r:embed="rId6"/>
          <a:stretch>
            <a:fillRect/>
          </a:stretch>
        </p:blipFill>
        <p:spPr>
          <a:xfrm>
            <a:off x="0" y="1127529"/>
            <a:ext cx="12192000" cy="158259"/>
          </a:xfrm>
          <a:prstGeom prst="rect">
            <a:avLst/>
          </a:prstGeom>
        </p:spPr>
      </p:pic>
      <p:pic>
        <p:nvPicPr>
          <p:cNvPr id="3" name="Imagen 2">
            <a:extLst>
              <a:ext uri="{FF2B5EF4-FFF2-40B4-BE49-F238E27FC236}">
                <a16:creationId xmlns:a16="http://schemas.microsoft.com/office/drawing/2014/main" id="{4ABAAB39-3B5B-7D14-E455-B4C861647D22}"/>
              </a:ext>
            </a:extLst>
          </p:cNvPr>
          <p:cNvPicPr>
            <a:picLocks noChangeAspect="1"/>
          </p:cNvPicPr>
          <p:nvPr/>
        </p:nvPicPr>
        <p:blipFill>
          <a:blip r:embed="rId7"/>
          <a:stretch>
            <a:fillRect/>
          </a:stretch>
        </p:blipFill>
        <p:spPr>
          <a:xfrm>
            <a:off x="7568063" y="1391580"/>
            <a:ext cx="1042323" cy="641430"/>
          </a:xfrm>
          <a:prstGeom prst="rect">
            <a:avLst/>
          </a:prstGeom>
        </p:spPr>
      </p:pic>
    </p:spTree>
    <p:extLst>
      <p:ext uri="{BB962C8B-B14F-4D97-AF65-F5344CB8AC3E}">
        <p14:creationId xmlns:p14="http://schemas.microsoft.com/office/powerpoint/2010/main" val="2520828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A4BBC8-9B4A-9806-499C-08E5B8C2780C}"/>
              </a:ext>
            </a:extLst>
          </p:cNvPr>
          <p:cNvSpPr>
            <a:spLocks noGrp="1"/>
          </p:cNvSpPr>
          <p:nvPr>
            <p:ph type="title"/>
          </p:nvPr>
        </p:nvSpPr>
        <p:spPr>
          <a:xfrm>
            <a:off x="838200" y="165100"/>
            <a:ext cx="10515600" cy="1325563"/>
          </a:xfrm>
        </p:spPr>
        <p:txBody>
          <a:bodyPr/>
          <a:lstStyle/>
          <a:p>
            <a:r>
              <a:rPr lang="es-MX" b="1" dirty="0"/>
              <a:t>Web </a:t>
            </a:r>
            <a:r>
              <a:rPr lang="es-MX" b="1" dirty="0" err="1"/>
              <a:t>scraping</a:t>
            </a:r>
            <a:r>
              <a:rPr lang="es-MX" b="1" dirty="0"/>
              <a:t> con </a:t>
            </a:r>
            <a:r>
              <a:rPr lang="es-MX" b="1" dirty="0" err="1"/>
              <a:t>HasData</a:t>
            </a:r>
            <a:br>
              <a:rPr lang="es-MX" dirty="0"/>
            </a:br>
            <a:endParaRPr lang="es-MX" dirty="0"/>
          </a:p>
        </p:txBody>
      </p:sp>
      <p:pic>
        <p:nvPicPr>
          <p:cNvPr id="4" name="Imagen 3">
            <a:extLst>
              <a:ext uri="{FF2B5EF4-FFF2-40B4-BE49-F238E27FC236}">
                <a16:creationId xmlns:a16="http://schemas.microsoft.com/office/drawing/2014/main" id="{284CC015-EFC4-1CC8-7B5D-11F26C75BECA}"/>
              </a:ext>
            </a:extLst>
          </p:cNvPr>
          <p:cNvPicPr>
            <a:picLocks noChangeAspect="1"/>
          </p:cNvPicPr>
          <p:nvPr/>
        </p:nvPicPr>
        <p:blipFill>
          <a:blip r:embed="rId2"/>
          <a:stretch>
            <a:fillRect/>
          </a:stretch>
        </p:blipFill>
        <p:spPr>
          <a:xfrm>
            <a:off x="238202" y="1501022"/>
            <a:ext cx="11715595" cy="3002042"/>
          </a:xfrm>
          <a:prstGeom prst="rect">
            <a:avLst/>
          </a:prstGeom>
        </p:spPr>
      </p:pic>
      <p:sp>
        <p:nvSpPr>
          <p:cNvPr id="5" name="CuadroTexto 4">
            <a:extLst>
              <a:ext uri="{FF2B5EF4-FFF2-40B4-BE49-F238E27FC236}">
                <a16:creationId xmlns:a16="http://schemas.microsoft.com/office/drawing/2014/main" id="{DCA7FB0E-382D-191E-38B5-BF00C1568ABF}"/>
              </a:ext>
            </a:extLst>
          </p:cNvPr>
          <p:cNvSpPr txBox="1"/>
          <p:nvPr/>
        </p:nvSpPr>
        <p:spPr>
          <a:xfrm>
            <a:off x="82746" y="4943833"/>
            <a:ext cx="6048940" cy="523220"/>
          </a:xfrm>
          <a:prstGeom prst="rect">
            <a:avLst/>
          </a:prstGeom>
          <a:noFill/>
        </p:spPr>
        <p:txBody>
          <a:bodyPr wrap="square" rtlCol="0">
            <a:spAutoFit/>
          </a:bodyPr>
          <a:lstStyle/>
          <a:p>
            <a:r>
              <a:rPr lang="es-MX" sz="2800" u="sng" dirty="0">
                <a:hlinkClick r:id="rId3"/>
              </a:rPr>
              <a:t>https://app.hasdata.com/dashboard</a:t>
            </a:r>
            <a:endParaRPr lang="es-MX" sz="2800" dirty="0"/>
          </a:p>
        </p:txBody>
      </p:sp>
      <p:pic>
        <p:nvPicPr>
          <p:cNvPr id="6" name="Imagen 5">
            <a:extLst>
              <a:ext uri="{FF2B5EF4-FFF2-40B4-BE49-F238E27FC236}">
                <a16:creationId xmlns:a16="http://schemas.microsoft.com/office/drawing/2014/main" id="{5BEF2E8E-C55B-0376-AC25-84C3B619CF10}"/>
              </a:ext>
            </a:extLst>
          </p:cNvPr>
          <p:cNvPicPr>
            <a:picLocks noChangeAspect="1"/>
          </p:cNvPicPr>
          <p:nvPr/>
        </p:nvPicPr>
        <p:blipFill>
          <a:blip r:embed="rId4"/>
          <a:srcRect r="7251" b="9978"/>
          <a:stretch>
            <a:fillRect/>
          </a:stretch>
        </p:blipFill>
        <p:spPr>
          <a:xfrm>
            <a:off x="5976230" y="3429000"/>
            <a:ext cx="5207753" cy="3002043"/>
          </a:xfrm>
          <a:prstGeom prst="rect">
            <a:avLst/>
          </a:prstGeom>
        </p:spPr>
      </p:pic>
      <p:cxnSp>
        <p:nvCxnSpPr>
          <p:cNvPr id="7" name="Conector recto 6">
            <a:extLst>
              <a:ext uri="{FF2B5EF4-FFF2-40B4-BE49-F238E27FC236}">
                <a16:creationId xmlns:a16="http://schemas.microsoft.com/office/drawing/2014/main" id="{268EC64D-24C6-EE46-4A4C-61258BF7B51C}"/>
              </a:ext>
            </a:extLst>
          </p:cNvPr>
          <p:cNvCxnSpPr>
            <a:cxnSpLocks/>
          </p:cNvCxnSpPr>
          <p:nvPr/>
        </p:nvCxnSpPr>
        <p:spPr>
          <a:xfrm flipV="1">
            <a:off x="0" y="898617"/>
            <a:ext cx="12192000" cy="103981"/>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16CC519D-E886-25A1-C5E9-3FC705304B6C}"/>
              </a:ext>
            </a:extLst>
          </p:cNvPr>
          <p:cNvCxnSpPr/>
          <p:nvPr/>
        </p:nvCxnSpPr>
        <p:spPr>
          <a:xfrm flipV="1">
            <a:off x="0" y="1025185"/>
            <a:ext cx="12192000" cy="105569"/>
          </a:xfrm>
          <a:prstGeom prst="line">
            <a:avLst/>
          </a:prstGeom>
        </p:spPr>
        <p:style>
          <a:lnRef idx="2">
            <a:schemeClr val="accent1"/>
          </a:lnRef>
          <a:fillRef idx="0">
            <a:schemeClr val="accent1"/>
          </a:fillRef>
          <a:effectRef idx="1">
            <a:schemeClr val="accent1"/>
          </a:effectRef>
          <a:fontRef idx="minor">
            <a:schemeClr val="tx1"/>
          </a:fontRef>
        </p:style>
      </p:cxnSp>
      <p:pic>
        <p:nvPicPr>
          <p:cNvPr id="13" name="Imagen 12">
            <a:extLst>
              <a:ext uri="{FF2B5EF4-FFF2-40B4-BE49-F238E27FC236}">
                <a16:creationId xmlns:a16="http://schemas.microsoft.com/office/drawing/2014/main" id="{0293E039-8481-AC27-8C8B-25081DB988ED}"/>
              </a:ext>
            </a:extLst>
          </p:cNvPr>
          <p:cNvPicPr>
            <a:picLocks noChangeAspect="1"/>
          </p:cNvPicPr>
          <p:nvPr/>
        </p:nvPicPr>
        <p:blipFill>
          <a:blip r:embed="rId5"/>
          <a:stretch>
            <a:fillRect/>
          </a:stretch>
        </p:blipFill>
        <p:spPr>
          <a:xfrm>
            <a:off x="7300601" y="101755"/>
            <a:ext cx="955124" cy="720532"/>
          </a:xfrm>
          <a:prstGeom prst="rect">
            <a:avLst/>
          </a:prstGeom>
        </p:spPr>
      </p:pic>
      <p:sp>
        <p:nvSpPr>
          <p:cNvPr id="14" name="Rectángulo 13">
            <a:extLst>
              <a:ext uri="{FF2B5EF4-FFF2-40B4-BE49-F238E27FC236}">
                <a16:creationId xmlns:a16="http://schemas.microsoft.com/office/drawing/2014/main" id="{95E8D27B-6374-A199-3946-ED2A258A2F4B}"/>
              </a:ext>
            </a:extLst>
          </p:cNvPr>
          <p:cNvSpPr/>
          <p:nvPr/>
        </p:nvSpPr>
        <p:spPr>
          <a:xfrm>
            <a:off x="0" y="6648995"/>
            <a:ext cx="12192000" cy="185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5" name="Imagen 14">
            <a:extLst>
              <a:ext uri="{FF2B5EF4-FFF2-40B4-BE49-F238E27FC236}">
                <a16:creationId xmlns:a16="http://schemas.microsoft.com/office/drawing/2014/main" id="{A8466A12-F394-5AFC-5977-AEB355C107F0}"/>
              </a:ext>
            </a:extLst>
          </p:cNvPr>
          <p:cNvPicPr>
            <a:picLocks noChangeAspect="1"/>
          </p:cNvPicPr>
          <p:nvPr/>
        </p:nvPicPr>
        <p:blipFill>
          <a:blip r:embed="rId6"/>
          <a:stretch>
            <a:fillRect/>
          </a:stretch>
        </p:blipFill>
        <p:spPr>
          <a:xfrm>
            <a:off x="0" y="909450"/>
            <a:ext cx="12192000" cy="200866"/>
          </a:xfrm>
          <a:prstGeom prst="rect">
            <a:avLst/>
          </a:prstGeom>
        </p:spPr>
      </p:pic>
      <p:pic>
        <p:nvPicPr>
          <p:cNvPr id="8" name="Imagen 7">
            <a:extLst>
              <a:ext uri="{FF2B5EF4-FFF2-40B4-BE49-F238E27FC236}">
                <a16:creationId xmlns:a16="http://schemas.microsoft.com/office/drawing/2014/main" id="{A8C736D1-7FFE-D679-D17F-83113C2ED191}"/>
              </a:ext>
            </a:extLst>
          </p:cNvPr>
          <p:cNvPicPr>
            <a:picLocks noChangeAspect="1"/>
          </p:cNvPicPr>
          <p:nvPr/>
        </p:nvPicPr>
        <p:blipFill>
          <a:blip r:embed="rId7"/>
          <a:stretch>
            <a:fillRect/>
          </a:stretch>
        </p:blipFill>
        <p:spPr>
          <a:xfrm>
            <a:off x="1925321" y="5391788"/>
            <a:ext cx="1450925" cy="892877"/>
          </a:xfrm>
          <a:prstGeom prst="rect">
            <a:avLst/>
          </a:prstGeom>
        </p:spPr>
      </p:pic>
    </p:spTree>
    <p:extLst>
      <p:ext uri="{BB962C8B-B14F-4D97-AF65-F5344CB8AC3E}">
        <p14:creationId xmlns:p14="http://schemas.microsoft.com/office/powerpoint/2010/main" val="2369716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B00F42A-41A7-2681-5107-026B39FAA818}"/>
              </a:ext>
            </a:extLst>
          </p:cNvPr>
          <p:cNvPicPr>
            <a:picLocks noChangeAspect="1"/>
          </p:cNvPicPr>
          <p:nvPr/>
        </p:nvPicPr>
        <p:blipFill>
          <a:blip r:embed="rId2">
            <a:grayscl/>
          </a:blip>
          <a:srcRect/>
          <a:stretch>
            <a:fillRect/>
          </a:stretch>
        </p:blipFill>
        <p:spPr>
          <a:xfrm>
            <a:off x="20" y="10"/>
            <a:ext cx="12191980" cy="6857990"/>
          </a:xfrm>
          <a:prstGeom prst="rect">
            <a:avLst/>
          </a:prstGeom>
        </p:spPr>
      </p:pic>
      <p:sp>
        <p:nvSpPr>
          <p:cNvPr id="8" name="Freeform 12">
            <a:extLst>
              <a:ext uri="{FF2B5EF4-FFF2-40B4-BE49-F238E27FC236}">
                <a16:creationId xmlns:a16="http://schemas.microsoft.com/office/drawing/2014/main" id="{5625EBD2-B0F5-41AE-B3A7-8EC468264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1594" y="2311110"/>
            <a:ext cx="7028812" cy="2235780"/>
          </a:xfrm>
          <a:custGeom>
            <a:avLst/>
            <a:gdLst>
              <a:gd name="connsiteX0" fmla="*/ 0 w 8935452"/>
              <a:gd name="connsiteY0" fmla="*/ 0 h 3735526"/>
              <a:gd name="connsiteX1" fmla="*/ 8935452 w 8935452"/>
              <a:gd name="connsiteY1" fmla="*/ 0 h 3735526"/>
              <a:gd name="connsiteX2" fmla="*/ 8935452 w 8935452"/>
              <a:gd name="connsiteY2" fmla="*/ 3384463 h 3735526"/>
              <a:gd name="connsiteX3" fmla="*/ 4674433 w 8935452"/>
              <a:gd name="connsiteY3" fmla="*/ 3384463 h 3735526"/>
              <a:gd name="connsiteX4" fmla="*/ 4470816 w 8935452"/>
              <a:gd name="connsiteY4" fmla="*/ 3735526 h 3735526"/>
              <a:gd name="connsiteX5" fmla="*/ 4267200 w 8935452"/>
              <a:gd name="connsiteY5" fmla="*/ 3384463 h 3735526"/>
              <a:gd name="connsiteX6" fmla="*/ 0 w 8935452"/>
              <a:gd name="connsiteY6" fmla="*/ 3384463 h 373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5452" h="3735526">
                <a:moveTo>
                  <a:pt x="0" y="0"/>
                </a:moveTo>
                <a:lnTo>
                  <a:pt x="8935452" y="0"/>
                </a:lnTo>
                <a:lnTo>
                  <a:pt x="8935452" y="3384463"/>
                </a:lnTo>
                <a:lnTo>
                  <a:pt x="4674433" y="3384463"/>
                </a:lnTo>
                <a:lnTo>
                  <a:pt x="4470816" y="3735526"/>
                </a:lnTo>
                <a:lnTo>
                  <a:pt x="4267200" y="3384463"/>
                </a:lnTo>
                <a:lnTo>
                  <a:pt x="0" y="3384463"/>
                </a:lnTo>
                <a:close/>
              </a:path>
            </a:pathLst>
          </a:custGeom>
          <a:solidFill>
            <a:schemeClr val="bg2"/>
          </a:solidFill>
          <a:ln w="190500" cap="sq" cmpd="thinThick">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8EB518F9-B82A-4661-E123-BFC0E86BA5AD}"/>
              </a:ext>
            </a:extLst>
          </p:cNvPr>
          <p:cNvSpPr>
            <a:spLocks noGrp="1"/>
          </p:cNvSpPr>
          <p:nvPr>
            <p:ph type="ctrTitle"/>
          </p:nvPr>
        </p:nvSpPr>
        <p:spPr>
          <a:xfrm>
            <a:off x="3167062" y="2486025"/>
            <a:ext cx="5857875" cy="1676400"/>
          </a:xfrm>
        </p:spPr>
        <p:txBody>
          <a:bodyPr vert="horz" lIns="91440" tIns="45720" rIns="91440" bIns="45720" rtlCol="0" anchor="ctr">
            <a:normAutofit/>
          </a:bodyPr>
          <a:lstStyle/>
          <a:p>
            <a:r>
              <a:rPr lang="en-US" sz="3400" dirty="0" err="1">
                <a:solidFill>
                  <a:schemeClr val="tx2"/>
                </a:solidFill>
              </a:rPr>
              <a:t>Búsqueda</a:t>
            </a:r>
            <a:r>
              <a:rPr lang="en-US" sz="3400" dirty="0">
                <a:solidFill>
                  <a:schemeClr val="tx2"/>
                </a:solidFill>
              </a:rPr>
              <a:t> de palabras o </a:t>
            </a:r>
            <a:r>
              <a:rPr lang="en-US" sz="3400" dirty="0" err="1">
                <a:solidFill>
                  <a:schemeClr val="tx2"/>
                </a:solidFill>
              </a:rPr>
              <a:t>frases</a:t>
            </a:r>
            <a:r>
              <a:rPr lang="en-US" sz="3400" dirty="0">
                <a:solidFill>
                  <a:schemeClr val="tx2"/>
                </a:solidFill>
              </a:rPr>
              <a:t> con Power Shell</a:t>
            </a:r>
            <a:br>
              <a:rPr lang="en-US" sz="3400" dirty="0">
                <a:solidFill>
                  <a:schemeClr val="tx2"/>
                </a:solidFill>
              </a:rPr>
            </a:br>
            <a:endParaRPr lang="en-US" sz="3400" dirty="0">
              <a:solidFill>
                <a:schemeClr val="tx2"/>
              </a:solidFill>
            </a:endParaRPr>
          </a:p>
        </p:txBody>
      </p:sp>
    </p:spTree>
    <p:extLst>
      <p:ext uri="{BB962C8B-B14F-4D97-AF65-F5344CB8AC3E}">
        <p14:creationId xmlns:p14="http://schemas.microsoft.com/office/powerpoint/2010/main" val="366701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215BA0-F8BE-F23A-64DD-E9C17A5811C8}"/>
              </a:ext>
            </a:extLst>
          </p:cNvPr>
          <p:cNvSpPr>
            <a:spLocks noGrp="1"/>
          </p:cNvSpPr>
          <p:nvPr>
            <p:ph type="title"/>
          </p:nvPr>
        </p:nvSpPr>
        <p:spPr/>
        <p:txBody>
          <a:bodyPr/>
          <a:lstStyle/>
          <a:p>
            <a:r>
              <a:rPr lang="es-MX" dirty="0"/>
              <a:t>Búsqueda de palabras en archivos de texto</a:t>
            </a:r>
          </a:p>
        </p:txBody>
      </p:sp>
      <p:pic>
        <p:nvPicPr>
          <p:cNvPr id="5" name="Imagen 4">
            <a:extLst>
              <a:ext uri="{FF2B5EF4-FFF2-40B4-BE49-F238E27FC236}">
                <a16:creationId xmlns:a16="http://schemas.microsoft.com/office/drawing/2014/main" id="{30CDBEAE-E650-F93D-D058-9C8AADEDC897}"/>
              </a:ext>
            </a:extLst>
          </p:cNvPr>
          <p:cNvPicPr>
            <a:picLocks noChangeAspect="1"/>
          </p:cNvPicPr>
          <p:nvPr/>
        </p:nvPicPr>
        <p:blipFill>
          <a:blip r:embed="rId2"/>
          <a:stretch>
            <a:fillRect/>
          </a:stretch>
        </p:blipFill>
        <p:spPr>
          <a:xfrm>
            <a:off x="673251" y="1564395"/>
            <a:ext cx="8209257" cy="4512502"/>
          </a:xfrm>
          <a:prstGeom prst="rect">
            <a:avLst/>
          </a:prstGeom>
        </p:spPr>
      </p:pic>
      <p:cxnSp>
        <p:nvCxnSpPr>
          <p:cNvPr id="9" name="Conector recto 8">
            <a:extLst>
              <a:ext uri="{FF2B5EF4-FFF2-40B4-BE49-F238E27FC236}">
                <a16:creationId xmlns:a16="http://schemas.microsoft.com/office/drawing/2014/main" id="{910987E0-B70D-D312-4E27-550ABB19C311}"/>
              </a:ext>
            </a:extLst>
          </p:cNvPr>
          <p:cNvCxnSpPr/>
          <p:nvPr/>
        </p:nvCxnSpPr>
        <p:spPr>
          <a:xfrm>
            <a:off x="9055865" y="2787267"/>
            <a:ext cx="129999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ector recto de flecha 10">
            <a:extLst>
              <a:ext uri="{FF2B5EF4-FFF2-40B4-BE49-F238E27FC236}">
                <a16:creationId xmlns:a16="http://schemas.microsoft.com/office/drawing/2014/main" id="{654AC8E2-BA7B-BFF4-812B-E5A33EDB9591}"/>
              </a:ext>
            </a:extLst>
          </p:cNvPr>
          <p:cNvCxnSpPr/>
          <p:nvPr/>
        </p:nvCxnSpPr>
        <p:spPr>
          <a:xfrm>
            <a:off x="10355855" y="2787267"/>
            <a:ext cx="0" cy="5976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AC80D6E1-8525-DA05-FCF9-3049A406D4C0}"/>
              </a:ext>
            </a:extLst>
          </p:cNvPr>
          <p:cNvSpPr txBox="1"/>
          <p:nvPr/>
        </p:nvSpPr>
        <p:spPr>
          <a:xfrm>
            <a:off x="9436866" y="3604348"/>
            <a:ext cx="1916934" cy="1754326"/>
          </a:xfrm>
          <a:prstGeom prst="rect">
            <a:avLst/>
          </a:prstGeom>
          <a:noFill/>
        </p:spPr>
        <p:txBody>
          <a:bodyPr wrap="square" rtlCol="0">
            <a:spAutoFit/>
          </a:bodyPr>
          <a:lstStyle/>
          <a:p>
            <a:pPr algn="just"/>
            <a:r>
              <a:rPr lang="es-MX" dirty="0">
                <a:latin typeface="Dubai Light" panose="020B0303030403030204" pitchFamily="34" charset="-78"/>
                <a:cs typeface="Dubai Light" panose="020B0303030403030204" pitchFamily="34" charset="-78"/>
              </a:rPr>
              <a:t>Descargamos un archivo con 1163 discursos en formato de texto de presidentes de 74 países.</a:t>
            </a:r>
          </a:p>
        </p:txBody>
      </p:sp>
    </p:spTree>
    <p:extLst>
      <p:ext uri="{BB962C8B-B14F-4D97-AF65-F5344CB8AC3E}">
        <p14:creationId xmlns:p14="http://schemas.microsoft.com/office/powerpoint/2010/main" val="1302360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842A36-0448-698D-80D8-23833B81A288}"/>
              </a:ext>
            </a:extLst>
          </p:cNvPr>
          <p:cNvSpPr>
            <a:spLocks noGrp="1"/>
          </p:cNvSpPr>
          <p:nvPr>
            <p:ph type="title"/>
          </p:nvPr>
        </p:nvSpPr>
        <p:spPr/>
        <p:txBody>
          <a:bodyPr/>
          <a:lstStyle/>
          <a:p>
            <a:r>
              <a:rPr lang="es-MX" dirty="0"/>
              <a:t>Búsqueda de palabras en archivos de texto</a:t>
            </a:r>
          </a:p>
        </p:txBody>
      </p:sp>
      <p:pic>
        <p:nvPicPr>
          <p:cNvPr id="4" name="Imagen 3">
            <a:extLst>
              <a:ext uri="{FF2B5EF4-FFF2-40B4-BE49-F238E27FC236}">
                <a16:creationId xmlns:a16="http://schemas.microsoft.com/office/drawing/2014/main" id="{5908F9E9-7764-4DAC-15B2-A81BA7AC08FF}"/>
              </a:ext>
            </a:extLst>
          </p:cNvPr>
          <p:cNvPicPr>
            <a:picLocks noChangeAspect="1"/>
          </p:cNvPicPr>
          <p:nvPr/>
        </p:nvPicPr>
        <p:blipFill>
          <a:blip r:embed="rId2"/>
          <a:stretch>
            <a:fillRect/>
          </a:stretch>
        </p:blipFill>
        <p:spPr>
          <a:xfrm>
            <a:off x="1041300" y="3051673"/>
            <a:ext cx="3756338" cy="2130272"/>
          </a:xfrm>
          <a:prstGeom prst="rect">
            <a:avLst/>
          </a:prstGeom>
        </p:spPr>
      </p:pic>
      <p:sp>
        <p:nvSpPr>
          <p:cNvPr id="5" name="CuadroTexto 4">
            <a:extLst>
              <a:ext uri="{FF2B5EF4-FFF2-40B4-BE49-F238E27FC236}">
                <a16:creationId xmlns:a16="http://schemas.microsoft.com/office/drawing/2014/main" id="{61889FE8-5723-5BC0-1568-82E7DF2B5178}"/>
              </a:ext>
            </a:extLst>
          </p:cNvPr>
          <p:cNvSpPr txBox="1"/>
          <p:nvPr/>
        </p:nvSpPr>
        <p:spPr>
          <a:xfrm>
            <a:off x="892480" y="1690688"/>
            <a:ext cx="5717754" cy="646331"/>
          </a:xfrm>
          <a:prstGeom prst="rect">
            <a:avLst/>
          </a:prstGeom>
          <a:noFill/>
        </p:spPr>
        <p:txBody>
          <a:bodyPr wrap="square" rtlCol="0">
            <a:spAutoFit/>
          </a:bodyPr>
          <a:lstStyle/>
          <a:p>
            <a:pPr marL="285750" indent="-285750">
              <a:buFont typeface="Wingdings" panose="05000000000000000000" pitchFamily="2" charset="2"/>
              <a:buChar char="ü"/>
            </a:pPr>
            <a:r>
              <a:rPr lang="es-MX" dirty="0"/>
              <a:t>Buscar la palabra “Mujer” </a:t>
            </a:r>
          </a:p>
          <a:p>
            <a:pPr marL="285750" indent="-285750">
              <a:buFont typeface="Wingdings" panose="05000000000000000000" pitchFamily="2" charset="2"/>
              <a:buChar char="ü"/>
            </a:pPr>
            <a:r>
              <a:rPr lang="es-MX" dirty="0"/>
              <a:t>Buscar la frase “Violencia contra la mujer”  </a:t>
            </a:r>
          </a:p>
        </p:txBody>
      </p:sp>
      <p:cxnSp>
        <p:nvCxnSpPr>
          <p:cNvPr id="8" name="Conector recto de flecha 7">
            <a:extLst>
              <a:ext uri="{FF2B5EF4-FFF2-40B4-BE49-F238E27FC236}">
                <a16:creationId xmlns:a16="http://schemas.microsoft.com/office/drawing/2014/main" id="{2FFEFF03-7BBE-23B1-5542-F40DBCBE4B1C}"/>
              </a:ext>
            </a:extLst>
          </p:cNvPr>
          <p:cNvCxnSpPr/>
          <p:nvPr/>
        </p:nvCxnSpPr>
        <p:spPr>
          <a:xfrm>
            <a:off x="2919469" y="2469221"/>
            <a:ext cx="0" cy="5824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Conector recto de flecha 9">
            <a:extLst>
              <a:ext uri="{FF2B5EF4-FFF2-40B4-BE49-F238E27FC236}">
                <a16:creationId xmlns:a16="http://schemas.microsoft.com/office/drawing/2014/main" id="{04BF57BB-4A90-A8AC-7E21-08F6F4764A69}"/>
              </a:ext>
            </a:extLst>
          </p:cNvPr>
          <p:cNvCxnSpPr>
            <a:cxnSpLocks/>
          </p:cNvCxnSpPr>
          <p:nvPr/>
        </p:nvCxnSpPr>
        <p:spPr>
          <a:xfrm>
            <a:off x="5376231" y="4208443"/>
            <a:ext cx="23135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Imagen 10">
            <a:extLst>
              <a:ext uri="{FF2B5EF4-FFF2-40B4-BE49-F238E27FC236}">
                <a16:creationId xmlns:a16="http://schemas.microsoft.com/office/drawing/2014/main" id="{4558A521-E14B-2778-439C-3A52283D9EB4}"/>
              </a:ext>
            </a:extLst>
          </p:cNvPr>
          <p:cNvPicPr>
            <a:picLocks noChangeAspect="1"/>
          </p:cNvPicPr>
          <p:nvPr/>
        </p:nvPicPr>
        <p:blipFill>
          <a:blip r:embed="rId3"/>
          <a:stretch>
            <a:fillRect/>
          </a:stretch>
        </p:blipFill>
        <p:spPr>
          <a:xfrm>
            <a:off x="8329498" y="2853196"/>
            <a:ext cx="2143125" cy="2143125"/>
          </a:xfrm>
          <a:prstGeom prst="rect">
            <a:avLst/>
          </a:prstGeom>
        </p:spPr>
      </p:pic>
    </p:spTree>
    <p:extLst>
      <p:ext uri="{BB962C8B-B14F-4D97-AF65-F5344CB8AC3E}">
        <p14:creationId xmlns:p14="http://schemas.microsoft.com/office/powerpoint/2010/main" val="2151893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213DC6-A6A0-47F7-88F1-642B5B82413E}"/>
              </a:ext>
            </a:extLst>
          </p:cNvPr>
          <p:cNvSpPr>
            <a:spLocks noGrp="1"/>
          </p:cNvSpPr>
          <p:nvPr>
            <p:ph type="title"/>
          </p:nvPr>
        </p:nvSpPr>
        <p:spPr>
          <a:xfrm>
            <a:off x="314324" y="-62445"/>
            <a:ext cx="11372851" cy="1325563"/>
          </a:xfrm>
        </p:spPr>
        <p:txBody>
          <a:bodyPr/>
          <a:lstStyle/>
          <a:p>
            <a:r>
              <a:rPr lang="es-MX" b="1" dirty="0"/>
              <a:t>Búsqueda de palabras o frases con </a:t>
            </a:r>
            <a:r>
              <a:rPr lang="es-MX" b="1" dirty="0" err="1"/>
              <a:t>Power</a:t>
            </a:r>
            <a:r>
              <a:rPr lang="es-MX" b="1" dirty="0"/>
              <a:t> Shell</a:t>
            </a:r>
          </a:p>
        </p:txBody>
      </p:sp>
      <p:sp>
        <p:nvSpPr>
          <p:cNvPr id="6" name="CuadroTexto 5">
            <a:extLst>
              <a:ext uri="{FF2B5EF4-FFF2-40B4-BE49-F238E27FC236}">
                <a16:creationId xmlns:a16="http://schemas.microsoft.com/office/drawing/2014/main" id="{44F9ED38-5898-BFB0-8A2D-228D5BD34C95}"/>
              </a:ext>
            </a:extLst>
          </p:cNvPr>
          <p:cNvSpPr txBox="1"/>
          <p:nvPr/>
        </p:nvSpPr>
        <p:spPr>
          <a:xfrm>
            <a:off x="7954958" y="1425571"/>
            <a:ext cx="3438525" cy="4832092"/>
          </a:xfrm>
          <a:prstGeom prst="rect">
            <a:avLst/>
          </a:prstGeom>
          <a:pattFill prst="pct10">
            <a:fgClr>
              <a:schemeClr val="accent1"/>
            </a:fgClr>
            <a:bgClr>
              <a:schemeClr val="bg1"/>
            </a:bgClr>
          </a:pattFill>
        </p:spPr>
        <p:txBody>
          <a:bodyPr wrap="square" rtlCol="0">
            <a:spAutoFit/>
          </a:bodyPr>
          <a:lstStyle/>
          <a:p>
            <a:pPr algn="just"/>
            <a:r>
              <a:rPr lang="es-ES" sz="2800" b="1" dirty="0">
                <a:latin typeface="ADLaM Display" panose="02010000000000000000" pitchFamily="2" charset="0"/>
                <a:ea typeface="ADLaM Display" panose="02010000000000000000" pitchFamily="2" charset="0"/>
                <a:cs typeface="ADLaM Display" panose="02010000000000000000" pitchFamily="2" charset="0"/>
              </a:rPr>
              <a:t>Haz una carpeta con los archivos con los que vas a trabajar y copia su dirección. </a:t>
            </a:r>
          </a:p>
          <a:p>
            <a:pPr algn="just"/>
            <a:endParaRPr lang="es-ES" sz="2800" b="1"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s-ES" sz="2800" b="1" dirty="0">
                <a:latin typeface="ADLaM Display" panose="02010000000000000000" pitchFamily="2" charset="0"/>
                <a:ea typeface="ADLaM Display" panose="02010000000000000000" pitchFamily="2" charset="0"/>
                <a:cs typeface="ADLaM Display" panose="02010000000000000000" pitchFamily="2" charset="0"/>
              </a:rPr>
              <a:t>Esto es muy importante porque fija la carpeta en la que vas a trabajar.</a:t>
            </a:r>
            <a:endParaRPr lang="es-MX" sz="2800" b="1" dirty="0">
              <a:latin typeface="ADLaM Display" panose="02010000000000000000" pitchFamily="2" charset="0"/>
              <a:ea typeface="ADLaM Display" panose="02010000000000000000" pitchFamily="2" charset="0"/>
              <a:cs typeface="ADLaM Display" panose="02010000000000000000" pitchFamily="2" charset="0"/>
            </a:endParaRPr>
          </a:p>
          <a:p>
            <a:endParaRPr lang="es-MX" sz="2800" b="1" dirty="0"/>
          </a:p>
        </p:txBody>
      </p:sp>
      <p:pic>
        <p:nvPicPr>
          <p:cNvPr id="7" name="Imagen 6">
            <a:extLst>
              <a:ext uri="{FF2B5EF4-FFF2-40B4-BE49-F238E27FC236}">
                <a16:creationId xmlns:a16="http://schemas.microsoft.com/office/drawing/2014/main" id="{69191CBC-F664-AFEF-B0D7-E7AB48B7BE93}"/>
              </a:ext>
            </a:extLst>
          </p:cNvPr>
          <p:cNvPicPr>
            <a:picLocks noChangeAspect="1"/>
          </p:cNvPicPr>
          <p:nvPr/>
        </p:nvPicPr>
        <p:blipFill>
          <a:blip r:embed="rId2"/>
          <a:stretch>
            <a:fillRect/>
          </a:stretch>
        </p:blipFill>
        <p:spPr>
          <a:xfrm>
            <a:off x="717541" y="2857500"/>
            <a:ext cx="6540510" cy="2286746"/>
          </a:xfrm>
          <a:prstGeom prst="rect">
            <a:avLst/>
          </a:prstGeom>
        </p:spPr>
      </p:pic>
      <p:pic>
        <p:nvPicPr>
          <p:cNvPr id="5" name="Imagen 4">
            <a:extLst>
              <a:ext uri="{FF2B5EF4-FFF2-40B4-BE49-F238E27FC236}">
                <a16:creationId xmlns:a16="http://schemas.microsoft.com/office/drawing/2014/main" id="{88B97B09-2DB8-86D4-86E5-7510238B6E14}"/>
              </a:ext>
            </a:extLst>
          </p:cNvPr>
          <p:cNvPicPr>
            <a:picLocks noChangeAspect="1"/>
          </p:cNvPicPr>
          <p:nvPr/>
        </p:nvPicPr>
        <p:blipFill>
          <a:blip r:embed="rId3"/>
          <a:stretch>
            <a:fillRect/>
          </a:stretch>
        </p:blipFill>
        <p:spPr>
          <a:xfrm>
            <a:off x="3473446" y="1425571"/>
            <a:ext cx="1431929" cy="1431929"/>
          </a:xfrm>
          <a:prstGeom prst="rect">
            <a:avLst/>
          </a:prstGeom>
        </p:spPr>
      </p:pic>
      <p:sp>
        <p:nvSpPr>
          <p:cNvPr id="8" name="Rectángulo 7">
            <a:extLst>
              <a:ext uri="{FF2B5EF4-FFF2-40B4-BE49-F238E27FC236}">
                <a16:creationId xmlns:a16="http://schemas.microsoft.com/office/drawing/2014/main" id="{F94F512C-2BC3-BA62-BEC4-D327666FFFD9}"/>
              </a:ext>
            </a:extLst>
          </p:cNvPr>
          <p:cNvSpPr/>
          <p:nvPr/>
        </p:nvSpPr>
        <p:spPr>
          <a:xfrm>
            <a:off x="1" y="914400"/>
            <a:ext cx="12192000" cy="114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extLst>
              <a:ext uri="{FF2B5EF4-FFF2-40B4-BE49-F238E27FC236}">
                <a16:creationId xmlns:a16="http://schemas.microsoft.com/office/drawing/2014/main" id="{F418365A-7246-FB38-F13F-31519F495DA1}"/>
              </a:ext>
            </a:extLst>
          </p:cNvPr>
          <p:cNvSpPr/>
          <p:nvPr/>
        </p:nvSpPr>
        <p:spPr>
          <a:xfrm>
            <a:off x="0" y="6677025"/>
            <a:ext cx="12192000" cy="152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442084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FEE000-5A74-0A3B-23B9-71816BCFFD7F}"/>
              </a:ext>
            </a:extLst>
          </p:cNvPr>
          <p:cNvSpPr>
            <a:spLocks noGrp="1"/>
          </p:cNvSpPr>
          <p:nvPr>
            <p:ph type="title"/>
          </p:nvPr>
        </p:nvSpPr>
        <p:spPr>
          <a:xfrm>
            <a:off x="928687" y="-131382"/>
            <a:ext cx="10515600" cy="1325563"/>
          </a:xfrm>
        </p:spPr>
        <p:txBody>
          <a:bodyPr/>
          <a:lstStyle/>
          <a:p>
            <a:r>
              <a:rPr lang="es-MX" b="1" dirty="0"/>
              <a:t>Busca </a:t>
            </a:r>
            <a:r>
              <a:rPr lang="es-MX" b="1" dirty="0" err="1"/>
              <a:t>Power</a:t>
            </a:r>
            <a:r>
              <a:rPr lang="es-MX" b="1" dirty="0"/>
              <a:t> Shell</a:t>
            </a:r>
          </a:p>
        </p:txBody>
      </p:sp>
      <p:pic>
        <p:nvPicPr>
          <p:cNvPr id="4" name="Imagen 3">
            <a:extLst>
              <a:ext uri="{FF2B5EF4-FFF2-40B4-BE49-F238E27FC236}">
                <a16:creationId xmlns:a16="http://schemas.microsoft.com/office/drawing/2014/main" id="{B8BB58E3-DF18-D0BD-8AE9-7FAB911D6075}"/>
              </a:ext>
            </a:extLst>
          </p:cNvPr>
          <p:cNvPicPr>
            <a:picLocks noChangeAspect="1"/>
          </p:cNvPicPr>
          <p:nvPr/>
        </p:nvPicPr>
        <p:blipFill>
          <a:blip r:embed="rId2"/>
          <a:stretch>
            <a:fillRect/>
          </a:stretch>
        </p:blipFill>
        <p:spPr>
          <a:xfrm>
            <a:off x="3002031" y="1628714"/>
            <a:ext cx="5730737" cy="4371211"/>
          </a:xfrm>
          <a:prstGeom prst="rect">
            <a:avLst/>
          </a:prstGeom>
        </p:spPr>
      </p:pic>
      <p:pic>
        <p:nvPicPr>
          <p:cNvPr id="3" name="Imagen 2">
            <a:extLst>
              <a:ext uri="{FF2B5EF4-FFF2-40B4-BE49-F238E27FC236}">
                <a16:creationId xmlns:a16="http://schemas.microsoft.com/office/drawing/2014/main" id="{EDAB0E1D-8633-CD9D-62FD-96AEAB91CE5E}"/>
              </a:ext>
            </a:extLst>
          </p:cNvPr>
          <p:cNvPicPr>
            <a:picLocks noChangeAspect="1"/>
          </p:cNvPicPr>
          <p:nvPr/>
        </p:nvPicPr>
        <p:blipFill>
          <a:blip r:embed="rId3"/>
          <a:stretch>
            <a:fillRect/>
          </a:stretch>
        </p:blipFill>
        <p:spPr>
          <a:xfrm>
            <a:off x="464758" y="1589469"/>
            <a:ext cx="1432684" cy="1432684"/>
          </a:xfrm>
          <a:prstGeom prst="rect">
            <a:avLst/>
          </a:prstGeom>
        </p:spPr>
      </p:pic>
      <p:sp>
        <p:nvSpPr>
          <p:cNvPr id="5" name="Rectángulo 4">
            <a:extLst>
              <a:ext uri="{FF2B5EF4-FFF2-40B4-BE49-F238E27FC236}">
                <a16:creationId xmlns:a16="http://schemas.microsoft.com/office/drawing/2014/main" id="{1115E0DD-CD85-0FE6-D804-AEAEB324B259}"/>
              </a:ext>
            </a:extLst>
          </p:cNvPr>
          <p:cNvSpPr/>
          <p:nvPr/>
        </p:nvSpPr>
        <p:spPr>
          <a:xfrm>
            <a:off x="928687" y="2380044"/>
            <a:ext cx="504825" cy="2921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400" b="1" dirty="0"/>
              <a:t>2</a:t>
            </a:r>
          </a:p>
        </p:txBody>
      </p:sp>
      <p:sp>
        <p:nvSpPr>
          <p:cNvPr id="6" name="Rectángulo 5">
            <a:extLst>
              <a:ext uri="{FF2B5EF4-FFF2-40B4-BE49-F238E27FC236}">
                <a16:creationId xmlns:a16="http://schemas.microsoft.com/office/drawing/2014/main" id="{707A0791-281E-98D0-EAED-3E61566E04D9}"/>
              </a:ext>
            </a:extLst>
          </p:cNvPr>
          <p:cNvSpPr/>
          <p:nvPr/>
        </p:nvSpPr>
        <p:spPr>
          <a:xfrm>
            <a:off x="0" y="882269"/>
            <a:ext cx="12192000" cy="114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7" name="Imagen 6">
            <a:extLst>
              <a:ext uri="{FF2B5EF4-FFF2-40B4-BE49-F238E27FC236}">
                <a16:creationId xmlns:a16="http://schemas.microsoft.com/office/drawing/2014/main" id="{6561DEB7-A757-B08E-32E9-0E646D21F5DD}"/>
              </a:ext>
            </a:extLst>
          </p:cNvPr>
          <p:cNvPicPr>
            <a:picLocks noChangeAspect="1"/>
          </p:cNvPicPr>
          <p:nvPr/>
        </p:nvPicPr>
        <p:blipFill>
          <a:blip r:embed="rId4"/>
          <a:stretch>
            <a:fillRect/>
          </a:stretch>
        </p:blipFill>
        <p:spPr>
          <a:xfrm>
            <a:off x="0" y="6752400"/>
            <a:ext cx="12192000" cy="127824"/>
          </a:xfrm>
          <a:prstGeom prst="rect">
            <a:avLst/>
          </a:prstGeom>
        </p:spPr>
      </p:pic>
    </p:spTree>
    <p:extLst>
      <p:ext uri="{BB962C8B-B14F-4D97-AF65-F5344CB8AC3E}">
        <p14:creationId xmlns:p14="http://schemas.microsoft.com/office/powerpoint/2010/main" val="3432173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261B67-82ED-B887-FE8B-CA54A66A5EE6}"/>
              </a:ext>
            </a:extLst>
          </p:cNvPr>
          <p:cNvSpPr>
            <a:spLocks noGrp="1"/>
          </p:cNvSpPr>
          <p:nvPr>
            <p:ph type="title"/>
          </p:nvPr>
        </p:nvSpPr>
        <p:spPr>
          <a:xfrm>
            <a:off x="752475" y="641350"/>
            <a:ext cx="10515600" cy="663575"/>
          </a:xfrm>
        </p:spPr>
        <p:txBody>
          <a:bodyPr>
            <a:normAutofit fontScale="90000"/>
          </a:bodyPr>
          <a:lstStyle/>
          <a:p>
            <a:r>
              <a:rPr lang="es-MX" b="1" dirty="0"/>
              <a:t>Abrir </a:t>
            </a:r>
            <a:r>
              <a:rPr lang="es-MX" b="1" dirty="0" err="1"/>
              <a:t>Power</a:t>
            </a:r>
            <a:r>
              <a:rPr lang="es-MX" b="1" dirty="0"/>
              <a:t> </a:t>
            </a:r>
            <a:r>
              <a:rPr lang="es-MX" b="1" dirty="0" err="1"/>
              <a:t>shell</a:t>
            </a:r>
            <a:endParaRPr lang="es-MX" b="1" dirty="0"/>
          </a:p>
        </p:txBody>
      </p:sp>
      <p:pic>
        <p:nvPicPr>
          <p:cNvPr id="4" name="Imagen 3">
            <a:extLst>
              <a:ext uri="{FF2B5EF4-FFF2-40B4-BE49-F238E27FC236}">
                <a16:creationId xmlns:a16="http://schemas.microsoft.com/office/drawing/2014/main" id="{7682CD05-7743-703E-C56E-F9A04E780E77}"/>
              </a:ext>
            </a:extLst>
          </p:cNvPr>
          <p:cNvPicPr>
            <a:picLocks noChangeAspect="1"/>
          </p:cNvPicPr>
          <p:nvPr/>
        </p:nvPicPr>
        <p:blipFill>
          <a:blip r:embed="rId2"/>
          <a:srcRect b="66896"/>
          <a:stretch>
            <a:fillRect/>
          </a:stretch>
        </p:blipFill>
        <p:spPr>
          <a:xfrm>
            <a:off x="752475" y="1484569"/>
            <a:ext cx="9420225" cy="1582482"/>
          </a:xfrm>
          <a:prstGeom prst="rect">
            <a:avLst/>
          </a:prstGeom>
        </p:spPr>
      </p:pic>
      <p:sp>
        <p:nvSpPr>
          <p:cNvPr id="3" name="CuadroTexto 2">
            <a:extLst>
              <a:ext uri="{FF2B5EF4-FFF2-40B4-BE49-F238E27FC236}">
                <a16:creationId xmlns:a16="http://schemas.microsoft.com/office/drawing/2014/main" id="{89E2A969-3684-8926-822B-1F29AE54DEE8}"/>
              </a:ext>
            </a:extLst>
          </p:cNvPr>
          <p:cNvSpPr txBox="1"/>
          <p:nvPr/>
        </p:nvSpPr>
        <p:spPr>
          <a:xfrm>
            <a:off x="666750" y="3206175"/>
            <a:ext cx="6515100" cy="584775"/>
          </a:xfrm>
          <a:prstGeom prst="rect">
            <a:avLst/>
          </a:prstGeom>
          <a:noFill/>
        </p:spPr>
        <p:txBody>
          <a:bodyPr wrap="square" rtlCol="0">
            <a:spAutoFit/>
          </a:bodyPr>
          <a:lstStyle/>
          <a:p>
            <a:r>
              <a:rPr lang="es-MX" sz="3200" b="1" dirty="0"/>
              <a:t>Fijar directorio de trabajo</a:t>
            </a:r>
          </a:p>
        </p:txBody>
      </p:sp>
      <p:sp>
        <p:nvSpPr>
          <p:cNvPr id="5" name="CuadroTexto 4">
            <a:extLst>
              <a:ext uri="{FF2B5EF4-FFF2-40B4-BE49-F238E27FC236}">
                <a16:creationId xmlns:a16="http://schemas.microsoft.com/office/drawing/2014/main" id="{CB34FBB2-810E-C98A-8D8E-2CCFF488A601}"/>
              </a:ext>
            </a:extLst>
          </p:cNvPr>
          <p:cNvSpPr txBox="1"/>
          <p:nvPr/>
        </p:nvSpPr>
        <p:spPr>
          <a:xfrm>
            <a:off x="1533525" y="4032711"/>
            <a:ext cx="5410200" cy="369332"/>
          </a:xfrm>
          <a:prstGeom prst="rect">
            <a:avLst/>
          </a:prstGeom>
          <a:noFill/>
        </p:spPr>
        <p:txBody>
          <a:bodyPr wrap="square" rtlCol="0">
            <a:spAutoFit/>
          </a:bodyPr>
          <a:lstStyle/>
          <a:p>
            <a:r>
              <a:rPr lang="es-MX" b="1" dirty="0"/>
              <a:t>Cd</a:t>
            </a:r>
            <a:r>
              <a:rPr lang="es-MX" dirty="0"/>
              <a:t> </a:t>
            </a:r>
            <a:r>
              <a:rPr lang="pt-BR" dirty="0"/>
              <a:t>C:\Users\Rcruz\Documents\discursos_25</a:t>
            </a:r>
            <a:endParaRPr lang="es-MX" dirty="0"/>
          </a:p>
        </p:txBody>
      </p:sp>
      <p:pic>
        <p:nvPicPr>
          <p:cNvPr id="6" name="Imagen 5">
            <a:extLst>
              <a:ext uri="{FF2B5EF4-FFF2-40B4-BE49-F238E27FC236}">
                <a16:creationId xmlns:a16="http://schemas.microsoft.com/office/drawing/2014/main" id="{A25CCF84-E5E2-0DC6-AE9D-6A9FCA3889D6}"/>
              </a:ext>
            </a:extLst>
          </p:cNvPr>
          <p:cNvPicPr>
            <a:picLocks noChangeAspect="1"/>
          </p:cNvPicPr>
          <p:nvPr/>
        </p:nvPicPr>
        <p:blipFill>
          <a:blip r:embed="rId3"/>
          <a:stretch>
            <a:fillRect/>
          </a:stretch>
        </p:blipFill>
        <p:spPr>
          <a:xfrm>
            <a:off x="752475" y="4434253"/>
            <a:ext cx="9256644" cy="1782397"/>
          </a:xfrm>
          <a:prstGeom prst="rect">
            <a:avLst/>
          </a:prstGeom>
        </p:spPr>
      </p:pic>
      <p:pic>
        <p:nvPicPr>
          <p:cNvPr id="7" name="Imagen 6">
            <a:extLst>
              <a:ext uri="{FF2B5EF4-FFF2-40B4-BE49-F238E27FC236}">
                <a16:creationId xmlns:a16="http://schemas.microsoft.com/office/drawing/2014/main" id="{43ABD19E-26A8-59C1-7211-FF9D0473A30D}"/>
              </a:ext>
            </a:extLst>
          </p:cNvPr>
          <p:cNvPicPr>
            <a:picLocks noChangeAspect="1"/>
          </p:cNvPicPr>
          <p:nvPr/>
        </p:nvPicPr>
        <p:blipFill>
          <a:blip r:embed="rId4"/>
          <a:stretch>
            <a:fillRect/>
          </a:stretch>
        </p:blipFill>
        <p:spPr>
          <a:xfrm>
            <a:off x="10408858" y="1559468"/>
            <a:ext cx="1432684" cy="1432684"/>
          </a:xfrm>
          <a:prstGeom prst="rect">
            <a:avLst/>
          </a:prstGeom>
        </p:spPr>
      </p:pic>
      <p:pic>
        <p:nvPicPr>
          <p:cNvPr id="8" name="Imagen 7">
            <a:extLst>
              <a:ext uri="{FF2B5EF4-FFF2-40B4-BE49-F238E27FC236}">
                <a16:creationId xmlns:a16="http://schemas.microsoft.com/office/drawing/2014/main" id="{A326DDE2-4F5B-90E0-7EA1-2CB4BDD4B215}"/>
              </a:ext>
            </a:extLst>
          </p:cNvPr>
          <p:cNvPicPr>
            <a:picLocks noChangeAspect="1"/>
          </p:cNvPicPr>
          <p:nvPr/>
        </p:nvPicPr>
        <p:blipFill>
          <a:blip r:embed="rId5"/>
          <a:stretch>
            <a:fillRect/>
          </a:stretch>
        </p:blipFill>
        <p:spPr>
          <a:xfrm>
            <a:off x="10310559" y="4582190"/>
            <a:ext cx="1438781" cy="1432684"/>
          </a:xfrm>
          <a:prstGeom prst="rect">
            <a:avLst/>
          </a:prstGeom>
        </p:spPr>
      </p:pic>
      <p:sp>
        <p:nvSpPr>
          <p:cNvPr id="10" name="Rectángulo 9">
            <a:extLst>
              <a:ext uri="{FF2B5EF4-FFF2-40B4-BE49-F238E27FC236}">
                <a16:creationId xmlns:a16="http://schemas.microsoft.com/office/drawing/2014/main" id="{42374427-43DC-1753-8EDC-9C671723E5BC}"/>
              </a:ext>
            </a:extLst>
          </p:cNvPr>
          <p:cNvSpPr/>
          <p:nvPr/>
        </p:nvSpPr>
        <p:spPr>
          <a:xfrm>
            <a:off x="10925175" y="2333624"/>
            <a:ext cx="400050" cy="31151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s-MX" sz="2400" b="1" dirty="0"/>
              <a:t>3</a:t>
            </a:r>
          </a:p>
        </p:txBody>
      </p:sp>
      <p:sp>
        <p:nvSpPr>
          <p:cNvPr id="12" name="Rectángulo 11">
            <a:extLst>
              <a:ext uri="{FF2B5EF4-FFF2-40B4-BE49-F238E27FC236}">
                <a16:creationId xmlns:a16="http://schemas.microsoft.com/office/drawing/2014/main" id="{0D2392E3-3656-9366-64A1-ED207463F26B}"/>
              </a:ext>
            </a:extLst>
          </p:cNvPr>
          <p:cNvSpPr/>
          <p:nvPr/>
        </p:nvSpPr>
        <p:spPr>
          <a:xfrm>
            <a:off x="10868025" y="5392126"/>
            <a:ext cx="352425" cy="2952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MX" sz="2000" b="1" dirty="0"/>
              <a:t>4</a:t>
            </a:r>
          </a:p>
        </p:txBody>
      </p:sp>
      <p:sp>
        <p:nvSpPr>
          <p:cNvPr id="15" name="Flecha: a la derecha 14">
            <a:extLst>
              <a:ext uri="{FF2B5EF4-FFF2-40B4-BE49-F238E27FC236}">
                <a16:creationId xmlns:a16="http://schemas.microsoft.com/office/drawing/2014/main" id="{385DBB8D-AF83-EB80-40EC-E9F8458EA22E}"/>
              </a:ext>
            </a:extLst>
          </p:cNvPr>
          <p:cNvSpPr/>
          <p:nvPr/>
        </p:nvSpPr>
        <p:spPr>
          <a:xfrm>
            <a:off x="752475" y="4032711"/>
            <a:ext cx="609600"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a:extLst>
              <a:ext uri="{FF2B5EF4-FFF2-40B4-BE49-F238E27FC236}">
                <a16:creationId xmlns:a16="http://schemas.microsoft.com/office/drawing/2014/main" id="{B58F2319-8632-1971-0179-F35B131D8561}"/>
              </a:ext>
            </a:extLst>
          </p:cNvPr>
          <p:cNvSpPr/>
          <p:nvPr/>
        </p:nvSpPr>
        <p:spPr>
          <a:xfrm>
            <a:off x="0" y="6624785"/>
            <a:ext cx="12192000" cy="200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7" name="Imagen 16">
            <a:extLst>
              <a:ext uri="{FF2B5EF4-FFF2-40B4-BE49-F238E27FC236}">
                <a16:creationId xmlns:a16="http://schemas.microsoft.com/office/drawing/2014/main" id="{E14E1892-FE8D-311A-BDC4-6D9718B5CC0A}"/>
              </a:ext>
            </a:extLst>
          </p:cNvPr>
          <p:cNvPicPr>
            <a:picLocks noChangeAspect="1"/>
          </p:cNvPicPr>
          <p:nvPr/>
        </p:nvPicPr>
        <p:blipFill>
          <a:blip r:embed="rId6"/>
          <a:stretch>
            <a:fillRect/>
          </a:stretch>
        </p:blipFill>
        <p:spPr>
          <a:xfrm>
            <a:off x="0" y="119407"/>
            <a:ext cx="12192000" cy="219127"/>
          </a:xfrm>
          <a:prstGeom prst="rect">
            <a:avLst/>
          </a:prstGeom>
        </p:spPr>
      </p:pic>
    </p:spTree>
    <p:extLst>
      <p:ext uri="{BB962C8B-B14F-4D97-AF65-F5344CB8AC3E}">
        <p14:creationId xmlns:p14="http://schemas.microsoft.com/office/powerpoint/2010/main" val="3940149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C6ACAB3-AC7A-6FBB-9ABD-86E65D1CA34E}"/>
              </a:ext>
            </a:extLst>
          </p:cNvPr>
          <p:cNvSpPr txBox="1"/>
          <p:nvPr/>
        </p:nvSpPr>
        <p:spPr>
          <a:xfrm>
            <a:off x="395652" y="948046"/>
            <a:ext cx="11105419" cy="1015663"/>
          </a:xfrm>
          <a:prstGeom prst="rect">
            <a:avLst/>
          </a:prstGeom>
          <a:noFill/>
        </p:spPr>
        <p:txBody>
          <a:bodyPr wrap="square" rtlCol="0">
            <a:spAutoFit/>
          </a:bodyPr>
          <a:lstStyle/>
          <a:p>
            <a:r>
              <a:rPr lang="es-MX" sz="2400" b="1" dirty="0"/>
              <a:t>Buscar la palabra ( ejemplo  “mujer” ) en la carpeta donde están los discursos</a:t>
            </a:r>
          </a:p>
          <a:p>
            <a:endParaRPr lang="es-MX" dirty="0"/>
          </a:p>
          <a:p>
            <a:endParaRPr lang="es-MX" dirty="0"/>
          </a:p>
        </p:txBody>
      </p:sp>
      <p:sp>
        <p:nvSpPr>
          <p:cNvPr id="6" name="CuadroTexto 5">
            <a:extLst>
              <a:ext uri="{FF2B5EF4-FFF2-40B4-BE49-F238E27FC236}">
                <a16:creationId xmlns:a16="http://schemas.microsoft.com/office/drawing/2014/main" id="{CA8D7F1B-931A-821F-0FEE-3B7E5C3186A1}"/>
              </a:ext>
            </a:extLst>
          </p:cNvPr>
          <p:cNvSpPr txBox="1"/>
          <p:nvPr/>
        </p:nvSpPr>
        <p:spPr>
          <a:xfrm>
            <a:off x="1043353" y="1788299"/>
            <a:ext cx="6838949" cy="646331"/>
          </a:xfrm>
          <a:prstGeom prst="rect">
            <a:avLst/>
          </a:prstGeom>
          <a:noFill/>
        </p:spPr>
        <p:txBody>
          <a:bodyPr wrap="square" rtlCol="0">
            <a:spAutoFit/>
          </a:bodyPr>
          <a:lstStyle/>
          <a:p>
            <a:r>
              <a:rPr lang="en-US" b="1" dirty="0"/>
              <a:t>Select-String</a:t>
            </a:r>
            <a:r>
              <a:rPr lang="en-US" dirty="0"/>
              <a:t> -Path *.txt -Pattern "</a:t>
            </a:r>
            <a:r>
              <a:rPr lang="en-US" dirty="0" err="1"/>
              <a:t>mujer</a:t>
            </a:r>
            <a:r>
              <a:rPr lang="en-US" dirty="0"/>
              <a:t>" -</a:t>
            </a:r>
            <a:r>
              <a:rPr lang="en-US" dirty="0" err="1"/>
              <a:t>CaseSensitive</a:t>
            </a:r>
            <a:r>
              <a:rPr lang="en-US" dirty="0"/>
              <a:t>:$false</a:t>
            </a:r>
            <a:endParaRPr lang="es-MX" dirty="0"/>
          </a:p>
          <a:p>
            <a:endParaRPr lang="es-MX" dirty="0"/>
          </a:p>
        </p:txBody>
      </p:sp>
      <p:pic>
        <p:nvPicPr>
          <p:cNvPr id="7" name="Imagen 6">
            <a:extLst>
              <a:ext uri="{FF2B5EF4-FFF2-40B4-BE49-F238E27FC236}">
                <a16:creationId xmlns:a16="http://schemas.microsoft.com/office/drawing/2014/main" id="{7CD11F9F-FE8C-51C4-FEE2-C1E1BCF0D250}"/>
              </a:ext>
            </a:extLst>
          </p:cNvPr>
          <p:cNvPicPr>
            <a:picLocks noChangeAspect="1"/>
          </p:cNvPicPr>
          <p:nvPr/>
        </p:nvPicPr>
        <p:blipFill>
          <a:blip r:embed="rId2"/>
          <a:stretch>
            <a:fillRect/>
          </a:stretch>
        </p:blipFill>
        <p:spPr>
          <a:xfrm>
            <a:off x="529003" y="2282458"/>
            <a:ext cx="10210436" cy="1694497"/>
          </a:xfrm>
          <a:prstGeom prst="rect">
            <a:avLst/>
          </a:prstGeom>
        </p:spPr>
      </p:pic>
      <p:sp>
        <p:nvSpPr>
          <p:cNvPr id="8" name="Flecha: a la derecha 7">
            <a:extLst>
              <a:ext uri="{FF2B5EF4-FFF2-40B4-BE49-F238E27FC236}">
                <a16:creationId xmlns:a16="http://schemas.microsoft.com/office/drawing/2014/main" id="{733ABF37-34F8-3696-C961-D3705E29AB91}"/>
              </a:ext>
            </a:extLst>
          </p:cNvPr>
          <p:cNvSpPr/>
          <p:nvPr/>
        </p:nvSpPr>
        <p:spPr>
          <a:xfrm>
            <a:off x="557578" y="1828294"/>
            <a:ext cx="485775" cy="285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Imagen 8">
            <a:extLst>
              <a:ext uri="{FF2B5EF4-FFF2-40B4-BE49-F238E27FC236}">
                <a16:creationId xmlns:a16="http://schemas.microsoft.com/office/drawing/2014/main" id="{E928BDB3-8771-D196-3191-8652D266E84A}"/>
              </a:ext>
            </a:extLst>
          </p:cNvPr>
          <p:cNvPicPr>
            <a:picLocks noChangeAspect="1"/>
          </p:cNvPicPr>
          <p:nvPr/>
        </p:nvPicPr>
        <p:blipFill>
          <a:blip r:embed="rId3"/>
          <a:stretch>
            <a:fillRect/>
          </a:stretch>
        </p:blipFill>
        <p:spPr>
          <a:xfrm>
            <a:off x="9300658" y="1436308"/>
            <a:ext cx="1438781" cy="1432684"/>
          </a:xfrm>
          <a:prstGeom prst="rect">
            <a:avLst/>
          </a:prstGeom>
        </p:spPr>
      </p:pic>
      <p:sp>
        <p:nvSpPr>
          <p:cNvPr id="10" name="Rectángulo 9">
            <a:extLst>
              <a:ext uri="{FF2B5EF4-FFF2-40B4-BE49-F238E27FC236}">
                <a16:creationId xmlns:a16="http://schemas.microsoft.com/office/drawing/2014/main" id="{0153DFC2-3775-CB17-137C-C072C9F1187C}"/>
              </a:ext>
            </a:extLst>
          </p:cNvPr>
          <p:cNvSpPr/>
          <p:nvPr/>
        </p:nvSpPr>
        <p:spPr>
          <a:xfrm>
            <a:off x="9839073" y="2282458"/>
            <a:ext cx="361950" cy="21411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400" b="1" dirty="0"/>
              <a:t>5</a:t>
            </a:r>
          </a:p>
        </p:txBody>
      </p:sp>
      <p:sp>
        <p:nvSpPr>
          <p:cNvPr id="11" name="Flecha: a la derecha 10">
            <a:extLst>
              <a:ext uri="{FF2B5EF4-FFF2-40B4-BE49-F238E27FC236}">
                <a16:creationId xmlns:a16="http://schemas.microsoft.com/office/drawing/2014/main" id="{6A38A8AB-F974-D148-2381-13A83C22ABCA}"/>
              </a:ext>
            </a:extLst>
          </p:cNvPr>
          <p:cNvSpPr/>
          <p:nvPr/>
        </p:nvSpPr>
        <p:spPr>
          <a:xfrm>
            <a:off x="543290" y="4187933"/>
            <a:ext cx="514350" cy="2428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CuadroTexto 11">
            <a:extLst>
              <a:ext uri="{FF2B5EF4-FFF2-40B4-BE49-F238E27FC236}">
                <a16:creationId xmlns:a16="http://schemas.microsoft.com/office/drawing/2014/main" id="{D47281AA-5A07-933A-3CAC-F876DF9FF7C0}"/>
              </a:ext>
            </a:extLst>
          </p:cNvPr>
          <p:cNvSpPr txBox="1"/>
          <p:nvPr/>
        </p:nvSpPr>
        <p:spPr>
          <a:xfrm>
            <a:off x="1057640" y="4124711"/>
            <a:ext cx="10210435" cy="369332"/>
          </a:xfrm>
          <a:prstGeom prst="rect">
            <a:avLst/>
          </a:prstGeom>
          <a:noFill/>
        </p:spPr>
        <p:txBody>
          <a:bodyPr wrap="square" rtlCol="0">
            <a:spAutoFit/>
          </a:bodyPr>
          <a:lstStyle/>
          <a:p>
            <a:r>
              <a:rPr lang="en-US" b="1" dirty="0"/>
              <a:t>Select-String </a:t>
            </a:r>
            <a:r>
              <a:rPr lang="en-US" dirty="0"/>
              <a:t>-Path *.txt -Pattern "</a:t>
            </a:r>
            <a:r>
              <a:rPr lang="en-US" dirty="0" err="1"/>
              <a:t>violencia</a:t>
            </a:r>
            <a:r>
              <a:rPr lang="en-US" dirty="0"/>
              <a:t> contra la </a:t>
            </a:r>
            <a:r>
              <a:rPr lang="en-US" dirty="0" err="1"/>
              <a:t>mujer</a:t>
            </a:r>
            <a:r>
              <a:rPr lang="en-US" dirty="0"/>
              <a:t>" -</a:t>
            </a:r>
            <a:r>
              <a:rPr lang="en-US" dirty="0" err="1"/>
              <a:t>SimpleMatch</a:t>
            </a:r>
            <a:r>
              <a:rPr lang="en-US" dirty="0"/>
              <a:t> -</a:t>
            </a:r>
            <a:r>
              <a:rPr lang="en-US" dirty="0" err="1"/>
              <a:t>CaseSensitive</a:t>
            </a:r>
            <a:r>
              <a:rPr lang="en-US" dirty="0"/>
              <a:t>:$false</a:t>
            </a:r>
            <a:endParaRPr lang="es-MX" dirty="0"/>
          </a:p>
        </p:txBody>
      </p:sp>
      <p:pic>
        <p:nvPicPr>
          <p:cNvPr id="14" name="Imagen 13">
            <a:extLst>
              <a:ext uri="{FF2B5EF4-FFF2-40B4-BE49-F238E27FC236}">
                <a16:creationId xmlns:a16="http://schemas.microsoft.com/office/drawing/2014/main" id="{A4151A2C-3F25-D64C-FE5C-B8F59BA71667}"/>
              </a:ext>
            </a:extLst>
          </p:cNvPr>
          <p:cNvPicPr>
            <a:picLocks noChangeAspect="1"/>
          </p:cNvPicPr>
          <p:nvPr/>
        </p:nvPicPr>
        <p:blipFill>
          <a:blip r:embed="rId4"/>
          <a:stretch>
            <a:fillRect/>
          </a:stretch>
        </p:blipFill>
        <p:spPr>
          <a:xfrm>
            <a:off x="0" y="6638873"/>
            <a:ext cx="12192000" cy="219127"/>
          </a:xfrm>
          <a:prstGeom prst="rect">
            <a:avLst/>
          </a:prstGeom>
        </p:spPr>
      </p:pic>
    </p:spTree>
    <p:extLst>
      <p:ext uri="{BB962C8B-B14F-4D97-AF65-F5344CB8AC3E}">
        <p14:creationId xmlns:p14="http://schemas.microsoft.com/office/powerpoint/2010/main" val="945903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99055F-2DA2-9DE5-44ED-D0252CDE74AD}"/>
              </a:ext>
            </a:extLst>
          </p:cNvPr>
          <p:cNvSpPr>
            <a:spLocks noGrp="1"/>
          </p:cNvSpPr>
          <p:nvPr>
            <p:ph type="title"/>
          </p:nvPr>
        </p:nvSpPr>
        <p:spPr>
          <a:xfrm>
            <a:off x="838200" y="365126"/>
            <a:ext cx="10515600" cy="711200"/>
          </a:xfrm>
        </p:spPr>
        <p:txBody>
          <a:bodyPr/>
          <a:lstStyle/>
          <a:p>
            <a:r>
              <a:rPr lang="es-MX" dirty="0"/>
              <a:t>Resultado</a:t>
            </a:r>
          </a:p>
        </p:txBody>
      </p:sp>
      <p:sp>
        <p:nvSpPr>
          <p:cNvPr id="4" name="CuadroTexto 3">
            <a:extLst>
              <a:ext uri="{FF2B5EF4-FFF2-40B4-BE49-F238E27FC236}">
                <a16:creationId xmlns:a16="http://schemas.microsoft.com/office/drawing/2014/main" id="{E430BE60-B07A-4FA5-6907-0B54F782A4EC}"/>
              </a:ext>
            </a:extLst>
          </p:cNvPr>
          <p:cNvSpPr txBox="1"/>
          <p:nvPr/>
        </p:nvSpPr>
        <p:spPr>
          <a:xfrm>
            <a:off x="847724" y="1232436"/>
            <a:ext cx="10801350" cy="1366528"/>
          </a:xfrm>
          <a:prstGeom prst="rect">
            <a:avLst/>
          </a:prstGeom>
          <a:noFill/>
        </p:spPr>
        <p:txBody>
          <a:bodyPr wrap="square" rtlCol="0">
            <a:spAutoFit/>
          </a:bodyPr>
          <a:lstStyle/>
          <a:p>
            <a:pPr algn="just">
              <a:lnSpc>
                <a:spcPct val="90000"/>
              </a:lnSpc>
              <a:spcBef>
                <a:spcPct val="0"/>
              </a:spcBef>
            </a:pPr>
            <a:r>
              <a:rPr lang="es-ES" sz="2400" b="1" dirty="0">
                <a:latin typeface="+mj-lt"/>
                <a:ea typeface="+mj-ea"/>
                <a:cs typeface="+mj-cs"/>
              </a:rPr>
              <a:t>El comando entrega un párrafo con la palabra y el contexto en que aparece. </a:t>
            </a:r>
          </a:p>
          <a:p>
            <a:pPr algn="just">
              <a:lnSpc>
                <a:spcPct val="90000"/>
              </a:lnSpc>
              <a:spcBef>
                <a:spcPct val="0"/>
              </a:spcBef>
            </a:pPr>
            <a:r>
              <a:rPr lang="es-ES" sz="2400" b="1" dirty="0">
                <a:latin typeface="+mj-lt"/>
                <a:ea typeface="+mj-ea"/>
                <a:cs typeface="+mj-cs"/>
              </a:rPr>
              <a:t>Lo primero es el nombre del archivo seguido de la fila del documento en donde se encuentra el texto.</a:t>
            </a:r>
            <a:endParaRPr lang="es-MX" sz="2400" b="1" dirty="0">
              <a:latin typeface="+mj-lt"/>
              <a:ea typeface="+mj-ea"/>
              <a:cs typeface="+mj-cs"/>
            </a:endParaRPr>
          </a:p>
          <a:p>
            <a:endParaRPr lang="es-MX" dirty="0"/>
          </a:p>
        </p:txBody>
      </p:sp>
      <p:pic>
        <p:nvPicPr>
          <p:cNvPr id="6" name="Imagen 5">
            <a:extLst>
              <a:ext uri="{FF2B5EF4-FFF2-40B4-BE49-F238E27FC236}">
                <a16:creationId xmlns:a16="http://schemas.microsoft.com/office/drawing/2014/main" id="{959E83FC-3F3B-BEF3-DDDC-FCD845AB0D2A}"/>
              </a:ext>
            </a:extLst>
          </p:cNvPr>
          <p:cNvPicPr>
            <a:picLocks noChangeAspect="1"/>
          </p:cNvPicPr>
          <p:nvPr/>
        </p:nvPicPr>
        <p:blipFill>
          <a:blip r:embed="rId2"/>
          <a:stretch>
            <a:fillRect/>
          </a:stretch>
        </p:blipFill>
        <p:spPr>
          <a:xfrm>
            <a:off x="1000124" y="2525098"/>
            <a:ext cx="9772651" cy="3181310"/>
          </a:xfrm>
          <a:prstGeom prst="rect">
            <a:avLst/>
          </a:prstGeom>
        </p:spPr>
      </p:pic>
      <p:pic>
        <p:nvPicPr>
          <p:cNvPr id="8" name="Imagen 7">
            <a:extLst>
              <a:ext uri="{FF2B5EF4-FFF2-40B4-BE49-F238E27FC236}">
                <a16:creationId xmlns:a16="http://schemas.microsoft.com/office/drawing/2014/main" id="{19678640-A50E-7619-9726-F78540F8FA0A}"/>
              </a:ext>
            </a:extLst>
          </p:cNvPr>
          <p:cNvPicPr>
            <a:picLocks noChangeAspect="1"/>
          </p:cNvPicPr>
          <p:nvPr/>
        </p:nvPicPr>
        <p:blipFill>
          <a:blip r:embed="rId3"/>
          <a:stretch>
            <a:fillRect/>
          </a:stretch>
        </p:blipFill>
        <p:spPr>
          <a:xfrm>
            <a:off x="0" y="6638873"/>
            <a:ext cx="12192000" cy="219127"/>
          </a:xfrm>
          <a:prstGeom prst="rect">
            <a:avLst/>
          </a:prstGeom>
        </p:spPr>
      </p:pic>
    </p:spTree>
    <p:extLst>
      <p:ext uri="{BB962C8B-B14F-4D97-AF65-F5344CB8AC3E}">
        <p14:creationId xmlns:p14="http://schemas.microsoft.com/office/powerpoint/2010/main" val="2301829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755F1-8A4A-D510-6B78-93E120609331}"/>
              </a:ext>
            </a:extLst>
          </p:cNvPr>
          <p:cNvSpPr>
            <a:spLocks noGrp="1"/>
          </p:cNvSpPr>
          <p:nvPr>
            <p:ph type="title"/>
          </p:nvPr>
        </p:nvSpPr>
        <p:spPr>
          <a:xfrm>
            <a:off x="838200" y="365125"/>
            <a:ext cx="10515600" cy="854075"/>
          </a:xfrm>
        </p:spPr>
        <p:txBody>
          <a:bodyPr/>
          <a:lstStyle/>
          <a:p>
            <a:r>
              <a:rPr lang="es-MX" dirty="0"/>
              <a:t>Resultado</a:t>
            </a:r>
          </a:p>
        </p:txBody>
      </p:sp>
      <p:sp>
        <p:nvSpPr>
          <p:cNvPr id="3" name="CuadroTexto 2">
            <a:extLst>
              <a:ext uri="{FF2B5EF4-FFF2-40B4-BE49-F238E27FC236}">
                <a16:creationId xmlns:a16="http://schemas.microsoft.com/office/drawing/2014/main" id="{FEE8614F-A1BC-54A6-19D9-AA1118486993}"/>
              </a:ext>
            </a:extLst>
          </p:cNvPr>
          <p:cNvSpPr txBox="1"/>
          <p:nvPr/>
        </p:nvSpPr>
        <p:spPr>
          <a:xfrm>
            <a:off x="962024" y="1219200"/>
            <a:ext cx="9696451" cy="400110"/>
          </a:xfrm>
          <a:prstGeom prst="rect">
            <a:avLst/>
          </a:prstGeom>
          <a:noFill/>
        </p:spPr>
        <p:txBody>
          <a:bodyPr wrap="square" rtlCol="0">
            <a:spAutoFit/>
          </a:bodyPr>
          <a:lstStyle/>
          <a:p>
            <a:r>
              <a:rPr lang="es-MX" sz="2000" b="1" dirty="0"/>
              <a:t>Identificar los nombres de todos los documentos que tienen el campo buscado</a:t>
            </a:r>
          </a:p>
        </p:txBody>
      </p:sp>
      <p:sp>
        <p:nvSpPr>
          <p:cNvPr id="6" name="CuadroTexto 5">
            <a:extLst>
              <a:ext uri="{FF2B5EF4-FFF2-40B4-BE49-F238E27FC236}">
                <a16:creationId xmlns:a16="http://schemas.microsoft.com/office/drawing/2014/main" id="{098E91DB-DA90-1B36-C02F-9589070B8077}"/>
              </a:ext>
            </a:extLst>
          </p:cNvPr>
          <p:cNvSpPr txBox="1"/>
          <p:nvPr/>
        </p:nvSpPr>
        <p:spPr>
          <a:xfrm>
            <a:off x="1704975" y="1703943"/>
            <a:ext cx="9848850" cy="1477328"/>
          </a:xfrm>
          <a:prstGeom prst="rect">
            <a:avLst/>
          </a:prstGeom>
          <a:noFill/>
        </p:spPr>
        <p:txBody>
          <a:bodyPr wrap="square" rtlCol="0">
            <a:spAutoFit/>
          </a:bodyPr>
          <a:lstStyle/>
          <a:p>
            <a:r>
              <a:rPr lang="en-US" b="1" dirty="0"/>
              <a:t>Get-</a:t>
            </a:r>
            <a:r>
              <a:rPr lang="en-US" b="1" dirty="0" err="1"/>
              <a:t>ChildItem</a:t>
            </a:r>
            <a:r>
              <a:rPr lang="en-US" dirty="0"/>
              <a:t> -Recurse -Filter *.txt |</a:t>
            </a:r>
            <a:endParaRPr lang="es-MX" dirty="0"/>
          </a:p>
          <a:p>
            <a:r>
              <a:rPr lang="en-US" dirty="0"/>
              <a:t>    Select-String -Pattern "</a:t>
            </a:r>
            <a:r>
              <a:rPr lang="en-US" dirty="0" err="1"/>
              <a:t>mujer</a:t>
            </a:r>
            <a:r>
              <a:rPr lang="en-US" dirty="0"/>
              <a:t>" -</a:t>
            </a:r>
            <a:r>
              <a:rPr lang="en-US" dirty="0" err="1"/>
              <a:t>CaseSensitive</a:t>
            </a:r>
            <a:r>
              <a:rPr lang="en-US" dirty="0"/>
              <a:t>:$false |</a:t>
            </a:r>
            <a:endParaRPr lang="es-MX" dirty="0"/>
          </a:p>
          <a:p>
            <a:r>
              <a:rPr lang="en-US" dirty="0"/>
              <a:t>    Select-Object -</a:t>
            </a:r>
            <a:r>
              <a:rPr lang="en-US" dirty="0" err="1"/>
              <a:t>ExpandProperty</a:t>
            </a:r>
            <a:r>
              <a:rPr lang="en-US" dirty="0"/>
              <a:t> Path |</a:t>
            </a:r>
            <a:endParaRPr lang="es-MX" dirty="0"/>
          </a:p>
          <a:p>
            <a:r>
              <a:rPr lang="en-US" dirty="0"/>
              <a:t>    Sort-Object -Unique</a:t>
            </a:r>
            <a:endParaRPr lang="es-MX" dirty="0"/>
          </a:p>
          <a:p>
            <a:endParaRPr lang="es-MX" dirty="0"/>
          </a:p>
        </p:txBody>
      </p:sp>
      <p:pic>
        <p:nvPicPr>
          <p:cNvPr id="7" name="Imagen 6">
            <a:extLst>
              <a:ext uri="{FF2B5EF4-FFF2-40B4-BE49-F238E27FC236}">
                <a16:creationId xmlns:a16="http://schemas.microsoft.com/office/drawing/2014/main" id="{D9A4A7FC-0378-653A-3959-D5A45BFA74D0}"/>
              </a:ext>
            </a:extLst>
          </p:cNvPr>
          <p:cNvPicPr>
            <a:picLocks noChangeAspect="1"/>
          </p:cNvPicPr>
          <p:nvPr/>
        </p:nvPicPr>
        <p:blipFill>
          <a:blip r:embed="rId2"/>
          <a:stretch>
            <a:fillRect/>
          </a:stretch>
        </p:blipFill>
        <p:spPr>
          <a:xfrm>
            <a:off x="1085850" y="2988284"/>
            <a:ext cx="8382000" cy="3361716"/>
          </a:xfrm>
          <a:prstGeom prst="rect">
            <a:avLst/>
          </a:prstGeom>
        </p:spPr>
      </p:pic>
      <p:pic>
        <p:nvPicPr>
          <p:cNvPr id="8" name="Imagen 7">
            <a:extLst>
              <a:ext uri="{FF2B5EF4-FFF2-40B4-BE49-F238E27FC236}">
                <a16:creationId xmlns:a16="http://schemas.microsoft.com/office/drawing/2014/main" id="{017BBE0E-AFD8-9F3D-9DA4-1A5ABD7A34EE}"/>
              </a:ext>
            </a:extLst>
          </p:cNvPr>
          <p:cNvPicPr>
            <a:picLocks noChangeAspect="1"/>
          </p:cNvPicPr>
          <p:nvPr/>
        </p:nvPicPr>
        <p:blipFill>
          <a:blip r:embed="rId3"/>
          <a:stretch>
            <a:fillRect/>
          </a:stretch>
        </p:blipFill>
        <p:spPr>
          <a:xfrm>
            <a:off x="1085850" y="1812573"/>
            <a:ext cx="536494" cy="298730"/>
          </a:xfrm>
          <a:prstGeom prst="rect">
            <a:avLst/>
          </a:prstGeom>
        </p:spPr>
      </p:pic>
      <p:pic>
        <p:nvPicPr>
          <p:cNvPr id="9" name="Imagen 8">
            <a:extLst>
              <a:ext uri="{FF2B5EF4-FFF2-40B4-BE49-F238E27FC236}">
                <a16:creationId xmlns:a16="http://schemas.microsoft.com/office/drawing/2014/main" id="{E4C9437A-33FF-68FA-DF16-769AD8443ACE}"/>
              </a:ext>
            </a:extLst>
          </p:cNvPr>
          <p:cNvPicPr>
            <a:picLocks noChangeAspect="1"/>
          </p:cNvPicPr>
          <p:nvPr/>
        </p:nvPicPr>
        <p:blipFill>
          <a:blip r:embed="rId4"/>
          <a:stretch>
            <a:fillRect/>
          </a:stretch>
        </p:blipFill>
        <p:spPr>
          <a:xfrm>
            <a:off x="0" y="6619823"/>
            <a:ext cx="12192000" cy="219127"/>
          </a:xfrm>
          <a:prstGeom prst="rect">
            <a:avLst/>
          </a:prstGeom>
        </p:spPr>
      </p:pic>
    </p:spTree>
    <p:extLst>
      <p:ext uri="{BB962C8B-B14F-4D97-AF65-F5344CB8AC3E}">
        <p14:creationId xmlns:p14="http://schemas.microsoft.com/office/powerpoint/2010/main" val="1228009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C6AB11-70F0-11A9-9627-2977BB1C9AAB}"/>
              </a:ext>
            </a:extLst>
          </p:cNvPr>
          <p:cNvSpPr>
            <a:spLocks noGrp="1"/>
          </p:cNvSpPr>
          <p:nvPr>
            <p:ph type="title"/>
          </p:nvPr>
        </p:nvSpPr>
        <p:spPr/>
        <p:txBody>
          <a:bodyPr/>
          <a:lstStyle/>
          <a:p>
            <a:r>
              <a:rPr lang="es-MX" dirty="0"/>
              <a:t>Exportar a </a:t>
            </a:r>
            <a:r>
              <a:rPr lang="es-MX" dirty="0" err="1"/>
              <a:t>csv</a:t>
            </a:r>
            <a:endParaRPr lang="es-MX" dirty="0"/>
          </a:p>
        </p:txBody>
      </p:sp>
      <p:pic>
        <p:nvPicPr>
          <p:cNvPr id="4" name="Marcador de contenido 3">
            <a:extLst>
              <a:ext uri="{FF2B5EF4-FFF2-40B4-BE49-F238E27FC236}">
                <a16:creationId xmlns:a16="http://schemas.microsoft.com/office/drawing/2014/main" id="{B20210D3-DD22-0D4F-7B95-C1C7BB5D1583}"/>
              </a:ext>
            </a:extLst>
          </p:cNvPr>
          <p:cNvPicPr>
            <a:picLocks noGrp="1" noChangeAspect="1"/>
          </p:cNvPicPr>
          <p:nvPr>
            <p:ph idx="1"/>
          </p:nvPr>
        </p:nvPicPr>
        <p:blipFill>
          <a:blip r:embed="rId2"/>
          <a:stretch>
            <a:fillRect/>
          </a:stretch>
        </p:blipFill>
        <p:spPr>
          <a:xfrm>
            <a:off x="7878893" y="2158903"/>
            <a:ext cx="2145978" cy="2145978"/>
          </a:xfrm>
          <a:prstGeom prst="rect">
            <a:avLst/>
          </a:prstGeom>
        </p:spPr>
      </p:pic>
      <p:sp>
        <p:nvSpPr>
          <p:cNvPr id="5" name="CuadroTexto 4">
            <a:extLst>
              <a:ext uri="{FF2B5EF4-FFF2-40B4-BE49-F238E27FC236}">
                <a16:creationId xmlns:a16="http://schemas.microsoft.com/office/drawing/2014/main" id="{CFE39771-801D-CB03-2919-CE67B7F05229}"/>
              </a:ext>
            </a:extLst>
          </p:cNvPr>
          <p:cNvSpPr txBox="1"/>
          <p:nvPr/>
        </p:nvSpPr>
        <p:spPr>
          <a:xfrm>
            <a:off x="2244247" y="1723738"/>
            <a:ext cx="4373696" cy="4678204"/>
          </a:xfrm>
          <a:prstGeom prst="rect">
            <a:avLst/>
          </a:prstGeom>
          <a:noFill/>
        </p:spPr>
        <p:txBody>
          <a:bodyPr wrap="square" rtlCol="0">
            <a:spAutoFit/>
          </a:bodyPr>
          <a:lstStyle/>
          <a:p>
            <a:r>
              <a:rPr lang="es-MX" sz="1400" dirty="0" err="1">
                <a:latin typeface="Dubai Light" panose="020B0303030403030204" pitchFamily="34" charset="-78"/>
                <a:cs typeface="Dubai Light" panose="020B0303030403030204" pitchFamily="34" charset="-78"/>
              </a:rPr>
              <a:t>Get-ChildItem</a:t>
            </a:r>
            <a:r>
              <a:rPr lang="es-MX" sz="1400" dirty="0">
                <a:latin typeface="Dubai Light" panose="020B0303030403030204" pitchFamily="34" charset="-78"/>
                <a:cs typeface="Dubai Light" panose="020B0303030403030204" pitchFamily="34" charset="-78"/>
              </a:rPr>
              <a:t> -Recurse -</a:t>
            </a:r>
            <a:r>
              <a:rPr lang="es-MX" sz="1400" dirty="0" err="1">
                <a:latin typeface="Dubai Light" panose="020B0303030403030204" pitchFamily="34" charset="-78"/>
                <a:cs typeface="Dubai Light" panose="020B0303030403030204" pitchFamily="34" charset="-78"/>
              </a:rPr>
              <a:t>Filter</a:t>
            </a:r>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txt</a:t>
            </a:r>
            <a:r>
              <a:rPr lang="es-MX" sz="1400" dirty="0">
                <a:latin typeface="Dubai Light" panose="020B0303030403030204" pitchFamily="34" charset="-78"/>
                <a:cs typeface="Dubai Light" panose="020B0303030403030204" pitchFamily="34" charset="-78"/>
              </a:rPr>
              <a:t> |</a:t>
            </a:r>
          </a:p>
          <a:p>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Select-String</a:t>
            </a:r>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Pattern</a:t>
            </a:r>
            <a:r>
              <a:rPr lang="es-MX" sz="1400" dirty="0">
                <a:latin typeface="Dubai Light" panose="020B0303030403030204" pitchFamily="34" charset="-78"/>
                <a:cs typeface="Dubai Light" panose="020B0303030403030204" pitchFamily="34" charset="-78"/>
              </a:rPr>
              <a:t> "mujer" -</a:t>
            </a:r>
            <a:r>
              <a:rPr lang="es-MX" sz="1400" dirty="0" err="1">
                <a:latin typeface="Dubai Light" panose="020B0303030403030204" pitchFamily="34" charset="-78"/>
                <a:cs typeface="Dubai Light" panose="020B0303030403030204" pitchFamily="34" charset="-78"/>
              </a:rPr>
              <a:t>CaseSensitive</a:t>
            </a:r>
            <a:r>
              <a:rPr lang="es-MX" sz="1400" dirty="0">
                <a:latin typeface="Dubai Light" panose="020B0303030403030204" pitchFamily="34" charset="-78"/>
                <a:cs typeface="Dubai Light" panose="020B0303030403030204" pitchFamily="34" charset="-78"/>
              </a:rPr>
              <a:t>:$false |</a:t>
            </a:r>
          </a:p>
          <a:p>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Select-Object</a:t>
            </a:r>
            <a:r>
              <a:rPr lang="es-MX" sz="1400" dirty="0">
                <a:latin typeface="Dubai Light" panose="020B0303030403030204" pitchFamily="34" charset="-78"/>
                <a:cs typeface="Dubai Light" panose="020B0303030403030204" pitchFamily="34" charset="-78"/>
              </a:rPr>
              <a:t> @{Name="Archivo";Expression={$_.Path}},</a:t>
            </a:r>
          </a:p>
          <a:p>
            <a:r>
              <a:rPr lang="es-MX" sz="1400" dirty="0">
                <a:latin typeface="Dubai Light" panose="020B0303030403030204" pitchFamily="34" charset="-78"/>
                <a:cs typeface="Dubai Light" panose="020B0303030403030204" pitchFamily="34" charset="-78"/>
              </a:rPr>
              <a:t>                  @{Name="Fragmento";Expression={</a:t>
            </a:r>
          </a:p>
          <a:p>
            <a:r>
              <a:rPr lang="es-MX" sz="1400" dirty="0">
                <a:latin typeface="Dubai Light" panose="020B0303030403030204" pitchFamily="34" charset="-78"/>
                <a:cs typeface="Dubai Light" panose="020B0303030403030204" pitchFamily="34" charset="-78"/>
              </a:rPr>
              <a:t>                      $line=$_.Line</a:t>
            </a:r>
          </a:p>
          <a:p>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index</a:t>
            </a:r>
            <a:r>
              <a:rPr lang="es-MX" sz="1400" dirty="0">
                <a:latin typeface="Dubai Light" panose="020B0303030403030204" pitchFamily="34" charset="-78"/>
                <a:cs typeface="Dubai Light" panose="020B0303030403030204" pitchFamily="34" charset="-78"/>
              </a:rPr>
              <a:t>=$</a:t>
            </a:r>
            <a:r>
              <a:rPr lang="es-MX" sz="1400" dirty="0" err="1">
                <a:latin typeface="Dubai Light" panose="020B0303030403030204" pitchFamily="34" charset="-78"/>
                <a:cs typeface="Dubai Light" panose="020B0303030403030204" pitchFamily="34" charset="-78"/>
              </a:rPr>
              <a:t>line.IndexOf</a:t>
            </a:r>
            <a:r>
              <a:rPr lang="es-MX" sz="1400" dirty="0">
                <a:latin typeface="Dubai Light" panose="020B0303030403030204" pitchFamily="34" charset="-78"/>
                <a:cs typeface="Dubai Light" panose="020B0303030403030204" pitchFamily="34" charset="-78"/>
              </a:rPr>
              <a:t>($_.</a:t>
            </a:r>
            <a:r>
              <a:rPr lang="es-MX" sz="1400" dirty="0" err="1">
                <a:latin typeface="Dubai Light" panose="020B0303030403030204" pitchFamily="34" charset="-78"/>
                <a:cs typeface="Dubai Light" panose="020B0303030403030204" pitchFamily="34" charset="-78"/>
              </a:rPr>
              <a:t>Matches.Value</a:t>
            </a:r>
            <a:r>
              <a:rPr lang="es-MX" sz="1400" dirty="0">
                <a:latin typeface="Dubai Light" panose="020B0303030403030204" pitchFamily="34" charset="-78"/>
                <a:cs typeface="Dubai Light" panose="020B0303030403030204" pitchFamily="34" charset="-78"/>
              </a:rPr>
              <a:t>)</a:t>
            </a:r>
          </a:p>
          <a:p>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if</a:t>
            </a:r>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index</a:t>
            </a:r>
            <a:r>
              <a:rPr lang="es-MX" sz="1400" dirty="0">
                <a:latin typeface="Dubai Light" panose="020B0303030403030204" pitchFamily="34" charset="-78"/>
                <a:cs typeface="Dubai Light" panose="020B0303030403030204" pitchFamily="34" charset="-78"/>
              </a:rPr>
              <a:t> -ge 0) {</a:t>
            </a:r>
          </a:p>
          <a:p>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start</a:t>
            </a:r>
            <a:r>
              <a:rPr lang="es-MX" sz="1400" dirty="0">
                <a:latin typeface="Dubai Light" panose="020B0303030403030204" pitchFamily="34" charset="-78"/>
                <a:cs typeface="Dubai Light" panose="020B0303030403030204" pitchFamily="34" charset="-78"/>
              </a:rPr>
              <a:t>=[</a:t>
            </a:r>
            <a:r>
              <a:rPr lang="es-MX" sz="1400" dirty="0" err="1">
                <a:latin typeface="Dubai Light" panose="020B0303030403030204" pitchFamily="34" charset="-78"/>
                <a:cs typeface="Dubai Light" panose="020B0303030403030204" pitchFamily="34" charset="-78"/>
              </a:rPr>
              <a:t>Math</a:t>
            </a:r>
            <a:r>
              <a:rPr lang="es-MX" sz="1400" dirty="0">
                <a:latin typeface="Dubai Light" panose="020B0303030403030204" pitchFamily="34" charset="-78"/>
                <a:cs typeface="Dubai Light" panose="020B0303030403030204" pitchFamily="34" charset="-78"/>
              </a:rPr>
              <a:t>]::Max(0, $index-30)</a:t>
            </a:r>
          </a:p>
          <a:p>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length</a:t>
            </a:r>
            <a:r>
              <a:rPr lang="es-MX" sz="1400" dirty="0">
                <a:latin typeface="Dubai Light" panose="020B0303030403030204" pitchFamily="34" charset="-78"/>
                <a:cs typeface="Dubai Light" panose="020B0303030403030204" pitchFamily="34" charset="-78"/>
              </a:rPr>
              <a:t>=[</a:t>
            </a:r>
            <a:r>
              <a:rPr lang="es-MX" sz="1400" dirty="0" err="1">
                <a:latin typeface="Dubai Light" panose="020B0303030403030204" pitchFamily="34" charset="-78"/>
                <a:cs typeface="Dubai Light" panose="020B0303030403030204" pitchFamily="34" charset="-78"/>
              </a:rPr>
              <a:t>Math</a:t>
            </a:r>
            <a:r>
              <a:rPr lang="es-MX" sz="1400" dirty="0">
                <a:latin typeface="Dubai Light" panose="020B0303030403030204" pitchFamily="34" charset="-78"/>
                <a:cs typeface="Dubai Light" panose="020B0303030403030204" pitchFamily="34" charset="-78"/>
              </a:rPr>
              <a:t>]::Min(60, $</a:t>
            </a:r>
            <a:r>
              <a:rPr lang="es-MX" sz="1400" dirty="0" err="1">
                <a:latin typeface="Dubai Light" panose="020B0303030403030204" pitchFamily="34" charset="-78"/>
                <a:cs typeface="Dubai Light" panose="020B0303030403030204" pitchFamily="34" charset="-78"/>
              </a:rPr>
              <a:t>line.Length</a:t>
            </a:r>
            <a:r>
              <a:rPr lang="es-MX" sz="1400" dirty="0">
                <a:latin typeface="Dubai Light" panose="020B0303030403030204" pitchFamily="34" charset="-78"/>
                <a:cs typeface="Dubai Light" panose="020B0303030403030204" pitchFamily="34" charset="-78"/>
              </a:rPr>
              <a:t>-$</a:t>
            </a:r>
            <a:r>
              <a:rPr lang="es-MX" sz="1400" dirty="0" err="1">
                <a:latin typeface="Dubai Light" panose="020B0303030403030204" pitchFamily="34" charset="-78"/>
                <a:cs typeface="Dubai Light" panose="020B0303030403030204" pitchFamily="34" charset="-78"/>
              </a:rPr>
              <a:t>start</a:t>
            </a:r>
            <a:r>
              <a:rPr lang="es-MX" sz="1400" dirty="0">
                <a:latin typeface="Dubai Light" panose="020B0303030403030204" pitchFamily="34" charset="-78"/>
                <a:cs typeface="Dubai Light" panose="020B0303030403030204" pitchFamily="34" charset="-78"/>
              </a:rPr>
              <a:t>)</a:t>
            </a:r>
          </a:p>
          <a:p>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line.Substring</a:t>
            </a:r>
            <a:r>
              <a:rPr lang="es-MX" sz="1400" dirty="0">
                <a:latin typeface="Dubai Light" panose="020B0303030403030204" pitchFamily="34" charset="-78"/>
                <a:cs typeface="Dubai Light" panose="020B0303030403030204" pitchFamily="34" charset="-78"/>
              </a:rPr>
              <a:t>($</a:t>
            </a:r>
            <a:r>
              <a:rPr lang="es-MX" sz="1400" dirty="0" err="1">
                <a:latin typeface="Dubai Light" panose="020B0303030403030204" pitchFamily="34" charset="-78"/>
                <a:cs typeface="Dubai Light" panose="020B0303030403030204" pitchFamily="34" charset="-78"/>
              </a:rPr>
              <a:t>start</a:t>
            </a:r>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length</a:t>
            </a:r>
            <a:r>
              <a:rPr lang="es-MX" sz="1400" dirty="0">
                <a:latin typeface="Dubai Light" panose="020B0303030403030204" pitchFamily="34" charset="-78"/>
                <a:cs typeface="Dubai Light" panose="020B0303030403030204" pitchFamily="34" charset="-78"/>
              </a:rPr>
              <a:t>)</a:t>
            </a:r>
          </a:p>
          <a:p>
            <a:r>
              <a:rPr lang="es-MX" sz="1400" dirty="0">
                <a:latin typeface="Dubai Light" panose="020B0303030403030204" pitchFamily="34" charset="-78"/>
                <a:cs typeface="Dubai Light" panose="020B0303030403030204" pitchFamily="34" charset="-78"/>
              </a:rPr>
              <a:t>                      } </a:t>
            </a:r>
            <a:r>
              <a:rPr lang="es-MX" sz="1400" dirty="0" err="1">
                <a:latin typeface="Dubai Light" panose="020B0303030403030204" pitchFamily="34" charset="-78"/>
                <a:cs typeface="Dubai Light" panose="020B0303030403030204" pitchFamily="34" charset="-78"/>
              </a:rPr>
              <a:t>else</a:t>
            </a:r>
            <a:r>
              <a:rPr lang="es-MX" sz="1400" dirty="0">
                <a:latin typeface="Dubai Light" panose="020B0303030403030204" pitchFamily="34" charset="-78"/>
                <a:cs typeface="Dubai Light" panose="020B0303030403030204" pitchFamily="34" charset="-78"/>
              </a:rPr>
              <a:t> {</a:t>
            </a:r>
          </a:p>
          <a:p>
            <a:r>
              <a:rPr lang="es-MX" sz="1400" dirty="0">
                <a:latin typeface="Dubai Light" panose="020B0303030403030204" pitchFamily="34" charset="-78"/>
                <a:cs typeface="Dubai Light" panose="020B0303030403030204" pitchFamily="34" charset="-78"/>
              </a:rPr>
              <a:t>                          $line</a:t>
            </a:r>
          </a:p>
          <a:p>
            <a:r>
              <a:rPr lang="es-MX" sz="1400" dirty="0">
                <a:latin typeface="Dubai Light" panose="020B0303030403030204" pitchFamily="34" charset="-78"/>
                <a:cs typeface="Dubai Light" panose="020B0303030403030204" pitchFamily="34" charset="-78"/>
              </a:rPr>
              <a:t>                      }</a:t>
            </a:r>
          </a:p>
          <a:p>
            <a:r>
              <a:rPr lang="es-MX" sz="1400" dirty="0">
                <a:latin typeface="Dubai Light" panose="020B0303030403030204" pitchFamily="34" charset="-78"/>
                <a:cs typeface="Dubai Light" panose="020B0303030403030204" pitchFamily="34" charset="-78"/>
              </a:rPr>
              <a:t>                  }} |</a:t>
            </a:r>
          </a:p>
          <a:p>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Export-Csv</a:t>
            </a:r>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Path</a:t>
            </a:r>
            <a:r>
              <a:rPr lang="es-MX" sz="1400" dirty="0">
                <a:latin typeface="Dubai Light" panose="020B0303030403030204" pitchFamily="34" charset="-78"/>
                <a:cs typeface="Dubai Light" panose="020B0303030403030204" pitchFamily="34" charset="-78"/>
              </a:rPr>
              <a:t> resultados.csv -</a:t>
            </a:r>
            <a:r>
              <a:rPr lang="es-MX" sz="1400" dirty="0" err="1">
                <a:latin typeface="Dubai Light" panose="020B0303030403030204" pitchFamily="34" charset="-78"/>
                <a:cs typeface="Dubai Light" panose="020B0303030403030204" pitchFamily="34" charset="-78"/>
              </a:rPr>
              <a:t>NoTypeInformation</a:t>
            </a:r>
            <a:r>
              <a:rPr lang="es-MX" sz="1400" dirty="0">
                <a:latin typeface="Dubai Light" panose="020B0303030403030204" pitchFamily="34" charset="-78"/>
                <a:cs typeface="Dubai Light" panose="020B0303030403030204" pitchFamily="34" charset="-78"/>
              </a:rPr>
              <a:t> -</a:t>
            </a:r>
            <a:r>
              <a:rPr lang="es-MX" sz="1400" dirty="0" err="1">
                <a:latin typeface="Dubai Light" panose="020B0303030403030204" pitchFamily="34" charset="-78"/>
                <a:cs typeface="Dubai Light" panose="020B0303030403030204" pitchFamily="34" charset="-78"/>
              </a:rPr>
              <a:t>Encoding</a:t>
            </a:r>
            <a:r>
              <a:rPr lang="es-MX" sz="1400" dirty="0">
                <a:latin typeface="Dubai Light" panose="020B0303030403030204" pitchFamily="34" charset="-78"/>
                <a:cs typeface="Dubai Light" panose="020B0303030403030204" pitchFamily="34" charset="-78"/>
              </a:rPr>
              <a:t> UTF8</a:t>
            </a:r>
          </a:p>
          <a:p>
            <a:endParaRPr lang="es-MX" sz="1400" dirty="0">
              <a:latin typeface="Dubai Light" panose="020B0303030403030204" pitchFamily="34" charset="-78"/>
              <a:cs typeface="Dubai Light" panose="020B0303030403030204" pitchFamily="34" charset="-78"/>
            </a:endParaRPr>
          </a:p>
          <a:p>
            <a:r>
              <a:rPr lang="es-MX" sz="1400" dirty="0" err="1">
                <a:latin typeface="Dubai Light" panose="020B0303030403030204" pitchFamily="34" charset="-78"/>
                <a:cs typeface="Dubai Light" panose="020B0303030403030204" pitchFamily="34" charset="-78"/>
              </a:rPr>
              <a:t>Invoke-Item</a:t>
            </a:r>
            <a:r>
              <a:rPr lang="es-MX" sz="1400" dirty="0">
                <a:latin typeface="Dubai Light" panose="020B0303030403030204" pitchFamily="34" charset="-78"/>
                <a:cs typeface="Dubai Light" panose="020B0303030403030204" pitchFamily="34" charset="-78"/>
              </a:rPr>
              <a:t> resultados.csv</a:t>
            </a:r>
          </a:p>
          <a:p>
            <a:endParaRPr lang="es-MX" dirty="0"/>
          </a:p>
        </p:txBody>
      </p:sp>
      <p:sp>
        <p:nvSpPr>
          <p:cNvPr id="6" name="Cerrar llave 5">
            <a:extLst>
              <a:ext uri="{FF2B5EF4-FFF2-40B4-BE49-F238E27FC236}">
                <a16:creationId xmlns:a16="http://schemas.microsoft.com/office/drawing/2014/main" id="{FFC394E0-6A46-B98B-28A2-F15C3BFCB5AF}"/>
              </a:ext>
            </a:extLst>
          </p:cNvPr>
          <p:cNvSpPr/>
          <p:nvPr/>
        </p:nvSpPr>
        <p:spPr>
          <a:xfrm>
            <a:off x="6443506" y="1087915"/>
            <a:ext cx="1035585" cy="511458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Tree>
    <p:extLst>
      <p:ext uri="{BB962C8B-B14F-4D97-AF65-F5344CB8AC3E}">
        <p14:creationId xmlns:p14="http://schemas.microsoft.com/office/powerpoint/2010/main" val="3209046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299AE5-CE4D-F1C7-BC6C-E0B7539C40DE}"/>
              </a:ext>
            </a:extLst>
          </p:cNvPr>
          <p:cNvSpPr>
            <a:spLocks noGrp="1"/>
          </p:cNvSpPr>
          <p:nvPr>
            <p:ph type="title"/>
          </p:nvPr>
        </p:nvSpPr>
        <p:spPr>
          <a:xfrm>
            <a:off x="838200" y="365125"/>
            <a:ext cx="10515600" cy="758825"/>
          </a:xfrm>
        </p:spPr>
        <p:txBody>
          <a:bodyPr/>
          <a:lstStyle/>
          <a:p>
            <a:r>
              <a:rPr lang="es-MX" dirty="0"/>
              <a:t>Resultado</a:t>
            </a:r>
          </a:p>
        </p:txBody>
      </p:sp>
      <p:sp>
        <p:nvSpPr>
          <p:cNvPr id="4" name="CuadroTexto 3">
            <a:extLst>
              <a:ext uri="{FF2B5EF4-FFF2-40B4-BE49-F238E27FC236}">
                <a16:creationId xmlns:a16="http://schemas.microsoft.com/office/drawing/2014/main" id="{F90FE7D5-13DD-2DA1-A897-08C93ADF7AAD}"/>
              </a:ext>
            </a:extLst>
          </p:cNvPr>
          <p:cNvSpPr txBox="1"/>
          <p:nvPr/>
        </p:nvSpPr>
        <p:spPr>
          <a:xfrm>
            <a:off x="838200" y="1123950"/>
            <a:ext cx="10753725" cy="461665"/>
          </a:xfrm>
          <a:prstGeom prst="rect">
            <a:avLst/>
          </a:prstGeom>
          <a:noFill/>
        </p:spPr>
        <p:txBody>
          <a:bodyPr wrap="square" rtlCol="0">
            <a:spAutoFit/>
          </a:bodyPr>
          <a:lstStyle/>
          <a:p>
            <a:r>
              <a:rPr lang="es-MX" sz="2400" dirty="0"/>
              <a:t>Hacer una carpeta con los archivos que tienen el campo de búsqueda (mujer)</a:t>
            </a:r>
          </a:p>
        </p:txBody>
      </p:sp>
      <p:sp>
        <p:nvSpPr>
          <p:cNvPr id="5" name="CuadroTexto 4">
            <a:extLst>
              <a:ext uri="{FF2B5EF4-FFF2-40B4-BE49-F238E27FC236}">
                <a16:creationId xmlns:a16="http://schemas.microsoft.com/office/drawing/2014/main" id="{21091B44-8194-412D-427F-A1DBA267B8C9}"/>
              </a:ext>
            </a:extLst>
          </p:cNvPr>
          <p:cNvSpPr txBox="1"/>
          <p:nvPr/>
        </p:nvSpPr>
        <p:spPr>
          <a:xfrm>
            <a:off x="990599" y="1612900"/>
            <a:ext cx="9953625" cy="3416320"/>
          </a:xfrm>
          <a:prstGeom prst="rect">
            <a:avLst/>
          </a:prstGeom>
          <a:noFill/>
        </p:spPr>
        <p:txBody>
          <a:bodyPr wrap="square" rtlCol="0">
            <a:spAutoFit/>
          </a:bodyPr>
          <a:lstStyle/>
          <a:p>
            <a:r>
              <a:rPr lang="es-ES" dirty="0"/>
              <a:t> Crear una carpeta</a:t>
            </a:r>
            <a:endParaRPr lang="es-MX" dirty="0"/>
          </a:p>
          <a:p>
            <a:r>
              <a:rPr lang="es-ES" dirty="0"/>
              <a:t> </a:t>
            </a:r>
            <a:endParaRPr lang="es-MX" dirty="0"/>
          </a:p>
          <a:p>
            <a:r>
              <a:rPr lang="es-ES" dirty="0"/>
              <a:t>                New-</a:t>
            </a:r>
            <a:r>
              <a:rPr lang="es-ES" dirty="0" err="1"/>
              <a:t>Item</a:t>
            </a:r>
            <a:r>
              <a:rPr lang="es-ES" dirty="0"/>
              <a:t> -</a:t>
            </a:r>
            <a:r>
              <a:rPr lang="es-ES" dirty="0" err="1"/>
              <a:t>ItemType</a:t>
            </a:r>
            <a:r>
              <a:rPr lang="es-ES" dirty="0"/>
              <a:t> </a:t>
            </a:r>
            <a:r>
              <a:rPr lang="es-ES" dirty="0" err="1"/>
              <a:t>Directory</a:t>
            </a:r>
            <a:r>
              <a:rPr lang="es-ES" dirty="0"/>
              <a:t> -</a:t>
            </a:r>
            <a:r>
              <a:rPr lang="es-ES" dirty="0" err="1"/>
              <a:t>Path</a:t>
            </a:r>
            <a:r>
              <a:rPr lang="es-ES" dirty="0"/>
              <a:t> ".\</a:t>
            </a:r>
            <a:r>
              <a:rPr lang="es-ES" dirty="0" err="1"/>
              <a:t>mujer_encontrado_p</a:t>
            </a:r>
            <a:r>
              <a:rPr lang="es-ES" dirty="0"/>
              <a:t>"</a:t>
            </a:r>
            <a:endParaRPr lang="es-MX" dirty="0"/>
          </a:p>
          <a:p>
            <a:r>
              <a:rPr lang="es-ES" dirty="0"/>
              <a:t> </a:t>
            </a:r>
            <a:endParaRPr lang="es-MX" dirty="0"/>
          </a:p>
          <a:p>
            <a:r>
              <a:rPr lang="es-ES" dirty="0"/>
              <a:t>Copiar los archivos que tienen mujer en esa carpeta</a:t>
            </a:r>
            <a:endParaRPr lang="es-MX" dirty="0"/>
          </a:p>
          <a:p>
            <a:r>
              <a:rPr lang="es-ES" dirty="0"/>
              <a:t> </a:t>
            </a:r>
            <a:endParaRPr lang="es-MX" dirty="0"/>
          </a:p>
          <a:p>
            <a:r>
              <a:rPr lang="en-US" dirty="0"/>
              <a:t>                 Get-</a:t>
            </a:r>
            <a:r>
              <a:rPr lang="en-US" dirty="0" err="1"/>
              <a:t>ChildItem</a:t>
            </a:r>
            <a:r>
              <a:rPr lang="en-US" dirty="0"/>
              <a:t> -Recurse -Filter *.txt |</a:t>
            </a:r>
            <a:endParaRPr lang="es-MX" dirty="0"/>
          </a:p>
          <a:p>
            <a:r>
              <a:rPr lang="en-US" dirty="0"/>
              <a:t>                           Select-String -Pattern "</a:t>
            </a:r>
            <a:r>
              <a:rPr lang="en-US" dirty="0" err="1"/>
              <a:t>mujer</a:t>
            </a:r>
            <a:r>
              <a:rPr lang="en-US" dirty="0"/>
              <a:t>" -</a:t>
            </a:r>
            <a:r>
              <a:rPr lang="en-US" dirty="0" err="1"/>
              <a:t>CaseSensitive</a:t>
            </a:r>
            <a:r>
              <a:rPr lang="en-US" dirty="0"/>
              <a:t>:$false |</a:t>
            </a:r>
            <a:endParaRPr lang="es-MX" dirty="0"/>
          </a:p>
          <a:p>
            <a:r>
              <a:rPr lang="en-US" dirty="0"/>
              <a:t>                           Select-Object -</a:t>
            </a:r>
            <a:r>
              <a:rPr lang="en-US" dirty="0" err="1"/>
              <a:t>ExpandProperty</a:t>
            </a:r>
            <a:r>
              <a:rPr lang="en-US" dirty="0"/>
              <a:t> Path |</a:t>
            </a:r>
            <a:endParaRPr lang="es-MX" dirty="0"/>
          </a:p>
          <a:p>
            <a:r>
              <a:rPr lang="en-US" dirty="0"/>
              <a:t>                           Sort-Object -Unique |</a:t>
            </a:r>
            <a:endParaRPr lang="es-MX" dirty="0"/>
          </a:p>
          <a:p>
            <a:r>
              <a:rPr lang="en-US" dirty="0"/>
              <a:t>                           </a:t>
            </a:r>
            <a:r>
              <a:rPr lang="es-ES" dirty="0" err="1"/>
              <a:t>ForEach-Object</a:t>
            </a:r>
            <a:r>
              <a:rPr lang="es-ES" dirty="0"/>
              <a:t> { </a:t>
            </a:r>
            <a:r>
              <a:rPr lang="es-ES" dirty="0" err="1"/>
              <a:t>Copy-Item</a:t>
            </a:r>
            <a:r>
              <a:rPr lang="es-ES" dirty="0"/>
              <a:t> $_ -</a:t>
            </a:r>
            <a:r>
              <a:rPr lang="es-ES" dirty="0" err="1"/>
              <a:t>Destination</a:t>
            </a:r>
            <a:r>
              <a:rPr lang="es-ES" dirty="0"/>
              <a:t> ".\</a:t>
            </a:r>
            <a:r>
              <a:rPr lang="es-ES" dirty="0" err="1"/>
              <a:t>mujer_encontrado_p</a:t>
            </a:r>
            <a:r>
              <a:rPr lang="es-ES" dirty="0"/>
              <a:t>" }</a:t>
            </a:r>
            <a:endParaRPr lang="es-MX" dirty="0"/>
          </a:p>
          <a:p>
            <a:endParaRPr lang="es-MX" dirty="0"/>
          </a:p>
        </p:txBody>
      </p:sp>
      <p:sp>
        <p:nvSpPr>
          <p:cNvPr id="8" name="Flecha: a la derecha 7">
            <a:extLst>
              <a:ext uri="{FF2B5EF4-FFF2-40B4-BE49-F238E27FC236}">
                <a16:creationId xmlns:a16="http://schemas.microsoft.com/office/drawing/2014/main" id="{95EB44A9-95CD-1366-A1D1-DA1DD105D98A}"/>
              </a:ext>
            </a:extLst>
          </p:cNvPr>
          <p:cNvSpPr/>
          <p:nvPr/>
        </p:nvSpPr>
        <p:spPr>
          <a:xfrm>
            <a:off x="1247775" y="2178050"/>
            <a:ext cx="466725" cy="2952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Flecha: a la derecha 8">
            <a:extLst>
              <a:ext uri="{FF2B5EF4-FFF2-40B4-BE49-F238E27FC236}">
                <a16:creationId xmlns:a16="http://schemas.microsoft.com/office/drawing/2014/main" id="{6EFE6EB2-115E-D298-B78C-153C4C901E76}"/>
              </a:ext>
            </a:extLst>
          </p:cNvPr>
          <p:cNvSpPr/>
          <p:nvPr/>
        </p:nvSpPr>
        <p:spPr>
          <a:xfrm>
            <a:off x="1247774" y="3281362"/>
            <a:ext cx="466725" cy="2952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2" name="Imagen 11">
            <a:extLst>
              <a:ext uri="{FF2B5EF4-FFF2-40B4-BE49-F238E27FC236}">
                <a16:creationId xmlns:a16="http://schemas.microsoft.com/office/drawing/2014/main" id="{3E16436F-A872-63C8-E030-CCBEC7EFE273}"/>
              </a:ext>
            </a:extLst>
          </p:cNvPr>
          <p:cNvPicPr>
            <a:picLocks noChangeAspect="1"/>
          </p:cNvPicPr>
          <p:nvPr/>
        </p:nvPicPr>
        <p:blipFill>
          <a:blip r:embed="rId2"/>
          <a:stretch>
            <a:fillRect/>
          </a:stretch>
        </p:blipFill>
        <p:spPr>
          <a:xfrm>
            <a:off x="8462962" y="1882775"/>
            <a:ext cx="2143125" cy="2143125"/>
          </a:xfrm>
          <a:prstGeom prst="rect">
            <a:avLst/>
          </a:prstGeom>
        </p:spPr>
      </p:pic>
      <p:pic>
        <p:nvPicPr>
          <p:cNvPr id="13" name="Imagen 12">
            <a:extLst>
              <a:ext uri="{FF2B5EF4-FFF2-40B4-BE49-F238E27FC236}">
                <a16:creationId xmlns:a16="http://schemas.microsoft.com/office/drawing/2014/main" id="{A2A449B1-B115-3A43-EBD8-13A1B9DCEB4E}"/>
              </a:ext>
            </a:extLst>
          </p:cNvPr>
          <p:cNvPicPr>
            <a:picLocks noChangeAspect="1"/>
          </p:cNvPicPr>
          <p:nvPr/>
        </p:nvPicPr>
        <p:blipFill>
          <a:blip r:embed="rId3"/>
          <a:stretch>
            <a:fillRect/>
          </a:stretch>
        </p:blipFill>
        <p:spPr>
          <a:xfrm>
            <a:off x="0" y="6718498"/>
            <a:ext cx="12192000" cy="219127"/>
          </a:xfrm>
          <a:prstGeom prst="rect">
            <a:avLst/>
          </a:prstGeom>
        </p:spPr>
      </p:pic>
    </p:spTree>
    <p:extLst>
      <p:ext uri="{BB962C8B-B14F-4D97-AF65-F5344CB8AC3E}">
        <p14:creationId xmlns:p14="http://schemas.microsoft.com/office/powerpoint/2010/main" val="192502629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9735</TotalTime>
  <Words>2380</Words>
  <Application>Microsoft Office PowerPoint</Application>
  <PresentationFormat>Panorámica</PresentationFormat>
  <Paragraphs>230</Paragraphs>
  <Slides>35</Slides>
  <Notes>14</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35</vt:i4>
      </vt:variant>
    </vt:vector>
  </HeadingPairs>
  <TitlesOfParts>
    <vt:vector size="45" baseType="lpstr">
      <vt:lpstr>ADLaM Display</vt:lpstr>
      <vt:lpstr>Aharoni</vt:lpstr>
      <vt:lpstr>Ahoni</vt:lpstr>
      <vt:lpstr>Aptos</vt:lpstr>
      <vt:lpstr>Aptos Display</vt:lpstr>
      <vt:lpstr>Arial</vt:lpstr>
      <vt:lpstr>Dubai Light</vt:lpstr>
      <vt:lpstr>Times New Roman</vt:lpstr>
      <vt:lpstr>Wingdings</vt:lpstr>
      <vt:lpstr>Tema de Office</vt:lpstr>
      <vt:lpstr>Herramientas para la Recolección de información de texto para la Construcción de Bases de Datos</vt:lpstr>
      <vt:lpstr>Objetivo General  Compartir herramientas para la creación de variables cuantitativas a partir de información cualitativa como archivos de texto y/o disponibles en internet </vt:lpstr>
      <vt:lpstr>Construcción de variables y Codificación </vt:lpstr>
      <vt:lpstr>Construcción de variables</vt:lpstr>
      <vt:lpstr>Construcción de variables</vt:lpstr>
      <vt:lpstr>Tipos de Variables</vt:lpstr>
      <vt:lpstr>Tipos de variables</vt:lpstr>
      <vt:lpstr>Codificación</vt:lpstr>
      <vt:lpstr>Codificación</vt:lpstr>
      <vt:lpstr>Ejemplo de Codificación</vt:lpstr>
      <vt:lpstr>Ejemplo de Codificación</vt:lpstr>
      <vt:lpstr>Presentación de PowerPoint</vt:lpstr>
      <vt:lpstr>Presentación de PowerPoint</vt:lpstr>
      <vt:lpstr>Presentación de PowerPoint</vt:lpstr>
      <vt:lpstr>Presentación de PowerPoint</vt:lpstr>
      <vt:lpstr>Google Colab</vt:lpstr>
      <vt:lpstr>Google Colab</vt:lpstr>
      <vt:lpstr>Conociendo Google Colab</vt:lpstr>
      <vt:lpstr>Principales Librerías</vt:lpstr>
      <vt:lpstr>Web scraping en Google News con Python </vt:lpstr>
      <vt:lpstr>Presentación de PowerPoint</vt:lpstr>
      <vt:lpstr>¿Qué es y cómo obtengo mi clave Api? </vt:lpstr>
      <vt:lpstr>Web scraping con Scrapingdog’s de Google News API </vt:lpstr>
      <vt:lpstr>Web scraping con HasData </vt:lpstr>
      <vt:lpstr>Búsqueda de palabras o frases con Power Shell </vt:lpstr>
      <vt:lpstr>Búsqueda de palabras en archivos de texto</vt:lpstr>
      <vt:lpstr>Búsqueda de palabras en archivos de texto</vt:lpstr>
      <vt:lpstr>Búsqueda de palabras o frases con Power Shell</vt:lpstr>
      <vt:lpstr>Busca Power Shell</vt:lpstr>
      <vt:lpstr>Abrir Power shell</vt:lpstr>
      <vt:lpstr>Presentación de PowerPoint</vt:lpstr>
      <vt:lpstr>Resultado</vt:lpstr>
      <vt:lpstr>Resultado</vt:lpstr>
      <vt:lpstr>Exportar a csv</vt:lpstr>
      <vt:lpstr>Resultado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Rocío Cruz Lathrop</dc:creator>
  <cp:lastModifiedBy>Rocío Cruz Lathrop</cp:lastModifiedBy>
  <cp:revision>48</cp:revision>
  <dcterms:created xsi:type="dcterms:W3CDTF">2025-07-30T17:14:37Z</dcterms:created>
  <dcterms:modified xsi:type="dcterms:W3CDTF">2025-08-26T08:10:06Z</dcterms:modified>
</cp:coreProperties>
</file>